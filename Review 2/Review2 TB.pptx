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trictFirstAndLastChars="0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91" d="100"/>
          <a:sy n="91" d="100"/>
        </p:scale>
        <p:origin x="283" y="62"/>
      </p:cViewPr>
      <p:guideLst>
        <p:guide pos="2880" orient="horz"/>
        <p:guide pos="216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 /><Relationship Id="rId27" Type="http://schemas.openxmlformats.org/officeDocument/2006/relationships/tableStyles" Target="tableStyles.xml" /><Relationship Id="rId2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4446396" name="Google Shape;3;n"/>
          <p:cNvSpPr txBox="1">
            <a:spLocks noGrp="1"/>
          </p:cNvSpPr>
          <p:nvPr>
            <p:ph type="hdr" idx="2"/>
          </p:nvPr>
        </p:nvSpPr>
        <p:spPr bwMode="auto"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427227619" name="Google Shape;4;n"/>
          <p:cNvSpPr txBox="1">
            <a:spLocks noGrp="1"/>
          </p:cNvSpPr>
          <p:nvPr>
            <p:ph type="dt" idx="10"/>
          </p:nvPr>
        </p:nvSpPr>
        <p:spPr bwMode="auto"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72080816" name="Google Shape;5;n"/>
          <p:cNvSpPr>
            <a:spLocks noChangeAspect="1" noGrp="1" noRot="1"/>
          </p:cNvSpPr>
          <p:nvPr>
            <p:ph type="sldImg" idx="3"/>
          </p:nvPr>
        </p:nvSpPr>
        <p:spPr bwMode="auto"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815755184" name="Google Shape;6;n"/>
          <p:cNvSpPr txBox="1">
            <a:spLocks noGrp="1"/>
          </p:cNvSpPr>
          <p:nvPr>
            <p:ph type="body" idx="1"/>
          </p:nvPr>
        </p:nvSpPr>
        <p:spPr bwMode="auto">
          <a:xfrm>
            <a:off x="1219200" y="3300413"/>
            <a:ext cx="9753600" cy="2700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938050224" name="Google Shape;7;n"/>
          <p:cNvSpPr txBox="1">
            <a:spLocks noGrp="1"/>
          </p:cNvSpPr>
          <p:nvPr>
            <p:ph type="ftr" idx="11"/>
          </p:nvPr>
        </p:nvSpPr>
        <p:spPr bwMode="auto"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872141732" name="Google Shape;8;n"/>
          <p:cNvSpPr txBox="1">
            <a:spLocks noGrp="1"/>
          </p:cNvSpPr>
          <p:nvPr>
            <p:ph type="sldNum" idx="12"/>
          </p:nvPr>
        </p:nvSpPr>
        <p:spPr bwMode="auto"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7616213" name="Google Shape;115;g372815142fa_4_7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35691949" name="Google Shape;116;g372815142fa_4_70:notes"/>
          <p:cNvSpPr txBox="1">
            <a:spLocks noGrp="1"/>
          </p:cNvSpPr>
          <p:nvPr>
            <p:ph type="body" idx="1"/>
          </p:nvPr>
        </p:nvSpPr>
        <p:spPr bwMode="auto">
          <a:xfrm>
            <a:off x="1219200" y="3300413"/>
            <a:ext cx="97536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endParaRPr/>
          </a:p>
        </p:txBody>
      </p:sp>
      <p:sp>
        <p:nvSpPr>
          <p:cNvPr id="1303248895" name="Google Shape;117;g372815142fa_4_70:notes"/>
          <p:cNvSpPr txBox="1">
            <a:spLocks noGrp="1"/>
          </p:cNvSpPr>
          <p:nvPr>
            <p:ph type="dt" idx="10"/>
          </p:nvPr>
        </p:nvSpPr>
        <p:spPr bwMode="auto">
          <a:xfrm>
            <a:off x="6905979" y="0"/>
            <a:ext cx="52832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30 June 2023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9381728" name="Google Shape;118;g372815142fa_4_70:notes"/>
          <p:cNvSpPr txBox="1">
            <a:spLocks noGrp="1"/>
          </p:cNvSpPr>
          <p:nvPr>
            <p:ph type="ftr" idx="11"/>
          </p:nvPr>
        </p:nvSpPr>
        <p:spPr bwMode="auto">
          <a:xfrm>
            <a:off x="0" y="6513909"/>
            <a:ext cx="52832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1-59</a:t>
            </a:r>
            <a:endParaRPr/>
          </a:p>
        </p:txBody>
      </p:sp>
      <p:sp>
        <p:nvSpPr>
          <p:cNvPr id="887256974" name="Google Shape;119;g372815142fa_4_70:notes"/>
          <p:cNvSpPr txBox="1">
            <a:spLocks noGrp="1"/>
          </p:cNvSpPr>
          <p:nvPr>
            <p:ph type="sldNum" idx="12"/>
          </p:nvPr>
        </p:nvSpPr>
        <p:spPr bwMode="auto">
          <a:xfrm>
            <a:off x="6905979" y="6513909"/>
            <a:ext cx="52832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2650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30284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06273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462434-824F-9A6D-46C2-095078EE82E4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2536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67113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6611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060CA5-BBBE-2B58-2928-7093168DBECE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6470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53789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9225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A45DFC-D3F3-DBC6-8FD8-807F6B8D57C4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48774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53265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3289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76F482-21CC-BD8C-F8F7-168596BF43AE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61686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32745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91273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1D78AF-6C86-1FFC-D7D0-C59562D15264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34489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63027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83097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5D8F34-7210-153C-9B02-4D7B7D3B1B0B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42103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70221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021395812" name="Slide Number Placeholder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67589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72580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95098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6DADBC-D465-60D1-2FBE-B41061F5EECB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56821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5487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8956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7A8A72-1CB5-E1A6-8EF2-608A8552142F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821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35294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3415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F08F3B-0629-E204-EE8A-D9930465091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1489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81113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3293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E608A7-836F-A3F7-08F2-30271B8D638E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9456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02663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12373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C55A5D-D703-7578-D92B-8B02BAC30D7C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6668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11079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1652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FB7F4F-ADEF-B1D1-F7AA-FB884D428847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26490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97613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5030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2F3C5A-3E80-2677-A95C-D1EA188A118F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6771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6284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332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E47B39-7770-A266-128C-89EA4CA5FE8C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08648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33218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55159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D3E946-9C53-6340-A0E2-AD871721F552}" type="slidenum">
              <a:rPr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66337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78584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92049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3283F4-AA74-046A-633E-D69FEF5DDE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35315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83974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6165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272710-ECFA-E707-177A-BD36799A6AB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75564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54751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5036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4BA754-BFF0-F821-ABFE-CD28B8622BA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4496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78129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7026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A284A1-9CD2-F390-1AF0-4963EB81D1ED}" type="slidenum">
              <a:rPr/>
              <a:t>23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mparison" preserve="0" showMasterPhAnim="0" showMasterSp="1" type="twoTxTwoObj" userDrawn="1">
  <p:cSld name="TWO_OBJECTS_WITH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0025909" name="Google Shape;49;p8"/>
          <p:cNvSpPr txBox="1">
            <a:spLocks noGrp="1"/>
          </p:cNvSpPr>
          <p:nvPr>
            <p:ph type="title"/>
          </p:nvPr>
        </p:nvSpPr>
        <p:spPr bwMode="auto"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79546337" name="Google Shape;50;p8"/>
          <p:cNvSpPr txBox="1">
            <a:spLocks noGrp="1"/>
          </p:cNvSpPr>
          <p:nvPr>
            <p:ph type="body" idx="1"/>
          </p:nvPr>
        </p:nvSpPr>
        <p:spPr bwMode="auto">
          <a:xfrm>
            <a:off x="609600" y="1855248"/>
            <a:ext cx="5386917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41243455" name="Google Shape;51;p8"/>
          <p:cNvSpPr txBox="1">
            <a:spLocks noGrp="1"/>
          </p:cNvSpPr>
          <p:nvPr>
            <p:ph type="body" idx="2"/>
          </p:nvPr>
        </p:nvSpPr>
        <p:spPr bwMode="auto">
          <a:xfrm>
            <a:off x="6193368" y="1859758"/>
            <a:ext cx="5389033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32440413" name="Google Shape;52;p8"/>
          <p:cNvSpPr txBox="1">
            <a:spLocks noGrp="1"/>
          </p:cNvSpPr>
          <p:nvPr>
            <p:ph type="body" idx="3"/>
          </p:nvPr>
        </p:nvSpPr>
        <p:spPr bwMode="auto">
          <a:xfrm>
            <a:off x="609600" y="2514600"/>
            <a:ext cx="5386917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4068475" name="Google Shape;53;p8"/>
          <p:cNvSpPr txBox="1">
            <a:spLocks noGrp="1"/>
          </p:cNvSpPr>
          <p:nvPr>
            <p:ph type="body" idx="4"/>
          </p:nvPr>
        </p:nvSpPr>
        <p:spPr bwMode="auto">
          <a:xfrm>
            <a:off x="6193368" y="2514600"/>
            <a:ext cx="5389033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54797134" name="Google Shape;54;p8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9535227" name="Google Shape;55;p8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Content" preserve="0" showMasterPhAnim="0" showMasterSp="1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46043" name="Google Shape;65;p11"/>
          <p:cNvSpPr txBox="1">
            <a:spLocks noGrp="1"/>
          </p:cNvSpPr>
          <p:nvPr>
            <p:ph type="title"/>
          </p:nvPr>
        </p:nvSpPr>
        <p:spPr bwMode="auto"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89458527" name="Google Shape;66;p11"/>
          <p:cNvSpPr txBox="1">
            <a:spLocks noGrp="1"/>
          </p:cNvSpPr>
          <p:nvPr>
            <p:ph type="body" idx="1"/>
          </p:nvPr>
        </p:nvSpPr>
        <p:spPr bwMode="auto"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36616653" name="Google Shape;67;p11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00836699" name="Google Shape;68;p11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962500" name="Google Shape;70;p12"/>
          <p:cNvSpPr txBox="1">
            <a:spLocks noGrp="1"/>
          </p:cNvSpPr>
          <p:nvPr>
            <p:ph type="title"/>
          </p:nvPr>
        </p:nvSpPr>
        <p:spPr bwMode="auto">
          <a:xfrm>
            <a:off x="707136" y="1316736"/>
            <a:ext cx="10363200" cy="1362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Arial"/>
              <a:buNone/>
              <a:defRPr sz="5600" b="1" cap="none">
                <a:solidFill>
                  <a:srgbClr val="4AE3AC"/>
                </a:solidFill>
                <a:latin typeface="Arial"/>
                <a:ea typeface="Arial"/>
                <a:cs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69210040" name="Google Shape;71;p12"/>
          <p:cNvSpPr txBox="1">
            <a:spLocks noGrp="1"/>
          </p:cNvSpPr>
          <p:nvPr>
            <p:ph type="body" idx="1"/>
          </p:nvPr>
        </p:nvSpPr>
        <p:spPr bwMode="auto">
          <a:xfrm>
            <a:off x="707136" y="2704664"/>
            <a:ext cx="103632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16106162" name="Google Shape;72;p12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06699919" name="Google Shape;73;p12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wo Content" preserve="0" showMasterPhAnim="0" showMasterSp="1" type="twoObj" userDrawn="1">
  <p:cSld name="TWO_OBJEC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5295852" name="Google Shape;75;p13"/>
          <p:cNvSpPr txBox="1">
            <a:spLocks noGrp="1"/>
          </p:cNvSpPr>
          <p:nvPr>
            <p:ph type="title"/>
          </p:nvPr>
        </p:nvSpPr>
        <p:spPr bwMode="auto"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17318193" name="Google Shape;76;p13"/>
          <p:cNvSpPr txBox="1">
            <a:spLocks noGrp="1"/>
          </p:cNvSpPr>
          <p:nvPr>
            <p:ph type="body" idx="1"/>
          </p:nvPr>
        </p:nvSpPr>
        <p:spPr bwMode="auto">
          <a:xfrm>
            <a:off x="609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62121047" name="Google Shape;77;p13"/>
          <p:cNvSpPr txBox="1">
            <a:spLocks noGrp="1"/>
          </p:cNvSpPr>
          <p:nvPr>
            <p:ph type="body" idx="2"/>
          </p:nvPr>
        </p:nvSpPr>
        <p:spPr bwMode="auto">
          <a:xfrm>
            <a:off x="6197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96914059" name="Google Shape;78;p13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41110975" name="Google Shape;79;p13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308794" name="Google Shape;81;p14"/>
          <p:cNvSpPr txBox="1">
            <a:spLocks noGrp="1"/>
          </p:cNvSpPr>
          <p:nvPr>
            <p:ph type="title"/>
          </p:nvPr>
        </p:nvSpPr>
        <p:spPr bwMode="auto">
          <a:xfrm>
            <a:off x="609600" y="704088"/>
            <a:ext cx="1107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 b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00573596" name="Google Shape;82;p14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08449877" name="Google Shape;83;p14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ntent with Caption" preserve="0" showMasterPhAnim="0" showMasterSp="1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5540937" name="Google Shape;85;p15"/>
          <p:cNvSpPr txBox="1">
            <a:spLocks noGrp="1"/>
          </p:cNvSpPr>
          <p:nvPr>
            <p:ph type="title"/>
          </p:nvPr>
        </p:nvSpPr>
        <p:spPr bwMode="auto">
          <a:xfrm>
            <a:off x="914400" y="514351"/>
            <a:ext cx="36576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8214697" name="Google Shape;86;p15"/>
          <p:cNvSpPr txBox="1">
            <a:spLocks noGrp="1"/>
          </p:cNvSpPr>
          <p:nvPr>
            <p:ph type="body" idx="1"/>
          </p:nvPr>
        </p:nvSpPr>
        <p:spPr bwMode="auto">
          <a:xfrm>
            <a:off x="914400" y="1676400"/>
            <a:ext cx="3657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74074512" name="Google Shape;87;p15"/>
          <p:cNvSpPr txBox="1">
            <a:spLocks noGrp="1"/>
          </p:cNvSpPr>
          <p:nvPr>
            <p:ph type="body" idx="2"/>
          </p:nvPr>
        </p:nvSpPr>
        <p:spPr bwMode="auto">
          <a:xfrm>
            <a:off x="4766732" y="1676400"/>
            <a:ext cx="681566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34214726" name="Google Shape;88;p15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31899874" name="Google Shape;89;p15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icture with Caption" preserve="0" showMasterPhAnim="0" showMasterSp="1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5598106" name="Google Shape;91;p16"/>
          <p:cNvSpPr/>
          <p:nvPr/>
        </p:nvSpPr>
        <p:spPr bwMode="auto">
          <a:xfrm rot="-10380000" flipH="1">
            <a:off x="4220633" y="1108075"/>
            <a:ext cx="7010399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4773052" name="Google Shape;92;p16"/>
          <p:cNvSpPr/>
          <p:nvPr/>
        </p:nvSpPr>
        <p:spPr bwMode="auto">
          <a:xfrm rot="-10380000" flipH="1">
            <a:off x="10672233" y="5359401"/>
            <a:ext cx="207433" cy="155575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2510498" name="Google Shape;93;p16"/>
          <p:cNvSpPr/>
          <p:nvPr/>
        </p:nvSpPr>
        <p:spPr bwMode="auto">
          <a:xfrm rot="10800000" flipH="1">
            <a:off x="-12700" y="5816600"/>
            <a:ext cx="12217400" cy="1041400"/>
          </a:xfrm>
          <a:custGeom>
            <a:avLst/>
            <a:gdLst/>
            <a:ahLst/>
            <a:cxnLst/>
            <a:rect l="l" t="t" r="r" b="b"/>
            <a:pathLst>
              <a:path w="5772" h="656" fill="norm" stroke="1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3921"/>
                </a:srgbClr>
              </a:gs>
              <a:gs pos="100000">
                <a:srgbClr val="00E9F7">
                  <a:alpha val="54117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4933811" name="Google Shape;94;p16"/>
          <p:cNvSpPr/>
          <p:nvPr/>
        </p:nvSpPr>
        <p:spPr bwMode="auto">
          <a:xfrm rot="10800000" flipH="1">
            <a:off x="5842000" y="6219826"/>
            <a:ext cx="6350000" cy="638175"/>
          </a:xfrm>
          <a:custGeom>
            <a:avLst/>
            <a:gdLst/>
            <a:ahLst/>
            <a:cxnLst/>
            <a:rect l="l" t="t" r="r" b="b"/>
            <a:pathLst>
              <a:path w="3000" h="595" fill="norm" stroke="1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019"/>
                </a:srgbClr>
              </a:gs>
              <a:gs pos="80000">
                <a:srgbClr val="0099E4">
                  <a:alpha val="43921"/>
                </a:srgbClr>
              </a:gs>
              <a:gs pos="100000">
                <a:srgbClr val="0099E4">
                  <a:alpha val="4392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4588811" name="Google Shape;95;p16"/>
          <p:cNvSpPr txBox="1">
            <a:spLocks noGrp="1"/>
          </p:cNvSpPr>
          <p:nvPr>
            <p:ph type="title"/>
          </p:nvPr>
        </p:nvSpPr>
        <p:spPr bwMode="auto">
          <a:xfrm>
            <a:off x="812800" y="1176997"/>
            <a:ext cx="2950464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43183982" name="Google Shape;96;p16"/>
          <p:cNvSpPr txBox="1">
            <a:spLocks noGrp="1"/>
          </p:cNvSpPr>
          <p:nvPr>
            <p:ph type="body" idx="1"/>
          </p:nvPr>
        </p:nvSpPr>
        <p:spPr bwMode="auto">
          <a:xfrm>
            <a:off x="812800" y="2828785"/>
            <a:ext cx="29464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  <a:defRPr sz="1300"/>
            </a:lvl1pPr>
            <a:lvl2pPr marL="914400" lvl="1" indent="-28956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19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84702622" name="Google Shape;97;p16"/>
          <p:cNvSpPr>
            <a:spLocks noGrp="1"/>
          </p:cNvSpPr>
          <p:nvPr>
            <p:ph type="pic" idx="2"/>
          </p:nvPr>
        </p:nvSpPr>
        <p:spPr bwMode="auto"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964342315" name="Google Shape;98;p16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24548353" name="Google Shape;99;p16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Vertical Text" preserve="0" showMasterPhAnim="0" showMasterSp="1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6587520" name="Google Shape;101;p17"/>
          <p:cNvSpPr txBox="1">
            <a:spLocks noGrp="1"/>
          </p:cNvSpPr>
          <p:nvPr>
            <p:ph type="title"/>
          </p:nvPr>
        </p:nvSpPr>
        <p:spPr bwMode="auto"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20121716" name="Google Shape;102;p17"/>
          <p:cNvSpPr txBox="1">
            <a:spLocks noGrp="1"/>
          </p:cNvSpPr>
          <p:nvPr>
            <p:ph type="body" idx="1"/>
          </p:nvPr>
        </p:nvSpPr>
        <p:spPr bwMode="auto">
          <a:xfrm rot="5400000">
            <a:off x="3901281" y="-1356518"/>
            <a:ext cx="4389437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23293457" name="Google Shape;103;p17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19487446" name="Google Shape;104;p17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Vertical Title and Text" preserve="0" showMasterPhAnim="0" showMasterSp="1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163581" name="Google Shape;106;p18"/>
          <p:cNvSpPr txBox="1">
            <a:spLocks noGrp="1"/>
          </p:cNvSpPr>
          <p:nvPr>
            <p:ph type="title"/>
          </p:nvPr>
        </p:nvSpPr>
        <p:spPr bwMode="auto">
          <a:xfrm rot="5400000">
            <a:off x="7604919" y="2148684"/>
            <a:ext cx="5211763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51111200" name="Google Shape;107;p18"/>
          <p:cNvSpPr txBox="1">
            <a:spLocks noGrp="1"/>
          </p:cNvSpPr>
          <p:nvPr>
            <p:ph type="body" idx="1"/>
          </p:nvPr>
        </p:nvSpPr>
        <p:spPr bwMode="auto">
          <a:xfrm rot="5400000">
            <a:off x="2016919" y="-492917"/>
            <a:ext cx="521176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82488214" name="Google Shape;108;p18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24281948" name="Google Shape;109;p18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ustom Layout" preserve="0" showMasterPhAnim="0" showMasterSp="1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9058062" name="Google Shape;111;p19"/>
          <p:cNvSpPr txBox="1">
            <a:spLocks noGrp="1"/>
          </p:cNvSpPr>
          <p:nvPr>
            <p:ph type="title"/>
          </p:nvPr>
        </p:nvSpPr>
        <p:spPr bwMode="auto"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05330434" name="Google Shape;112;p19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27346949" name="Google Shape;113;p19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1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2239693" name="Google Shape;45;p7"/>
          <p:cNvSpPr txBox="1">
            <a:spLocks noGrp="1"/>
          </p:cNvSpPr>
          <p:nvPr>
            <p:ph type="title"/>
          </p:nvPr>
        </p:nvSpPr>
        <p:spPr bwMode="auto"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21038321" name="Google Shape;46;p7"/>
          <p:cNvSpPr txBox="1">
            <a:spLocks noGrp="1"/>
          </p:cNvSpPr>
          <p:nvPr>
            <p:ph type="body" idx="1"/>
          </p:nvPr>
        </p:nvSpPr>
        <p:spPr bwMode="auto"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44442981" name="Google Shape;47;p7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1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8159584" name="Google Shape;121;p20"/>
          <p:cNvSpPr txBox="1">
            <a:spLocks noGrp="1"/>
          </p:cNvSpPr>
          <p:nvPr>
            <p:ph type="body" idx="1"/>
          </p:nvPr>
        </p:nvSpPr>
        <p:spPr bwMode="auto">
          <a:xfrm>
            <a:off x="1472513" y="2121013"/>
            <a:ext cx="4040100" cy="6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60"/>
              <a:buNone/>
              <a:defRPr/>
            </a:pPr>
            <a:endParaRPr sz="3200">
              <a:solidFill>
                <a:srgbClr val="B9077E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9077E"/>
              </a:buClr>
              <a:buSzPts val="2560"/>
              <a:buNone/>
              <a:defRPr/>
            </a:pPr>
            <a:r>
              <a:rPr lang="en-US" sz="3200">
                <a:solidFill>
                  <a:srgbClr val="B9077E"/>
                </a:solidFill>
              </a:rPr>
              <a:t>    </a:t>
            </a:r>
            <a:endParaRPr sz="3200"/>
          </a:p>
        </p:txBody>
      </p:sp>
      <p:pic>
        <p:nvPicPr>
          <p:cNvPr id="18562034" name="Google Shape;122;p20" descr="klogo copy.png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2286851" y="1589512"/>
            <a:ext cx="1374775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902526" name="Google Shape;125;p20"/>
          <p:cNvSpPr txBox="1"/>
          <p:nvPr/>
        </p:nvSpPr>
        <p:spPr bwMode="auto">
          <a:xfrm>
            <a:off x="5331609" y="1262410"/>
            <a:ext cx="5926545" cy="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Department of Computer Science and Engineering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09150017" name="Google Shape;126;p20"/>
          <p:cNvSpPr txBox="1">
            <a:spLocks noGrp="1"/>
          </p:cNvSpPr>
          <p:nvPr>
            <p:ph type="title"/>
          </p:nvPr>
        </p:nvSpPr>
        <p:spPr bwMode="auto">
          <a:xfrm>
            <a:off x="3094060" y="2980783"/>
            <a:ext cx="8655924" cy="622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8255" marR="5080" indent="-1266190" algn="ctr">
              <a:defRPr/>
            </a:pPr>
            <a:br>
              <a:rPr lang="en-US"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</a:br>
            <a:r>
              <a:rPr lang="en-GB"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SECOND </a:t>
            </a:r>
            <a:r>
              <a:rPr lang="en-US"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REVIEW 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362146421" name="TextBox 1"/>
          <p:cNvSpPr txBox="1"/>
          <p:nvPr/>
        </p:nvSpPr>
        <p:spPr bwMode="auto">
          <a:xfrm>
            <a:off x="5744364" y="1752192"/>
            <a:ext cx="4975481" cy="518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2800">
                <a:latin typeface="Times New Roman"/>
                <a:ea typeface="Times New Roman"/>
                <a:cs typeface="Times New Roman"/>
              </a:rPr>
              <a:t>22CSP72 PROJECT WORK II</a:t>
            </a:r>
            <a:endParaRPr>
              <a:latin typeface="Times New Roman"/>
              <a:cs typeface="Times New Roman"/>
            </a:endParaRPr>
          </a:p>
        </p:txBody>
      </p:sp>
      <p:pic>
        <p:nvPicPr>
          <p:cNvPr id="2115139855" name="Picture 2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819881" y="165315"/>
            <a:ext cx="2573001" cy="1010822"/>
          </a:xfrm>
          <a:prstGeom prst="rect">
            <a:avLst/>
          </a:prstGeom>
        </p:spPr>
      </p:pic>
      <p:sp>
        <p:nvSpPr>
          <p:cNvPr id="1915704468" name="TextBox 5"/>
          <p:cNvSpPr txBox="1"/>
          <p:nvPr/>
        </p:nvSpPr>
        <p:spPr bwMode="auto">
          <a:xfrm>
            <a:off x="5182802" y="2501507"/>
            <a:ext cx="6229552" cy="701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000" b="1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Deep Learning-Based Tuberculosis Detection from Chest X-Ray Images</a:t>
            </a:r>
            <a:endParaRPr sz="2000" b="1" i="0">
              <a:solidFill>
                <a:srgbClr val="FF0000"/>
              </a:solidFill>
            </a:endParaRPr>
          </a:p>
        </p:txBody>
      </p:sp>
      <p:sp>
        <p:nvSpPr>
          <p:cNvPr id="731493721" name="object 3"/>
          <p:cNvSpPr txBox="1"/>
          <p:nvPr/>
        </p:nvSpPr>
        <p:spPr bwMode="auto">
          <a:xfrm>
            <a:off x="4953521" y="3873138"/>
            <a:ext cx="5549753" cy="1893294"/>
          </a:xfrm>
          <a:prstGeom prst="rect">
            <a:avLst/>
          </a:prstGeom>
        </p:spPr>
        <p:txBody>
          <a:bodyPr vert="horz" wrap="square" lIns="0" tIns="15874" rIns="0" bIns="0" rtlCol="0">
            <a:spAutoFit/>
          </a:bodyPr>
          <a:lstStyle/>
          <a:p>
            <a:pPr marL="12699">
              <a:lnSpc>
                <a:spcPct val="100000"/>
              </a:lnSpc>
              <a:spcBef>
                <a:spcPts val="124"/>
              </a:spcBef>
              <a:defRPr/>
            </a:pPr>
            <a:r>
              <a:rPr lang="en-IN" sz="2000" b="1" spc="-9">
                <a:latin typeface="Times New Roman"/>
                <a:cs typeface="Times New Roman"/>
              </a:rPr>
              <a:t>Team Number :</a:t>
            </a:r>
            <a:r>
              <a:rPr lang="en-GB" sz="2200">
                <a:latin typeface="Times New Roman"/>
                <a:cs typeface="Times New Roman"/>
              </a:rPr>
              <a:t> A22</a:t>
            </a:r>
            <a:endParaRPr lang="en-IN" sz="2000" b="1" spc="-9">
              <a:latin typeface="Times New Roman"/>
              <a:cs typeface="Times New Roman"/>
            </a:endParaRPr>
          </a:p>
          <a:p>
            <a:pPr marL="12699">
              <a:lnSpc>
                <a:spcPct val="100000"/>
              </a:lnSpc>
              <a:spcBef>
                <a:spcPts val="124"/>
              </a:spcBef>
              <a:defRPr/>
            </a:pPr>
            <a:r>
              <a:rPr lang="en-IN" sz="2000" b="1" spc="-9">
                <a:latin typeface="Times New Roman"/>
                <a:cs typeface="Times New Roman"/>
              </a:rPr>
              <a:t>Team Guide : </a:t>
            </a:r>
            <a:r>
              <a:rPr lang="en-IN" sz="2000" spc="-9">
                <a:latin typeface="Times New Roman"/>
                <a:cs typeface="Times New Roman"/>
              </a:rPr>
              <a:t>Dr. </a:t>
            </a:r>
            <a:r>
              <a:rPr lang="en-US" sz="2000" spc="-9">
                <a:latin typeface="Times New Roman"/>
                <a:cs typeface="Times New Roman"/>
              </a:rPr>
              <a:t>K. Venu </a:t>
            </a:r>
            <a:endParaRPr lang="en-US" sz="2000">
              <a:latin typeface="Times New Roman"/>
              <a:cs typeface="Times New Roman"/>
            </a:endParaRPr>
          </a:p>
          <a:p>
            <a:pPr marL="13969">
              <a:lnSpc>
                <a:spcPct val="100000"/>
              </a:lnSpc>
              <a:spcBef>
                <a:spcPts val="4"/>
              </a:spcBef>
              <a:defRPr/>
            </a:pPr>
            <a:r>
              <a:rPr lang="en-US" sz="2000" b="1">
                <a:latin typeface="Times New Roman"/>
                <a:cs typeface="Times New Roman"/>
              </a:rPr>
              <a:t>Team</a:t>
            </a:r>
            <a:r>
              <a:rPr lang="en-US" sz="2000" b="1" spc="-19">
                <a:latin typeface="Times New Roman"/>
                <a:cs typeface="Times New Roman"/>
              </a:rPr>
              <a:t> </a:t>
            </a:r>
            <a:r>
              <a:rPr lang="en-US" sz="2000" b="1" spc="-9">
                <a:latin typeface="Times New Roman"/>
                <a:cs typeface="Times New Roman"/>
              </a:rPr>
              <a:t>Members :</a:t>
            </a:r>
            <a:endParaRPr/>
          </a:p>
          <a:p>
            <a:pPr marL="13969">
              <a:lnSpc>
                <a:spcPct val="100000"/>
              </a:lnSpc>
              <a:spcBef>
                <a:spcPts val="4"/>
              </a:spcBef>
              <a:defRPr/>
            </a:pPr>
            <a:r>
              <a:rPr lang="en-IN" sz="2000" b="1" spc="-9">
                <a:latin typeface="Times New Roman"/>
                <a:cs typeface="Times New Roman"/>
              </a:rPr>
              <a:t>		</a:t>
            </a:r>
            <a:r>
              <a:rPr lang="en-IN" sz="2000" spc="-9">
                <a:latin typeface="Times New Roman"/>
                <a:cs typeface="Times New Roman"/>
              </a:rPr>
              <a:t>Abinandhana S G (23CSR008)</a:t>
            </a:r>
            <a:endParaRPr/>
          </a:p>
          <a:p>
            <a:pPr marL="13969">
              <a:lnSpc>
                <a:spcPct val="100000"/>
              </a:lnSpc>
              <a:spcBef>
                <a:spcPts val="4"/>
              </a:spcBef>
              <a:defRPr/>
            </a:pPr>
            <a:r>
              <a:rPr lang="en-IN" sz="2000" spc="-9">
                <a:latin typeface="Times New Roman"/>
                <a:cs typeface="Times New Roman"/>
              </a:rPr>
              <a:t>		Anbuselvam N     (23CSR018)</a:t>
            </a:r>
            <a:endParaRPr/>
          </a:p>
          <a:p>
            <a:pPr marL="13969">
              <a:lnSpc>
                <a:spcPct val="100000"/>
              </a:lnSpc>
              <a:spcBef>
                <a:spcPts val="4"/>
              </a:spcBef>
              <a:defRPr/>
            </a:pPr>
            <a:r>
              <a:rPr lang="en-IN" sz="2000" spc="-9">
                <a:latin typeface="Times New Roman"/>
                <a:cs typeface="Times New Roman"/>
              </a:rPr>
              <a:t>		Gobika R (23CSR062)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5233194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3951263" y="556186"/>
            <a:ext cx="6096358" cy="596559"/>
          </a:xfrm>
          <a:prstGeom prst="rect">
            <a:avLst/>
          </a:prstGeom>
        </p:spPr>
        <p:txBody>
          <a:bodyPr vert="horz" wrap="square" lIns="0" tIns="199960" rIns="0" bIns="0" rtlCol="0">
            <a:spAutoFit/>
          </a:bodyPr>
          <a:lstStyle/>
          <a:p>
            <a:pPr marL="12699">
              <a:lnSpc>
                <a:spcPct val="100000"/>
              </a:lnSpc>
              <a:spcBef>
                <a:spcPts val="129"/>
              </a:spcBef>
              <a:defRPr/>
            </a:pPr>
            <a:r>
              <a:rPr lang="en-IN" sz="2600" spc="-19">
                <a:latin typeface="Times New Roman"/>
                <a:ea typeface="Times New Roman"/>
                <a:cs typeface="Times New Roman"/>
              </a:rPr>
              <a:t>PROBLEM</a:t>
            </a:r>
            <a:r>
              <a:rPr lang="en-IN" sz="2600" spc="-199">
                <a:latin typeface="Times New Roman"/>
                <a:ea typeface="Times New Roman"/>
                <a:cs typeface="Times New Roman"/>
              </a:rPr>
              <a:t> </a:t>
            </a:r>
            <a:r>
              <a:rPr lang="en-IN" sz="2600" spc="-9">
                <a:latin typeface="Times New Roman"/>
                <a:ea typeface="Times New Roman"/>
                <a:cs typeface="Times New Roman"/>
              </a:rPr>
              <a:t>STATEMENT</a:t>
            </a:r>
            <a:endParaRPr sz="2600" spc="-9">
              <a:latin typeface="Times New Roman"/>
              <a:cs typeface="Times New Roman"/>
            </a:endParaRPr>
          </a:p>
        </p:txBody>
      </p:sp>
      <p:sp>
        <p:nvSpPr>
          <p:cNvPr id="1573593355" name="TextBox 5"/>
          <p:cNvSpPr txBox="1"/>
          <p:nvPr/>
        </p:nvSpPr>
        <p:spPr bwMode="auto">
          <a:xfrm>
            <a:off x="1395693" y="1322991"/>
            <a:ext cx="9992921" cy="3404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existing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CoAtNet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-based tuberculosis detection framework performs automated classification using the entire chest X-ray image without explicitly isolating the lung region prior to classification.</a:t>
            </a:r>
            <a:endParaRPr sz="2100" b="0"/>
          </a:p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existing framework uses LIME for explainability, which provides local feature-based explanations but does not generate gradient-based class activation heatmaps for class-specific visualization of the model's predictions.</a:t>
            </a:r>
            <a:endParaRPr/>
          </a:p>
          <a:p>
            <a:pPr marL="217792" indent="-217792" algn="just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existing framework does not provide an integrated AI-assisted diagnostic reporting mechanism that presents the model's prediction, prediction confidence, and explainability in a unified and structured format.</a:t>
            </a:r>
            <a:endParaRPr sz="2100" b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610240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3588009" y="443855"/>
            <a:ext cx="6255173" cy="635299"/>
          </a:xfrm>
          <a:prstGeom prst="rect">
            <a:avLst/>
          </a:prstGeom>
        </p:spPr>
        <p:txBody>
          <a:bodyPr vert="horz" wrap="square" lIns="0" tIns="128775" rIns="0" bIns="0" rtlCol="0">
            <a:spAutoFit/>
          </a:bodyPr>
          <a:lstStyle/>
          <a:p>
            <a:pPr marL="1174749">
              <a:lnSpc>
                <a:spcPct val="100000"/>
              </a:lnSpc>
              <a:spcBef>
                <a:spcPts val="124"/>
              </a:spcBef>
              <a:defRPr/>
            </a:pPr>
            <a:r>
              <a:rPr lang="en-US" spc="-9">
                <a:latin typeface="Times New Roman"/>
                <a:cs typeface="Times New Roman"/>
              </a:rPr>
              <a:t>OBJECTIVES</a:t>
            </a:r>
            <a:endParaRPr spc="-9">
              <a:latin typeface="Times New Roman"/>
              <a:cs typeface="Times New Roman"/>
            </a:endParaRPr>
          </a:p>
        </p:txBody>
      </p:sp>
      <p:sp>
        <p:nvSpPr>
          <p:cNvPr id="1071378079" name="TextBox 5"/>
          <p:cNvSpPr txBox="1"/>
          <p:nvPr/>
        </p:nvSpPr>
        <p:spPr bwMode="auto">
          <a:xfrm>
            <a:off x="1611918" y="1346542"/>
            <a:ext cx="9668794" cy="3772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Apply image preprocessing techniques, including resizing and Contrast Limited Adaptive Histogram Equalization (CLAHE), to enhance chest X-ray image quality.</a:t>
            </a:r>
            <a:endParaRPr sz="2100" b="0"/>
          </a:p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Perform lung segmentation to isolate the lung region and reduce the influence of irrelevant background information. </a:t>
            </a:r>
            <a:endParaRPr sz="2100" b="0"/>
          </a:p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Develop an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CoAtNet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-based deep learning framework for automated classification of chest X-ray images into Normal and Tuberculosis categories. </a:t>
            </a:r>
            <a:endParaRPr sz="2100" b="0"/>
          </a:p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Integrate Grad-CAM++ to generate class-specific visual explanations for interpreting the model's predictions. </a:t>
            </a:r>
            <a:endParaRPr sz="2100" b="0"/>
          </a:p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Develop an AI-assisted diagnostic reporting mechanism that presents the prediction, confidence score, and explainability results in a unified format.</a:t>
            </a:r>
            <a:endParaRPr sz="2100" b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301888144" name="Table 1868955789"/>
          <p:cNvGraphicFramePr>
            <a:graphicFrameLocks xmlns:a="http://schemas.openxmlformats.org/drawingml/2006/main"/>
          </p:cNvGraphicFramePr>
          <p:nvPr/>
        </p:nvGraphicFramePr>
        <p:xfrm rot="0">
          <a:off x="627636" y="709040"/>
          <a:ext cx="11364756" cy="5945407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540000"/>
                <a:gridCol w="2860112"/>
                <a:gridCol w="1525392"/>
                <a:gridCol w="1568881"/>
                <a:gridCol w="1737934"/>
                <a:gridCol w="3132437"/>
              </a:tblGrid>
              <a:tr h="45651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S.No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Paper (Year)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 Used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Limitations / Research Gap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Proposed Improvement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1123564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Enhanced CoAtNet Based Hybrid Deep Learning Architecture for Automated Tuberculosis Detection in Human Chest X-rays (2025)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CoAtNet (CNN + Vision Transformer) + LIME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86.39% Accuracy, 93.79% ROC-AUC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 lung segmentation, uses LIME, no diagnostic report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Integrate </a:t>
                      </a: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lung segmentation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Grad-CAM++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and </a:t>
                      </a: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AI-assisted diagnostic reporting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1234079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Ensemble Learning Based Automatic Detection of Tuberculosis in Chest X-ray Images Using Hybrid Feature Descriptors (2021)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Ensemble CNN + Gabor Features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AUC = 0.99 (Shenzhen), 0.97 (Montgomery)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Does not incorporate Explainable AI and lacks a Transformer-based architecture.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Introduce</a:t>
                      </a: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CoAtNet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with </a:t>
                      </a: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Grad-CAM++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for improved feature learning and explainability.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1105145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TB-CXRNet: Tuberculosis and Drug-Resistant Tuberculosis Detection Technique Using Chest X-ray Images (2024)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TB-CXRNet (CNN), CheXNet + MLP, Score-CAM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93.32% (TB/Healthy), 87.48% (Drug-Resistant TB)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Relies mainly on CNN features, no hybrid CNN-Transformer, no lung segmentation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</a:t>
                      </a: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CoAtNet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lung segmentation, </a:t>
                      </a: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Grad-CAM++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and AI-assisted diagnostic reporting.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1234079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Detecting Tuberculosis-Consistent Findings in Lateral Chest X-rays Using an Ensemble of CNNs and Vision Transformers (2024)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Ensemble CNN + Vision Transformer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95.7% Accuracy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 Explainable AI, high computational complexity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Apply </a:t>
                      </a: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Grad-CAM++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and lung segmentation to improve model interpretability.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792021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Ensemble Deep Learning Architectures for Tuberculosis Detection (2026)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Ensemble CNN with Feature Fusion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AUC = 0.98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computational cost, lacks explainability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</a:t>
                      </a:r>
                      <a:r>
                        <a:rPr lang="en-GB"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CoAtNet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with </a:t>
                      </a: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Grad-CAM++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and AI-assisted diagnostic reporting.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</a:tbl>
          </a:graphicData>
        </a:graphic>
      </p:graphicFrame>
      <p:sp>
        <p:nvSpPr>
          <p:cNvPr id="1508245851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2883417" y="92228"/>
            <a:ext cx="6263451" cy="616813"/>
          </a:xfrm>
          <a:prstGeom prst="rect">
            <a:avLst/>
          </a:prstGeom>
        </p:spPr>
        <p:txBody>
          <a:bodyPr vert="horz" wrap="square" lIns="0" tIns="128773" rIns="0" bIns="0" rtlCol="0">
            <a:spAutoFit/>
          </a:bodyPr>
          <a:lstStyle/>
          <a:p>
            <a:pPr marL="1174748">
              <a:lnSpc>
                <a:spcPct val="100000"/>
              </a:lnSpc>
              <a:spcBef>
                <a:spcPts val="123"/>
              </a:spcBef>
              <a:defRPr/>
            </a:pPr>
            <a:r>
              <a:rPr lang="en-GB" spc="-9">
                <a:latin typeface="Times New Roman"/>
                <a:cs typeface="Times New Roman"/>
              </a:rPr>
              <a:t>LITERATURE SURVEY </a:t>
            </a:r>
            <a:endParaRPr spc="-9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887692" name="Title 1"/>
          <p:cNvSpPr>
            <a:spLocks noGrp="1"/>
          </p:cNvSpPr>
          <p:nvPr>
            <p:ph type="title"/>
          </p:nvPr>
        </p:nvSpPr>
        <p:spPr bwMode="auto">
          <a:xfrm>
            <a:off x="4724399" y="601097"/>
            <a:ext cx="3555999" cy="492442"/>
          </a:xfrm>
        </p:spPr>
        <p:txBody>
          <a:bodyPr/>
          <a:lstStyle/>
          <a:p>
            <a:pPr>
              <a:defRPr/>
            </a:pPr>
            <a:r>
              <a:rPr lang="en-IN">
                <a:latin typeface="Times New Roman"/>
                <a:cs typeface="Times New Roman"/>
              </a:rPr>
              <a:t>RESEARCH GAP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320341660" name="TextBox 3"/>
          <p:cNvSpPr txBox="1"/>
          <p:nvPr/>
        </p:nvSpPr>
        <p:spPr bwMode="auto">
          <a:xfrm>
            <a:off x="1686168" y="1592370"/>
            <a:ext cx="9825626" cy="4508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16922" indent="-316922" algn="just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Existing Enhanced CoAtNet-based models classify the entire chest X-ray image without incorporating lung segmentation to explicitly focus the analysis on the lung region. </a:t>
            </a:r>
            <a:endParaRPr sz="2100" b="0"/>
          </a:p>
          <a:p>
            <a:pPr marL="316922" indent="-316922" algn="just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existing framework employs LIME for explainability, which provides local explanations but does not generate gradient-based class activation heatmaps for class-specific visualization of the model's predictions. </a:t>
            </a:r>
            <a:endParaRPr sz="2100" b="0"/>
          </a:p>
          <a:p>
            <a:pPr marL="316922" indent="-316922" algn="just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reviewed studies apply lung segmentation, Enhanced CoAtNet, and Explainable AI independently rather than integrating these components into a unified end-to-end tuberculosis detection framework. </a:t>
            </a:r>
            <a:endParaRPr sz="2100" b="0"/>
          </a:p>
          <a:p>
            <a:pPr marL="316922" indent="-316922" algn="just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Automatic AI-assisted diagnostic report generation, integrating the prediction, confidence score, and explainability results, is not included in the existing Enhanced CoAtNet framework.</a:t>
            </a:r>
            <a:endParaRPr sz="2100" b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0986798" name="Title 1"/>
          <p:cNvSpPr>
            <a:spLocks noGrp="1"/>
          </p:cNvSpPr>
          <p:nvPr>
            <p:ph type="title"/>
          </p:nvPr>
        </p:nvSpPr>
        <p:spPr bwMode="auto">
          <a:xfrm>
            <a:off x="685101" y="-259884"/>
            <a:ext cx="10972800" cy="1143000"/>
          </a:xfrm>
        </p:spPr>
        <p:txBody>
          <a:bodyPr/>
          <a:lstStyle/>
          <a:p>
            <a:pPr>
              <a:defRPr/>
            </a:pPr>
            <a:r>
              <a:rPr lang="en-US" sz="3600">
                <a:latin typeface="Times New Roman"/>
                <a:cs typeface="Times New Roman"/>
              </a:rPr>
              <a:t>                              ARCHITECTURE DIAGRAM</a:t>
            </a:r>
            <a:endParaRPr lang="en-IN" sz="3600">
              <a:latin typeface="Times New Roman"/>
              <a:cs typeface="Times New Roman"/>
            </a:endParaRPr>
          </a:p>
        </p:txBody>
      </p:sp>
      <p:sp>
        <p:nvSpPr>
          <p:cNvPr id="12041140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0902" y="2214694"/>
            <a:ext cx="10441497" cy="4109907"/>
          </a:xfrm>
        </p:spPr>
        <p:txBody>
          <a:bodyPr/>
          <a:lstStyle/>
          <a:p>
            <a:pPr>
              <a:defRPr/>
            </a:pPr>
            <a:endParaRPr lang="en-IN"/>
          </a:p>
        </p:txBody>
      </p:sp>
      <p:pic>
        <p:nvPicPr>
          <p:cNvPr id="692961249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317072" y="1073791"/>
            <a:ext cx="10570128" cy="5357140"/>
          </a:xfrm>
          <a:prstGeom prst="rect">
            <a:avLst/>
          </a:prstGeom>
        </p:spPr>
      </p:pic>
      <p:pic>
        <p:nvPicPr>
          <p:cNvPr id="2100939341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701093" y="2843868"/>
            <a:ext cx="922789" cy="585132"/>
          </a:xfrm>
          <a:prstGeom prst="rect">
            <a:avLst/>
          </a:prstGeom>
        </p:spPr>
      </p:pic>
      <p:pic>
        <p:nvPicPr>
          <p:cNvPr id="1584857870" name="Picture 4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620624" y="4348724"/>
            <a:ext cx="2155644" cy="212789"/>
          </a:xfrm>
          <a:prstGeom prst="rect">
            <a:avLst/>
          </a:prstGeom>
        </p:spPr>
      </p:pic>
      <p:sp>
        <p:nvSpPr>
          <p:cNvPr id="2013588089" name="TextBox 5"/>
          <p:cNvSpPr txBox="1"/>
          <p:nvPr/>
        </p:nvSpPr>
        <p:spPr bwMode="auto">
          <a:xfrm>
            <a:off x="6056851" y="4330681"/>
            <a:ext cx="16442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900" b="1">
                <a:solidFill>
                  <a:srgbClr val="350060"/>
                </a:solidFill>
                <a:latin typeface="Aptos"/>
              </a:rPr>
              <a:t>(Grad-CAM++)</a:t>
            </a:r>
            <a:endParaRPr/>
          </a:p>
        </p:txBody>
      </p:sp>
      <p:pic>
        <p:nvPicPr>
          <p:cNvPr id="506511027" name="Picture 7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9364507" y="1845578"/>
            <a:ext cx="1876739" cy="170052"/>
          </a:xfrm>
          <a:prstGeom prst="rect">
            <a:avLst/>
          </a:prstGeom>
        </p:spPr>
      </p:pic>
      <p:sp>
        <p:nvSpPr>
          <p:cNvPr id="950716769" name="TextBox 9"/>
          <p:cNvSpPr txBox="1"/>
          <p:nvPr/>
        </p:nvSpPr>
        <p:spPr bwMode="auto">
          <a:xfrm>
            <a:off x="9118835" y="1784798"/>
            <a:ext cx="28438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900" b="1">
                <a:solidFill>
                  <a:srgbClr val="CC3300"/>
                </a:solidFill>
              </a:rPr>
              <a:t>CNN+VISION TRANSFORMER HYBRID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388901" name="Title 1"/>
          <p:cNvSpPr>
            <a:spLocks noGrp="1"/>
          </p:cNvSpPr>
          <p:nvPr>
            <p:ph type="title"/>
          </p:nvPr>
        </p:nvSpPr>
        <p:spPr bwMode="auto">
          <a:xfrm>
            <a:off x="1935061" y="-276662"/>
            <a:ext cx="10972800" cy="1143000"/>
          </a:xfrm>
        </p:spPr>
        <p:txBody>
          <a:bodyPr/>
          <a:lstStyle/>
          <a:p>
            <a:pPr>
              <a:defRPr/>
            </a:pPr>
            <a:r>
              <a:rPr lang="en-IN">
                <a:latin typeface="Times New Roman"/>
                <a:cs typeface="Times New Roman"/>
              </a:rPr>
              <a:t>PROPOSED WORK WITH PLANNED INNOVATION</a:t>
            </a:r>
            <a:endParaRPr/>
          </a:p>
        </p:txBody>
      </p:sp>
      <p:sp>
        <p:nvSpPr>
          <p:cNvPr id="133353113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33181" y="1224779"/>
            <a:ext cx="10772263" cy="5217253"/>
          </a:xfrm>
        </p:spPr>
        <p:txBody>
          <a:bodyPr/>
          <a:lstStyle/>
          <a:p>
            <a:pPr marL="137159" indent="0">
              <a:lnSpc>
                <a:spcPct val="114999"/>
              </a:lnSpc>
              <a:buClr>
                <a:schemeClr val="dk1"/>
              </a:buClr>
              <a:buSzPts val="1440"/>
              <a:buFont typeface="Noto Sans Symbols"/>
              <a:buNone/>
              <a:defRPr/>
            </a:pP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Proposed Work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Apply image preprocessing (Resize and CLAHE).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Perform lung segmentation using TorchXRayVision.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Train the CoAtNet model for automated tuberculosis classification.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Generate Grad-CAM++ visualizations. 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Generate an AI-assisted diagnostic report. </a:t>
            </a:r>
            <a:endParaRPr sz="2100" b="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endParaRPr sz="2100"/>
          </a:p>
          <a:p>
            <a:pPr marL="137159" indent="0">
              <a:lnSpc>
                <a:spcPct val="114999"/>
              </a:lnSpc>
              <a:buClr>
                <a:schemeClr val="dk1"/>
              </a:buClr>
              <a:buSzPts val="1440"/>
              <a:buFont typeface="Noto Sans Symbols"/>
              <a:buNone/>
              <a:defRPr/>
            </a:pP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Planned Innovation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Combine lung segmentation and  CoAtNet for lung-focused analysis.</a:t>
            </a:r>
            <a:endParaRPr sz="2100" b="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 Grad-CAM++ for class-specific visual explanations. 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Combine prediction, confidence, and explainability in one diagnostic report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100" b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772752" name="Title 1"/>
          <p:cNvSpPr>
            <a:spLocks noGrp="1"/>
          </p:cNvSpPr>
          <p:nvPr>
            <p:ph type="title"/>
          </p:nvPr>
        </p:nvSpPr>
        <p:spPr bwMode="auto">
          <a:xfrm>
            <a:off x="609599" y="234862"/>
            <a:ext cx="10972800" cy="441343"/>
          </a:xfrm>
        </p:spPr>
        <p:txBody>
          <a:bodyPr/>
          <a:lstStyle/>
          <a:p>
            <a:pPr>
              <a:defRPr/>
            </a:pPr>
            <a:r>
              <a:rPr lang="en-IN">
                <a:latin typeface="Times New Roman"/>
                <a:cs typeface="Times New Roman"/>
              </a:rPr>
              <a:t>                             MODULES OF THE PROJECT</a:t>
            </a:r>
            <a:endParaRPr/>
          </a:p>
        </p:txBody>
      </p:sp>
      <p:sp>
        <p:nvSpPr>
          <p:cNvPr id="38698758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27712" y="858877"/>
            <a:ext cx="10972800" cy="5886800"/>
          </a:xfrm>
        </p:spPr>
        <p:txBody>
          <a:bodyPr/>
          <a:lstStyle/>
          <a:p>
            <a:pPr marL="137159" indent="0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None/>
              <a:defRPr/>
            </a:pP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</a:t>
            </a:r>
            <a:r>
              <a:rPr lang="en-GB"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Image Preprocessing</a:t>
            </a:r>
            <a:endParaRPr sz="2100"/>
          </a:p>
          <a:p>
            <a:pPr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Resize chest X-ray images to 512 × 512 pixels.</a:t>
            </a:r>
            <a:endParaRPr sz="2100" b="0"/>
          </a:p>
          <a:p>
            <a:pPr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Apply CLAHE (Contrast Limited Adaptive Histogram Equalization) for contrast enhancement.</a:t>
            </a:r>
            <a:endParaRPr sz="2100" b="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Generate preprocessed images for lung segmentation.</a:t>
            </a:r>
            <a:endParaRPr/>
          </a:p>
          <a:p>
            <a:pPr marL="137159" indent="0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None/>
              <a:defRPr/>
            </a:pPr>
            <a:endParaRPr sz="21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137158" indent="0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None/>
              <a:defRPr/>
            </a:pPr>
            <a:r>
              <a:rPr lang="en-US" sz="21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</a:t>
            </a:r>
            <a:r>
              <a:rPr lang="en-GB" sz="21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lang="en-US" sz="21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Lung Segmentation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 the pretrained </a:t>
            </a: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TorchXRayVision lung segmentation model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Load the model with its </a:t>
            </a: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pretrained learned weights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Pass the preprocessed chest X-ray through the segmentation network.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Generate pixel-wise probability maps for the lung regions.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Convert the probability maps into binary lung masks using a threshold.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Combine the lung regions to create the final lung mask.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Apply the mask to the chest X-ray to remove non-lung regions.</a:t>
            </a: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Generate the segmented lung image for further classification.</a:t>
            </a:r>
            <a:endParaRPr sz="2100" b="1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endParaRPr sz="2100" b="1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endParaRPr sz="2100"/>
          </a:p>
          <a:p>
            <a:pPr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endParaRPr sz="2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8980457" name="Google Shape;66;p11"/>
          <p:cNvSpPr txBox="1">
            <a:spLocks noGrp="1"/>
          </p:cNvSpPr>
          <p:nvPr>
            <p:ph type="body" idx="1"/>
          </p:nvPr>
        </p:nvSpPr>
        <p:spPr bwMode="auto">
          <a:xfrm>
            <a:off x="1188698" y="613253"/>
            <a:ext cx="10445892" cy="5920114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32004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marL="137159" indent="0">
              <a:buClr>
                <a:schemeClr val="dk1"/>
              </a:buClr>
              <a:buSzPts val="1440"/>
              <a:buFont typeface="Noto Sans Symbols"/>
              <a:buNone/>
              <a:defRPr/>
            </a:pP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3: Dataset Preparation and Data Augmentation</a:t>
            </a:r>
            <a:endParaRPr sz="2100"/>
          </a:p>
          <a:p>
            <a:pPr marL="137159" indent="0">
              <a:buClr>
                <a:schemeClr val="dk1"/>
              </a:buClr>
              <a:buSzPts val="1440"/>
              <a:buFont typeface="Noto Sans Symbols"/>
              <a:buNone/>
              <a:defRPr/>
            </a:pPr>
            <a:endParaRPr sz="210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Organize the segmented lung images into Normal and Tuberculosis classes. 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Split the dataset into Training, Validation, and Test sets. 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Resize the images to 224 × 224 pixels for Enhanced CoAtNet. 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Apply data augmentation only to the training images. 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 transformations such as rotation, translation, and scaling. 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Combine original and augmented images to increase training data diversity.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Generate 559 augmented images, resulting in 1118 total training images.</a:t>
            </a:r>
            <a:endParaRPr sz="2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819540" name="Google Shape;66;p11"/>
          <p:cNvSpPr txBox="1">
            <a:spLocks noGrp="1"/>
          </p:cNvSpPr>
          <p:nvPr>
            <p:ph type="body" idx="1"/>
          </p:nvPr>
        </p:nvSpPr>
        <p:spPr bwMode="auto">
          <a:xfrm>
            <a:off x="1266985" y="613252"/>
            <a:ext cx="10445892" cy="575049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32004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marL="137159" indent="0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None/>
              <a:defRPr/>
            </a:pP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4: CoAtNet Model Training</a:t>
            </a:r>
            <a:endParaRPr sz="2100">
              <a:latin typeface="Times New Roman"/>
              <a:ea typeface="Times New Roman"/>
              <a:cs typeface="Times New Roman"/>
            </a:endParaRPr>
          </a:p>
          <a:p>
            <a:pPr marL="137159" indent="0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None/>
              <a:defRPr/>
            </a:pPr>
            <a:endParaRPr sz="2100">
              <a:latin typeface="Times New Roman"/>
              <a:cs typeface="Times New Roman"/>
            </a:endParaRPr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Load the pretrained CoAtNet-0 (coatnet_0_rw_224) model. </a:t>
            </a:r>
            <a:endParaRPr sz="2100" b="0">
              <a:latin typeface="Times New Roman"/>
              <a:cs typeface="Times New Roman"/>
            </a:endParaRPr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Replace the original classifier head with a 2-class output layer for Normal and Tuberculosis. </a:t>
            </a:r>
            <a:endParaRPr sz="2100" b="0">
              <a:latin typeface="Times New Roman"/>
              <a:cs typeface="Times New Roman"/>
            </a:endParaRPr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Use segmented lung images resized to 224 × 224 pixels as input. </a:t>
            </a:r>
            <a:endParaRPr sz="2100" b="0">
              <a:latin typeface="Times New Roman"/>
              <a:cs typeface="Times New Roman"/>
            </a:endParaRPr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Train the model using the augmented training dataset. </a:t>
            </a:r>
            <a:endParaRPr sz="2100" b="0">
              <a:latin typeface="Times New Roman"/>
              <a:cs typeface="Times New Roman"/>
            </a:endParaRPr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Use CrossEntropyLoss with label smoothing (0.1) to calculate the classification loss. </a:t>
            </a:r>
            <a:endParaRPr sz="2100" b="0">
              <a:latin typeface="Times New Roman"/>
              <a:cs typeface="Times New Roman"/>
            </a:endParaRPr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Use the AdamW optimizer with a learning rate of 0.0001 and weight decay of 0.001. </a:t>
            </a:r>
            <a:endParaRPr sz="2100" b="0">
              <a:latin typeface="Times New Roman"/>
              <a:cs typeface="Times New Roman"/>
            </a:endParaRPr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Use the OneCycleLR learning rate scheduler during training. </a:t>
            </a:r>
            <a:endParaRPr sz="2100" b="0">
              <a:latin typeface="Times New Roman"/>
              <a:cs typeface="Times New Roman"/>
            </a:endParaRPr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Train the model for a maximum of 30 epochs with early stopping patience of 7 epochs. </a:t>
            </a:r>
            <a:endParaRPr sz="2100" b="0">
              <a:latin typeface="Times New Roman"/>
              <a:cs typeface="Times New Roman"/>
            </a:endParaRPr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Validate the model after each epoch using the validation dataset. </a:t>
            </a:r>
            <a:endParaRPr sz="2100" b="0">
              <a:latin typeface="Times New Roman"/>
              <a:cs typeface="Times New Roman"/>
            </a:endParaRPr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Save the best model based on validation performance.</a:t>
            </a:r>
            <a:endParaRPr sz="2100" b="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0736689" name="Google Shape;66;p11"/>
          <p:cNvSpPr txBox="1">
            <a:spLocks noGrp="1"/>
          </p:cNvSpPr>
          <p:nvPr>
            <p:ph type="body" idx="1"/>
          </p:nvPr>
        </p:nvSpPr>
        <p:spPr bwMode="auto">
          <a:xfrm>
            <a:off x="1188697" y="717636"/>
            <a:ext cx="10680756" cy="586792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32004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marL="137159" indent="0" algn="just">
              <a:buClr>
                <a:schemeClr val="dk1"/>
              </a:buClr>
              <a:buSzPts val="1440"/>
              <a:buFont typeface="Arial"/>
              <a:buNone/>
              <a:defRPr/>
            </a:pP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5: Tuberculosis Classification and Model Evaluation</a:t>
            </a:r>
            <a:endParaRPr sz="2100"/>
          </a:p>
          <a:p>
            <a:pPr marL="137159" indent="0" algn="just">
              <a:buClr>
                <a:schemeClr val="dk1"/>
              </a:buClr>
              <a:buSzPts val="1440"/>
              <a:buFont typeface="Arial"/>
              <a:buNone/>
              <a:defRPr/>
            </a:pPr>
            <a:endParaRPr sz="210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Load the best trained CoAtNet model for testing and prediction. 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Provide the 224 × 224 segmented lung images as input to the model. 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Generate prediction scores for the Normal and Tuberculosis classes. 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Apply Softmax to convert the prediction scores into class probabilities. 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Select the class with the highest probability as the final prediction. 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Calculate the prediction confidence for the predicted class. 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Evaluate the model using the test dataset. 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Measure performance using Accuracy, Precision, Recall, F1-Score, and ROC-AUC. 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Generate the Classification Report, Confusion Matrix, and ROC Curve.</a:t>
            </a:r>
            <a:endParaRPr sz="2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4375145" name="Google Shape;66;p11"/>
          <p:cNvSpPr txBox="1">
            <a:spLocks noGrp="1"/>
          </p:cNvSpPr>
          <p:nvPr>
            <p:ph type="body" idx="1"/>
          </p:nvPr>
        </p:nvSpPr>
        <p:spPr bwMode="auto">
          <a:xfrm>
            <a:off x="1032123" y="782876"/>
            <a:ext cx="10550276" cy="575049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32004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marL="137159" indent="0"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None/>
              <a:defRPr/>
            </a:pPr>
            <a:r>
              <a:rPr sz="21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6: Grad-CAM++ Visualization and AI-Assisted Diagnostic Reporting</a:t>
            </a:r>
            <a:endParaRPr sz="2100"/>
          </a:p>
          <a:p>
            <a:pPr marL="137159" indent="0"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None/>
              <a:defRPr/>
            </a:pPr>
            <a:endParaRPr sz="210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Load the trained CoAtNet model and the input chest X-ray image. 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Perform prediction to identify the Normal or Tuberculosis class and its confidence score. 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Select the appropriate target layer from the CoAtNet model. 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Compute the gradients and feature maps for the predicted target class.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Calculate Grad-CAM++ importance weights from the feature maps and gradients. 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Generate a class-specific activation heatmap showing the regions that influenced the prediction. 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Resize and overlay the Grad-CAM++ heatmap on the input chest X-ray image for visual interpretation.</a:t>
            </a:r>
            <a:endParaRPr sz="2100" b="0"/>
          </a:p>
          <a:p>
            <a:pPr algn="just">
              <a:lnSpc>
                <a:spcPct val="114999"/>
              </a:lnSpc>
              <a:buClr>
                <a:schemeClr val="dk1"/>
              </a:buClr>
              <a:buSzPts val="1440"/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Generate an AI-assisted diagnostic report containing the predicted class, confidence score, and Grad-CAM++ visualization.</a:t>
            </a:r>
            <a:endParaRPr sz="2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617585" name="Google Shape;65;p11"/>
          <p:cNvSpPr txBox="1">
            <a:spLocks noGrp="1"/>
          </p:cNvSpPr>
          <p:nvPr>
            <p:ph type="title"/>
          </p:nvPr>
        </p:nvSpPr>
        <p:spPr bwMode="auto">
          <a:xfrm>
            <a:off x="4683774" y="28330"/>
            <a:ext cx="10156290" cy="70432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en-GB" sz="2600">
                <a:latin typeface="Times New Roman"/>
                <a:cs typeface="Times New Roman"/>
              </a:rPr>
              <a:t>IMPLEMENTATION 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39608250" name="Google Shape;66;p11"/>
          <p:cNvSpPr txBox="1">
            <a:spLocks noGrp="1"/>
          </p:cNvSpPr>
          <p:nvPr>
            <p:ph type="body" idx="1"/>
          </p:nvPr>
        </p:nvSpPr>
        <p:spPr bwMode="auto">
          <a:xfrm>
            <a:off x="1019075" y="1056883"/>
            <a:ext cx="10986369" cy="5267716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32004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8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marL="137159" indent="0">
              <a:buClr>
                <a:schemeClr val="dk1"/>
              </a:buClr>
              <a:buSzPts val="1440"/>
              <a:buFont typeface="Noto Sans Symbols"/>
              <a:buNone/>
              <a:defRPr/>
            </a:pPr>
            <a:r>
              <a:rPr lang="en-GB"/>
              <a:t>                                        </a:t>
            </a:r>
            <a:endParaRPr/>
          </a:p>
          <a:p>
            <a:pPr marL="137159" indent="0">
              <a:buClr>
                <a:schemeClr val="dk1"/>
              </a:buClr>
              <a:buSzPts val="1440"/>
              <a:buFont typeface="Noto Sans Symbols"/>
              <a:buNone/>
              <a:defRPr/>
            </a:pPr>
            <a:r>
              <a:rPr lang="en-GB"/>
              <a:t>                                                                              </a:t>
            </a:r>
            <a:endParaRPr/>
          </a:p>
          <a:p>
            <a:pPr marL="137159" indent="0">
              <a:buClr>
                <a:schemeClr val="dk1"/>
              </a:buClr>
              <a:buSzPts val="1440"/>
              <a:buFont typeface="Noto Sans Symbols"/>
              <a:buNone/>
              <a:defRPr/>
            </a:pPr>
            <a:endParaRPr/>
          </a:p>
          <a:p>
            <a:pPr marL="137159" indent="0">
              <a:buClr>
                <a:schemeClr val="dk1"/>
              </a:buClr>
              <a:buSzPts val="1440"/>
              <a:buFont typeface="Noto Sans Symbols"/>
              <a:buNone/>
              <a:defRPr/>
            </a:pPr>
            <a:endParaRPr/>
          </a:p>
          <a:p>
            <a:pPr marL="137159" indent="0">
              <a:buClr>
                <a:schemeClr val="dk1"/>
              </a:buClr>
              <a:buSzPts val="1440"/>
              <a:buFont typeface="Noto Sans Symbols"/>
              <a:buNone/>
              <a:defRPr/>
            </a:pPr>
            <a:endParaRPr/>
          </a:p>
          <a:p>
            <a:pPr marL="137159" indent="0">
              <a:buClr>
                <a:schemeClr val="dk1"/>
              </a:buClr>
              <a:buSzPts val="1440"/>
              <a:buFont typeface="Noto Sans Symbols"/>
              <a:buNone/>
              <a:defRPr/>
            </a:pPr>
            <a:endParaRPr/>
          </a:p>
          <a:p>
            <a:pPr marL="137159" indent="0">
              <a:buClr>
                <a:schemeClr val="dk1"/>
              </a:buClr>
              <a:buSzPts val="1440"/>
              <a:buFont typeface="Noto Sans Symbols"/>
              <a:buNone/>
              <a:defRPr/>
            </a:pPr>
            <a:endParaRPr/>
          </a:p>
          <a:p>
            <a:pPr marL="137159" indent="0">
              <a:buClr>
                <a:schemeClr val="dk1"/>
              </a:buClr>
              <a:buSzPts val="1440"/>
              <a:buFont typeface="Noto Sans Symbols"/>
              <a:buNone/>
              <a:defRPr/>
            </a:pPr>
            <a:endParaRPr/>
          </a:p>
          <a:p>
            <a:pPr marL="137159" indent="0">
              <a:buClr>
                <a:schemeClr val="dk1"/>
              </a:buClr>
              <a:buSzPts val="1440"/>
              <a:buFont typeface="Noto Sans Symbols"/>
              <a:buNone/>
              <a:defRPr/>
            </a:pPr>
            <a:endParaRPr/>
          </a:p>
          <a:p>
            <a:pPr marL="137159" indent="0">
              <a:buClr>
                <a:schemeClr val="dk1"/>
              </a:buClr>
              <a:buSzPts val="1440"/>
              <a:buFont typeface="Noto Sans Symbols"/>
              <a:buNone/>
              <a:defRPr/>
            </a:pPr>
            <a:r>
              <a:rPr lang="en-GB" sz="1600"/>
              <a:t> </a:t>
            </a:r>
            <a:r>
              <a:rPr lang="en-GB" sz="1500" b="0"/>
              <a:t>   </a:t>
            </a:r>
            <a:r>
              <a:rPr lang="en-GB"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</a:t>
            </a: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Original Image</a:t>
            </a:r>
            <a:r>
              <a:rPr lang="en-GB" sz="1500" b="0">
                <a:latin typeface="Times New Roman"/>
                <a:ea typeface="Times New Roman"/>
                <a:cs typeface="Times New Roman"/>
              </a:rPr>
              <a:t>                       </a:t>
            </a: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Resized (</a:t>
            </a:r>
            <a:r>
              <a:rPr lang="en-GB"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512</a:t>
            </a: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× </a:t>
            </a:r>
            <a:r>
              <a:rPr lang="en-GB"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512</a:t>
            </a: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lang="en-GB" sz="1500" b="0">
                <a:latin typeface="Times New Roman"/>
                <a:ea typeface="Times New Roman"/>
                <a:cs typeface="Times New Roman"/>
              </a:rPr>
              <a:t> Image     </a:t>
            </a:r>
            <a:r>
              <a:rPr lang="en-GB"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LAHE Enhanced Image(512×512)</a:t>
            </a:r>
            <a:r>
              <a:rPr lang="en-GB" sz="1500" b="0">
                <a:latin typeface="Times New Roman"/>
                <a:ea typeface="Times New Roman"/>
                <a:cs typeface="Times New Roman"/>
              </a:rPr>
              <a:t>     </a:t>
            </a:r>
            <a:r>
              <a:rPr sz="1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Segmented Lung Image(224×224)</a:t>
            </a:r>
            <a:b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endParaRPr sz="1600"/>
          </a:p>
        </p:txBody>
      </p:sp>
      <p:pic>
        <p:nvPicPr>
          <p:cNvPr id="861890867" name="Picture 10084520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18467" y="1370032"/>
            <a:ext cx="2695412" cy="2622636"/>
          </a:xfrm>
          <a:prstGeom prst="rect">
            <a:avLst/>
          </a:prstGeom>
        </p:spPr>
      </p:pic>
      <p:pic>
        <p:nvPicPr>
          <p:cNvPr id="2006732958" name="Picture 183830114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616643" y="1705331"/>
            <a:ext cx="2231199" cy="2389894"/>
          </a:xfrm>
          <a:prstGeom prst="rect">
            <a:avLst/>
          </a:prstGeom>
        </p:spPr>
      </p:pic>
      <p:pic>
        <p:nvPicPr>
          <p:cNvPr id="764992691" name="Picture 1481294750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3931310" y="1705331"/>
            <a:ext cx="2333038" cy="2333038"/>
          </a:xfrm>
          <a:prstGeom prst="rect">
            <a:avLst/>
          </a:prstGeom>
        </p:spPr>
      </p:pic>
      <p:pic>
        <p:nvPicPr>
          <p:cNvPr id="1784143100" name="Picture 670359203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9472808" y="1961626"/>
            <a:ext cx="2133599" cy="21335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4506541" name="Picture 168041489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28319" y="875472"/>
            <a:ext cx="5386422" cy="5468394"/>
          </a:xfrm>
          <a:prstGeom prst="rect">
            <a:avLst/>
          </a:prstGeom>
        </p:spPr>
      </p:pic>
      <p:pic>
        <p:nvPicPr>
          <p:cNvPr id="1173071081" name="Picture 1338906279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318639" y="967447"/>
            <a:ext cx="5629890" cy="53452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02290150" name="Picture 1362155746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37044" y="880843"/>
            <a:ext cx="4754822" cy="5446703"/>
          </a:xfrm>
          <a:prstGeom prst="rect">
            <a:avLst/>
          </a:prstGeom>
        </p:spPr>
      </p:pic>
      <p:pic>
        <p:nvPicPr>
          <p:cNvPr id="1283947345" name="Picture 1428981188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510924" y="1069747"/>
            <a:ext cx="3314700" cy="2486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8887732" name="Picture 96078422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434517" y="798239"/>
            <a:ext cx="9984719" cy="58065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7118601" name="Picture 126036144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189527" y="823702"/>
            <a:ext cx="9259283" cy="54096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164738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930392" y="96961"/>
            <a:ext cx="4134573" cy="458474"/>
          </a:xfrm>
        </p:spPr>
        <p:txBody>
          <a:bodyPr/>
          <a:lstStyle/>
          <a:p>
            <a:pPr>
              <a:defRPr/>
            </a:pPr>
            <a:r>
              <a:rPr lang="en-US" sz="2600">
                <a:latin typeface="Times New Roman"/>
                <a:cs typeface="Times New Roman"/>
              </a:rPr>
              <a:t>BASE LINE COMPARISION</a:t>
            </a:r>
            <a:endParaRPr lang="en-IN" sz="2600">
              <a:latin typeface="Times New Roman"/>
              <a:cs typeface="Times New Roman"/>
            </a:endParaRPr>
          </a:p>
        </p:txBody>
      </p:sp>
      <p:graphicFrame>
        <p:nvGraphicFramePr>
          <p:cNvPr id="1924759314" name="Table 10"/>
          <p:cNvGraphicFramePr>
            <a:graphicFrameLocks xmlns:a="http://schemas.openxmlformats.org/drawingml/2006/main" noGrp="1"/>
          </p:cNvGraphicFramePr>
          <p:nvPr/>
        </p:nvGraphicFramePr>
        <p:xfrm rot="0">
          <a:off x="3171039" y="615049"/>
          <a:ext cx="6635835" cy="5957242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207712"/>
                <a:gridCol w="2207712"/>
                <a:gridCol w="2207712"/>
              </a:tblGrid>
              <a:tr h="436726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Feature / Component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Existing / Baseline System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Proposed System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321374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Input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Chest X-ray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Chest X-ray + Genomic Information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42460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CXR Model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DEiT-B/16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CoAtNet-0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32740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Genomic Model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 used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Transformer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262036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Fusion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 used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Late Fusion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262036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Classification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DR-TB vs DS-TB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DR-TB vs DS-TB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436726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Precision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0.826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97.92%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611005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Recall / Sensitivity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0.828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92.16%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436726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F1-Score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0.827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94.95%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436726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ROC-AUC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0.800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0.9714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436726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Accuracy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 reported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93.69%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436726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400" b="0">
                          <a:latin typeface="Times New Roman"/>
                          <a:ea typeface="Times New Roman"/>
                          <a:cs typeface="Times New Roman"/>
                        </a:rPr>
                        <a:t>Interpretability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400" b="0">
                          <a:latin typeface="Times New Roman"/>
                          <a:ea typeface="Times New Roman"/>
                          <a:cs typeface="Times New Roman"/>
                        </a:rPr>
                        <a:t>Local feature-based explanation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400" b="0">
                          <a:latin typeface="Times New Roman"/>
                          <a:ea typeface="Times New Roman"/>
                          <a:cs typeface="Times New Roman"/>
                        </a:rPr>
                        <a:t>Class-specific visual explanation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436726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400" b="0">
                          <a:latin typeface="Times New Roman"/>
                          <a:ea typeface="Times New Roman"/>
                          <a:cs typeface="Times New Roman"/>
                        </a:rPr>
                        <a:t>Diagnostic Support</a:t>
                      </a:r>
                      <a:endParaRPr sz="1400"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400">
                          <a:latin typeface="Times New Roman"/>
                          <a:ea typeface="Times New Roman"/>
                          <a:cs typeface="Times New Roman"/>
                        </a:rPr>
                        <a:t>Limited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IN" sz="1400">
                          <a:latin typeface="Times New Roman"/>
                          <a:ea typeface="Times New Roman"/>
                          <a:cs typeface="Times New Roman"/>
                        </a:rPr>
                        <a:t>Enhanced with visual and structured reporting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190027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883783" y="613253"/>
            <a:ext cx="5133681" cy="455618"/>
          </a:xfrm>
        </p:spPr>
        <p:txBody>
          <a:bodyPr/>
          <a:lstStyle/>
          <a:p>
            <a:pPr>
              <a:defRPr/>
            </a:pPr>
            <a:r>
              <a:rPr lang="en-IN" sz="2600">
                <a:latin typeface="Times New Roman"/>
                <a:cs typeface="Times New Roman"/>
              </a:rPr>
              <a:t>      COMPLEXITY &amp; COST</a:t>
            </a:r>
            <a:endParaRPr/>
          </a:p>
        </p:txBody>
      </p:sp>
      <p:graphicFrame>
        <p:nvGraphicFramePr>
          <p:cNvPr id="940878253" name="Table 3"/>
          <p:cNvGraphicFramePr>
            <a:graphicFrameLocks xmlns:a="http://schemas.openxmlformats.org/drawingml/2006/main" noGrp="1"/>
          </p:cNvGraphicFramePr>
          <p:nvPr/>
        </p:nvGraphicFramePr>
        <p:xfrm rot="0">
          <a:off x="2145211" y="1414779"/>
          <a:ext cx="8128000" cy="402844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3600000"/>
                <a:gridCol w="5242842"/>
              </a:tblGrid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Aspect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Proposed System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Computational Complexity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Uses lung segmentation, CoAtNet-0, genomic Transformer, and multimodal fusion, resulting in higher computational requirements during training.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Implementation Complexity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Involves multiple stages including CXR preprocessing, lung segmentation, CXR classification, genomic processing, multimodal fusion, explainability, and report generation.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Hardware Cost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 training may require GPU resources due to CoAtNet-0, Transformer processing, and multimodal training.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Development Cost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Uses open-source deep learning frameworks and pretrained models such as CoAtNet-0 and TorchXRayVision, reducing software and licensing costs.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Operational Cost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After training, the system can automate CXR, genomic, and multimodal predictions with explainability, reducing repeated manual analysis.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5514390" name="Title 1"/>
          <p:cNvSpPr>
            <a:spLocks noGrp="1"/>
          </p:cNvSpPr>
          <p:nvPr>
            <p:ph type="title"/>
          </p:nvPr>
        </p:nvSpPr>
        <p:spPr bwMode="auto">
          <a:xfrm>
            <a:off x="2181138" y="-251495"/>
            <a:ext cx="9384484" cy="1143000"/>
          </a:xfrm>
        </p:spPr>
        <p:txBody>
          <a:bodyPr/>
          <a:lstStyle/>
          <a:p>
            <a:pPr>
              <a:defRPr/>
            </a:pPr>
            <a:r>
              <a:rPr lang="en-IN" sz="2600">
                <a:latin typeface="Times New Roman"/>
                <a:cs typeface="Times New Roman"/>
              </a:rPr>
              <a:t>RELEVANCE TO ENVIRONMENT  &amp; SUSTAINABILITY</a:t>
            </a:r>
            <a:endParaRPr/>
          </a:p>
        </p:txBody>
      </p:sp>
      <p:sp>
        <p:nvSpPr>
          <p:cNvPr id="1701173382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1054216" y="965547"/>
            <a:ext cx="10972800" cy="5323561"/>
          </a:xfrm>
        </p:spPr>
        <p:txBody>
          <a:bodyPr/>
          <a:lstStyle/>
          <a:p>
            <a:pPr marL="137160" indent="0">
              <a:buNone/>
              <a:defRPr/>
            </a:pPr>
            <a:r>
              <a:rPr lang="en-IN" b="1">
                <a:latin typeface="Times New Roman"/>
                <a:cs typeface="Times New Roman"/>
              </a:rPr>
              <a:t>Relevance to Environment</a:t>
            </a:r>
            <a:endParaRPr/>
          </a:p>
          <a:p>
            <a:pPr lvl="0">
              <a:defRPr/>
            </a:pPr>
            <a:r>
              <a:rPr lang="en-IN">
                <a:latin typeface="Times New Roman"/>
                <a:cs typeface="Times New Roman"/>
              </a:rPr>
              <a:t>Supports paperless digital diagnosis. </a:t>
            </a:r>
            <a:endParaRPr/>
          </a:p>
          <a:p>
            <a:pPr lvl="0">
              <a:defRPr/>
            </a:pPr>
            <a:r>
              <a:rPr lang="en-IN">
                <a:latin typeface="Times New Roman"/>
                <a:cs typeface="Times New Roman"/>
              </a:rPr>
              <a:t>Reduces unnecessary manual processing and resource usage. </a:t>
            </a:r>
            <a:endParaRPr/>
          </a:p>
          <a:p>
            <a:pPr marL="137160" indent="0">
              <a:buNone/>
              <a:defRPr/>
            </a:pPr>
            <a:endParaRPr lang="en-IN" b="1">
              <a:latin typeface="Times New Roman"/>
              <a:cs typeface="Times New Roman"/>
            </a:endParaRPr>
          </a:p>
          <a:p>
            <a:pPr marL="137160" indent="0">
              <a:buNone/>
              <a:defRPr/>
            </a:pPr>
            <a:r>
              <a:rPr lang="en-IN" b="1">
                <a:latin typeface="Times New Roman"/>
                <a:cs typeface="Times New Roman"/>
              </a:rPr>
              <a:t>Sustainability</a:t>
            </a:r>
            <a:endParaRPr/>
          </a:p>
          <a:p>
            <a:pPr lvl="0">
              <a:defRPr/>
            </a:pPr>
            <a:r>
              <a:rPr lang="en-IN">
                <a:latin typeface="Times New Roman"/>
                <a:cs typeface="Times New Roman"/>
              </a:rPr>
              <a:t>Scalable and reusable for large-scale TB screening. </a:t>
            </a:r>
            <a:endParaRPr/>
          </a:p>
          <a:p>
            <a:pPr lvl="0">
              <a:defRPr/>
            </a:pPr>
            <a:r>
              <a:rPr lang="en-IN">
                <a:latin typeface="Times New Roman"/>
                <a:cs typeface="Times New Roman"/>
              </a:rPr>
              <a:t>Low operational cost after model development.</a:t>
            </a:r>
            <a:endParaRPr/>
          </a:p>
          <a:p>
            <a:pPr marL="137159" indent="0">
              <a:buClr>
                <a:schemeClr val="dk1"/>
              </a:buClr>
              <a:buSzPts val="1440"/>
              <a:buFont typeface="Noto Sans Symbols"/>
              <a:buNone/>
              <a:defRPr/>
            </a:pPr>
            <a:endParaRPr lang="en-IN">
              <a:latin typeface="Times New Roman"/>
              <a:cs typeface="Times New Roman"/>
            </a:endParaRPr>
          </a:p>
          <a:p>
            <a:pPr marL="137159" indent="0">
              <a:lnSpc>
                <a:spcPct val="114999"/>
              </a:lnSpc>
              <a:buClr>
                <a:schemeClr val="dk1"/>
              </a:buClr>
              <a:buSzPts val="1440"/>
              <a:buFont typeface="Noto Sans Symbols"/>
              <a:buNone/>
              <a:defRPr/>
            </a:pPr>
            <a:r>
              <a:rPr lang="en-IN" sz="2000" b="1" i="0" u="none" strike="noStrike" cap="none" spc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lang="en-GB" sz="2000" b="1" i="0" u="none" strike="noStrike" cap="none" spc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DG Goal Mapping</a:t>
            </a:r>
            <a:endParaRPr lang="en-GB" sz="2000" b="1" i="0" u="none" strike="noStrike" cap="none" spc="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 marL="137159" indent="0">
              <a:lnSpc>
                <a:spcPct val="114999"/>
              </a:lnSpc>
              <a:buClr>
                <a:schemeClr val="dk1"/>
              </a:buClr>
              <a:buSzPts val="1440"/>
              <a:buFont typeface="Noto Sans Symbols"/>
              <a:buNone/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SDG 3 – Good Health and Well-being</a:t>
            </a:r>
            <a:endParaRPr sz="20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137159" indent="0">
              <a:lnSpc>
                <a:spcPct val="114999"/>
              </a:lnSpc>
              <a:buClr>
                <a:schemeClr val="dk1"/>
              </a:buClr>
              <a:buSzPts val="1440"/>
              <a:buFont typeface="Noto Sans Symbols"/>
              <a:buNone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proposed AI-based Tuberculosis detection system analyzes Chest X-ray images using deep learning to support early and automated identification of Tuberculosis, contributing to improved diagnostic support and better healthcare outcomes.</a:t>
            </a:r>
            <a:endParaRPr lang="en-IN" sz="2000" b="1" i="0" u="none" strike="noStrike" cap="none" spc="0">
              <a:solidFill>
                <a:schemeClr val="dk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490255" name="Title 1"/>
          <p:cNvSpPr>
            <a:spLocks noGrp="1"/>
          </p:cNvSpPr>
          <p:nvPr>
            <p:ph type="ctrTitle"/>
          </p:nvPr>
        </p:nvSpPr>
        <p:spPr bwMode="auto">
          <a:xfrm>
            <a:off x="4470399" y="2936556"/>
            <a:ext cx="10363199" cy="492442"/>
          </a:xfrm>
        </p:spPr>
        <p:txBody>
          <a:bodyPr/>
          <a:lstStyle/>
          <a:p>
            <a:pPr>
              <a:defRPr/>
            </a:pPr>
            <a:r>
              <a:rPr lang="en-US">
                <a:latin typeface="Times New Roman"/>
                <a:cs typeface="Times New Roman"/>
              </a:rPr>
              <a:t>THANK YOU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ONLYOFFICE/9.2.1.43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Danush Prakash</dc:creator>
  <cp:lastModifiedBy/>
  <cp:revision>38</cp:revision>
  <dcterms:modified xsi:type="dcterms:W3CDTF">2026-10-01T14:24:53Z</dcterms:modified>
</cp:coreProperties>
</file>