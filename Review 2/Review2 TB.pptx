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 strictFirstAndLastChars="0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12192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91" d="100"/>
          <a:sy n="91" d="100"/>
        </p:scale>
        <p:origin x="283" y="62"/>
      </p:cViewPr>
      <p:guideLst>
        <p:guide pos="2880" orient="horz"/>
        <p:guide pos="2160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 /><Relationship Id="rId27" Type="http://schemas.openxmlformats.org/officeDocument/2006/relationships/tableStyles" Target="tableStyles.xml" /><Relationship Id="rId2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9451320" name="Google Shape;3;n"/>
          <p:cNvSpPr txBox="1">
            <a:spLocks noGrp="1"/>
          </p:cNvSpPr>
          <p:nvPr>
            <p:ph type="hdr" idx="2"/>
          </p:nvPr>
        </p:nvSpPr>
        <p:spPr bwMode="auto">
          <a:xfrm>
            <a:off x="0" y="0"/>
            <a:ext cx="5283200" cy="344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447209836" name="Google Shape;4;n"/>
          <p:cNvSpPr txBox="1">
            <a:spLocks noGrp="1"/>
          </p:cNvSpPr>
          <p:nvPr>
            <p:ph type="dt" idx="10"/>
          </p:nvPr>
        </p:nvSpPr>
        <p:spPr bwMode="auto">
          <a:xfrm>
            <a:off x="6905625" y="0"/>
            <a:ext cx="5283200" cy="344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828987096" name="Google Shape;5;n"/>
          <p:cNvSpPr>
            <a:spLocks noChangeAspect="1" noGrp="1" noRot="1"/>
          </p:cNvSpPr>
          <p:nvPr>
            <p:ph type="sldImg" idx="3"/>
          </p:nvPr>
        </p:nvSpPr>
        <p:spPr bwMode="auto"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633404444" name="Google Shape;6;n"/>
          <p:cNvSpPr txBox="1">
            <a:spLocks noGrp="1"/>
          </p:cNvSpPr>
          <p:nvPr>
            <p:ph type="body" idx="1"/>
          </p:nvPr>
        </p:nvSpPr>
        <p:spPr bwMode="auto">
          <a:xfrm>
            <a:off x="1219200" y="3300413"/>
            <a:ext cx="9753600" cy="2700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3130056" name="Google Shape;7;n"/>
          <p:cNvSpPr txBox="1">
            <a:spLocks noGrp="1"/>
          </p:cNvSpPr>
          <p:nvPr>
            <p:ph type="ftr" idx="11"/>
          </p:nvPr>
        </p:nvSpPr>
        <p:spPr bwMode="auto">
          <a:xfrm>
            <a:off x="0" y="6513513"/>
            <a:ext cx="5283200" cy="344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045819672" name="Google Shape;8;n"/>
          <p:cNvSpPr txBox="1">
            <a:spLocks noGrp="1"/>
          </p:cNvSpPr>
          <p:nvPr>
            <p:ph type="sldNum" idx="12"/>
          </p:nvPr>
        </p:nvSpPr>
        <p:spPr bwMode="auto">
          <a:xfrm>
            <a:off x="6905625" y="6513513"/>
            <a:ext cx="5283200" cy="344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9860182" name="Google Shape;115;g372815142fa_4_7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1484723260" name="Google Shape;116;g372815142fa_4_70:notes"/>
          <p:cNvSpPr txBox="1">
            <a:spLocks noGrp="1"/>
          </p:cNvSpPr>
          <p:nvPr>
            <p:ph type="body" idx="1"/>
          </p:nvPr>
        </p:nvSpPr>
        <p:spPr bwMode="auto">
          <a:xfrm>
            <a:off x="1219200" y="3300413"/>
            <a:ext cx="97536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endParaRPr/>
          </a:p>
        </p:txBody>
      </p:sp>
      <p:sp>
        <p:nvSpPr>
          <p:cNvPr id="293348018" name="Google Shape;117;g372815142fa_4_70:notes"/>
          <p:cNvSpPr txBox="1">
            <a:spLocks noGrp="1"/>
          </p:cNvSpPr>
          <p:nvPr>
            <p:ph type="dt" idx="10"/>
          </p:nvPr>
        </p:nvSpPr>
        <p:spPr bwMode="auto">
          <a:xfrm>
            <a:off x="6905979" y="0"/>
            <a:ext cx="52832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/>
            </a:pPr>
            <a:r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 June 2023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3711322" name="Google Shape;118;g372815142fa_4_70:notes"/>
          <p:cNvSpPr txBox="1">
            <a:spLocks noGrp="1"/>
          </p:cNvSpPr>
          <p:nvPr>
            <p:ph type="ftr" idx="11"/>
          </p:nvPr>
        </p:nvSpPr>
        <p:spPr bwMode="auto">
          <a:xfrm>
            <a:off x="0" y="6513909"/>
            <a:ext cx="52832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/>
            </a:pPr>
            <a:r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1-59</a:t>
            </a:r>
            <a:endParaRPr/>
          </a:p>
        </p:txBody>
      </p:sp>
      <p:sp>
        <p:nvSpPr>
          <p:cNvPr id="692454258" name="Google Shape;119;g372815142fa_4_70:notes"/>
          <p:cNvSpPr txBox="1">
            <a:spLocks noGrp="1"/>
          </p:cNvSpPr>
          <p:nvPr>
            <p:ph type="sldNum" idx="12"/>
          </p:nvPr>
        </p:nvSpPr>
        <p:spPr bwMode="auto">
          <a:xfrm>
            <a:off x="6905979" y="6513909"/>
            <a:ext cx="52832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45777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04494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79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462434-824F-9A6D-46C2-095078EE82E4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845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71805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0330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060CA5-BBBE-2B58-2928-7093168DBECE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8372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76504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8435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A45DFC-D3F3-DBC6-8FD8-807F6B8D57C4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5795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86352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1455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76F482-21CC-BD8C-F8F7-168596BF43AE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05433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3686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6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1D78AF-6C86-1FFC-D7D0-C59562D15264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3814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12187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546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A5D8F34-7210-153C-9B02-4D7B7D3B1B0B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48387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93962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607400836" name="Slide Number Placeholder 3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3394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4387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40006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6DADBC-D465-60D1-2FBE-B41061F5EECB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4120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71618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31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7A8A72-1CB5-E1A6-8EF2-608A8552142F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763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01713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45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F08F3B-0629-E204-EE8A-D9930465091D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7550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48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0169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E608A7-836F-A3F7-08F2-30271B8D638E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9648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0356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9548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AC55A5D-D703-7578-D92B-8B02BAC30D7C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6586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62867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682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6FB7F4F-ADEF-B1D1-F7AA-FB884D428847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98748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473124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6358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2F3C5A-3E80-2677-A95C-D1EA188A118F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76345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7966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531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E47B39-7770-A266-128C-89EA4CA5FE8C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6971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04538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1151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D3E946-9C53-6340-A0E2-AD871721F552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47938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174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570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3283F4-AA74-046A-633E-D69FEF5DDE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2963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709934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7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0272710-ECFA-E707-177A-BD36799A6AB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01362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4818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5543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4BA754-BFF0-F821-ABFE-CD28B8622BA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7778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02215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82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A284A1-9CD2-F390-1AF0-4963EB81D1ED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mparison" preserve="0" showMasterPhAnim="0" showMasterSp="1" type="twoTxTwoObj" userDrawn="1">
  <p:cSld name="TWO_OBJECTS_WITH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000910" name="Google Shape;49;p8"/>
          <p:cNvSpPr txBox="1">
            <a:spLocks noGrp="1"/>
          </p:cNvSpPr>
          <p:nvPr>
            <p:ph type="title"/>
          </p:nvPr>
        </p:nvSpPr>
        <p:spPr bwMode="auto">
          <a:xfrm>
            <a:off x="609600" y="70408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78398216" name="Google Shape;50;p8"/>
          <p:cNvSpPr txBox="1">
            <a:spLocks noGrp="1"/>
          </p:cNvSpPr>
          <p:nvPr>
            <p:ph type="body" idx="1"/>
          </p:nvPr>
        </p:nvSpPr>
        <p:spPr bwMode="auto">
          <a:xfrm>
            <a:off x="609600" y="1855248"/>
            <a:ext cx="5386917" cy="659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2"/>
              </a:buClr>
              <a:buSzPts val="1920"/>
              <a:buNone/>
              <a:defRPr sz="2400" b="1" cap="none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None/>
              <a:defRPr sz="1600" b="1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75676242" name="Google Shape;51;p8"/>
          <p:cNvSpPr txBox="1">
            <a:spLocks noGrp="1"/>
          </p:cNvSpPr>
          <p:nvPr>
            <p:ph type="body" idx="2"/>
          </p:nvPr>
        </p:nvSpPr>
        <p:spPr bwMode="auto">
          <a:xfrm>
            <a:off x="6193368" y="1859758"/>
            <a:ext cx="5389033" cy="654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2"/>
              </a:buClr>
              <a:buSzPts val="1920"/>
              <a:buNone/>
              <a:defRPr sz="2400" b="1" cap="none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None/>
              <a:defRPr sz="1600" b="1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96653607" name="Google Shape;52;p8"/>
          <p:cNvSpPr txBox="1">
            <a:spLocks noGrp="1"/>
          </p:cNvSpPr>
          <p:nvPr>
            <p:ph type="body" idx="3"/>
          </p:nvPr>
        </p:nvSpPr>
        <p:spPr bwMode="auto">
          <a:xfrm>
            <a:off x="609600" y="2514600"/>
            <a:ext cx="5386917" cy="384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Autofit/>
          </a:bodyPr>
          <a:lstStyle>
            <a:lvl1pPr marL="457200" lvl="0" indent="-34036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1760"/>
              <a:buChar char="⮚"/>
              <a:defRPr sz="2200"/>
            </a:lvl1pPr>
            <a:lvl2pPr marL="91440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2pPr>
            <a:lvl3pPr marL="1371600" lvl="2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3pPr>
            <a:lvl4pPr marL="1828800" lvl="3" indent="-30988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Char char="⮚"/>
              <a:defRPr sz="1600"/>
            </a:lvl4pPr>
            <a:lvl5pPr marL="2286000" lvl="4" indent="-309879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Char char="⮚"/>
              <a:defRPr sz="16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31452847" name="Google Shape;53;p8"/>
          <p:cNvSpPr txBox="1">
            <a:spLocks noGrp="1"/>
          </p:cNvSpPr>
          <p:nvPr>
            <p:ph type="body" idx="4"/>
          </p:nvPr>
        </p:nvSpPr>
        <p:spPr bwMode="auto">
          <a:xfrm>
            <a:off x="6193368" y="2514600"/>
            <a:ext cx="5389033" cy="384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Autofit/>
          </a:bodyPr>
          <a:lstStyle>
            <a:lvl1pPr marL="457200" lvl="0" indent="-34036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1760"/>
              <a:buChar char="⮚"/>
              <a:defRPr sz="2200"/>
            </a:lvl1pPr>
            <a:lvl2pPr marL="914400" lvl="1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2pPr>
            <a:lvl3pPr marL="1371600" lvl="2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3pPr>
            <a:lvl4pPr marL="1828800" lvl="3" indent="-30988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Char char="⮚"/>
              <a:defRPr sz="1600"/>
            </a:lvl4pPr>
            <a:lvl5pPr marL="2286000" lvl="4" indent="-309879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280"/>
              <a:buChar char="⮚"/>
              <a:defRPr sz="16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19231518" name="Google Shape;54;p8"/>
          <p:cNvSpPr txBox="1">
            <a:spLocks noGrp="1"/>
          </p:cNvSpPr>
          <p:nvPr>
            <p:ph type="dt" idx="10"/>
          </p:nvPr>
        </p:nvSpPr>
        <p:spPr bwMode="auto"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6395347" name="Google Shape;55;p8"/>
          <p:cNvSpPr txBox="1">
            <a:spLocks noGrp="1"/>
          </p:cNvSpPr>
          <p:nvPr>
            <p:ph type="ftr" idx="11"/>
          </p:nvPr>
        </p:nvSpPr>
        <p:spPr bwMode="auto"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Content" preserve="0" showMasterPhAnim="0" showMasterSp="1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960985" name="Google Shape;65;p11"/>
          <p:cNvSpPr txBox="1">
            <a:spLocks noGrp="1"/>
          </p:cNvSpPr>
          <p:nvPr>
            <p:ph type="title"/>
          </p:nvPr>
        </p:nvSpPr>
        <p:spPr bwMode="auto">
          <a:xfrm>
            <a:off x="609600" y="70485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81027705" name="Google Shape;66;p11"/>
          <p:cNvSpPr txBox="1">
            <a:spLocks noGrp="1"/>
          </p:cNvSpPr>
          <p:nvPr>
            <p:ph type="body" idx="1"/>
          </p:nvPr>
        </p:nvSpPr>
        <p:spPr bwMode="auto">
          <a:xfrm>
            <a:off x="609600" y="1935164"/>
            <a:ext cx="10972800" cy="4389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93682218" name="Google Shape;67;p11"/>
          <p:cNvSpPr txBox="1">
            <a:spLocks noGrp="1"/>
          </p:cNvSpPr>
          <p:nvPr>
            <p:ph type="dt" idx="10"/>
          </p:nvPr>
        </p:nvSpPr>
        <p:spPr bwMode="auto"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05235737" name="Google Shape;68;p11"/>
          <p:cNvSpPr txBox="1">
            <a:spLocks noGrp="1"/>
          </p:cNvSpPr>
          <p:nvPr>
            <p:ph type="ftr" idx="11"/>
          </p:nvPr>
        </p:nvSpPr>
        <p:spPr bwMode="auto"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Header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510470" name="Google Shape;70;p12"/>
          <p:cNvSpPr txBox="1">
            <a:spLocks noGrp="1"/>
          </p:cNvSpPr>
          <p:nvPr>
            <p:ph type="title"/>
          </p:nvPr>
        </p:nvSpPr>
        <p:spPr bwMode="auto">
          <a:xfrm>
            <a:off x="707136" y="1316736"/>
            <a:ext cx="10363200" cy="1362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E3AC"/>
              </a:buClr>
              <a:buSzPts val="5600"/>
              <a:buFont typeface="Arial"/>
              <a:buNone/>
              <a:defRPr sz="5600" b="1" cap="none">
                <a:solidFill>
                  <a:srgbClr val="4AE3AC"/>
                </a:solidFill>
                <a:latin typeface="Arial"/>
                <a:ea typeface="Arial"/>
                <a:cs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71775611" name="Google Shape;71;p12"/>
          <p:cNvSpPr txBox="1">
            <a:spLocks noGrp="1"/>
          </p:cNvSpPr>
          <p:nvPr>
            <p:ph type="body" idx="1"/>
          </p:nvPr>
        </p:nvSpPr>
        <p:spPr bwMode="auto">
          <a:xfrm>
            <a:off x="707136" y="2704664"/>
            <a:ext cx="10363200" cy="1509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22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44033589" name="Google Shape;72;p12"/>
          <p:cNvSpPr txBox="1">
            <a:spLocks noGrp="1"/>
          </p:cNvSpPr>
          <p:nvPr>
            <p:ph type="dt" idx="10"/>
          </p:nvPr>
        </p:nvSpPr>
        <p:spPr bwMode="auto"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9762964" name="Google Shape;73;p12"/>
          <p:cNvSpPr txBox="1">
            <a:spLocks noGrp="1"/>
          </p:cNvSpPr>
          <p:nvPr>
            <p:ph type="ftr" idx="11"/>
          </p:nvPr>
        </p:nvSpPr>
        <p:spPr bwMode="auto"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wo Content" preserve="0" showMasterPhAnim="0" showMasterSp="1" type="twoObj" userDrawn="1">
  <p:cSld name="TWO_OBJEC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863975" name="Google Shape;75;p13"/>
          <p:cNvSpPr txBox="1">
            <a:spLocks noGrp="1"/>
          </p:cNvSpPr>
          <p:nvPr>
            <p:ph type="title"/>
          </p:nvPr>
        </p:nvSpPr>
        <p:spPr bwMode="auto">
          <a:xfrm>
            <a:off x="609600" y="70408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27930489" name="Google Shape;76;p13"/>
          <p:cNvSpPr txBox="1">
            <a:spLocks noGrp="1"/>
          </p:cNvSpPr>
          <p:nvPr>
            <p:ph type="body" idx="1"/>
          </p:nvPr>
        </p:nvSpPr>
        <p:spPr bwMode="auto">
          <a:xfrm>
            <a:off x="609600" y="1920085"/>
            <a:ext cx="5384800" cy="4434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680" algn="l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1"/>
              </a:buClr>
              <a:buSzPts val="2080"/>
              <a:buChar char="⮚"/>
              <a:defRPr sz="2600"/>
            </a:lvl1pPr>
            <a:lvl2pPr marL="914400" lvl="1" indent="-35051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20"/>
              <a:buChar char="⮚"/>
              <a:defRPr sz="2400"/>
            </a:lvl2pPr>
            <a:lvl3pPr marL="137160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3pPr>
            <a:lvl4pPr marL="1828800" lvl="3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4pPr>
            <a:lvl5pPr marL="2286000" lvl="4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2676725" name="Google Shape;77;p13"/>
          <p:cNvSpPr txBox="1">
            <a:spLocks noGrp="1"/>
          </p:cNvSpPr>
          <p:nvPr>
            <p:ph type="body" idx="2"/>
          </p:nvPr>
        </p:nvSpPr>
        <p:spPr bwMode="auto">
          <a:xfrm>
            <a:off x="6197600" y="1920085"/>
            <a:ext cx="5384800" cy="4434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680" algn="l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1"/>
              </a:buClr>
              <a:buSzPts val="2080"/>
              <a:buChar char="⮚"/>
              <a:defRPr sz="2600"/>
            </a:lvl1pPr>
            <a:lvl2pPr marL="914400" lvl="1" indent="-35051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20"/>
              <a:buChar char="⮚"/>
              <a:defRPr sz="2400"/>
            </a:lvl2pPr>
            <a:lvl3pPr marL="1371600" lvl="2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3pPr>
            <a:lvl4pPr marL="1828800" lvl="3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4pPr>
            <a:lvl5pPr marL="2286000" lvl="4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81144570" name="Google Shape;78;p13"/>
          <p:cNvSpPr txBox="1">
            <a:spLocks noGrp="1"/>
          </p:cNvSpPr>
          <p:nvPr>
            <p:ph type="dt" idx="10"/>
          </p:nvPr>
        </p:nvSpPr>
        <p:spPr bwMode="auto"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94819602" name="Google Shape;79;p13"/>
          <p:cNvSpPr txBox="1">
            <a:spLocks noGrp="1"/>
          </p:cNvSpPr>
          <p:nvPr>
            <p:ph type="ftr" idx="11"/>
          </p:nvPr>
        </p:nvSpPr>
        <p:spPr bwMode="auto"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nly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954011" name="Google Shape;81;p14"/>
          <p:cNvSpPr txBox="1">
            <a:spLocks noGrp="1"/>
          </p:cNvSpPr>
          <p:nvPr>
            <p:ph type="title"/>
          </p:nvPr>
        </p:nvSpPr>
        <p:spPr bwMode="auto">
          <a:xfrm>
            <a:off x="609600" y="704088"/>
            <a:ext cx="11074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000"/>
              <a:buFont typeface="Arial"/>
              <a:buNone/>
              <a:defRPr sz="5000" b="0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50466053" name="Google Shape;82;p14"/>
          <p:cNvSpPr txBox="1">
            <a:spLocks noGrp="1"/>
          </p:cNvSpPr>
          <p:nvPr>
            <p:ph type="dt" idx="10"/>
          </p:nvPr>
        </p:nvSpPr>
        <p:spPr bwMode="auto"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84953818" name="Google Shape;83;p14"/>
          <p:cNvSpPr txBox="1">
            <a:spLocks noGrp="1"/>
          </p:cNvSpPr>
          <p:nvPr>
            <p:ph type="ftr" idx="11"/>
          </p:nvPr>
        </p:nvSpPr>
        <p:spPr bwMode="auto"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ntent with Caption" preserve="0" showMasterPhAnim="0" showMasterSp="1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970279" name="Google Shape;85;p15"/>
          <p:cNvSpPr txBox="1">
            <a:spLocks noGrp="1"/>
          </p:cNvSpPr>
          <p:nvPr>
            <p:ph type="title"/>
          </p:nvPr>
        </p:nvSpPr>
        <p:spPr bwMode="auto">
          <a:xfrm>
            <a:off x="914400" y="514351"/>
            <a:ext cx="3657600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Arial"/>
              <a:buNone/>
              <a:defRPr sz="2600" b="0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8735638" name="Google Shape;86;p15"/>
          <p:cNvSpPr txBox="1">
            <a:spLocks noGrp="1"/>
          </p:cNvSpPr>
          <p:nvPr>
            <p:ph type="body" idx="1"/>
          </p:nvPr>
        </p:nvSpPr>
        <p:spPr bwMode="auto">
          <a:xfrm>
            <a:off x="914400" y="1676400"/>
            <a:ext cx="36576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45700" rIns="1827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12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96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72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720"/>
              <a:buNone/>
              <a:defRPr sz="9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54525909" name="Google Shape;87;p15"/>
          <p:cNvSpPr txBox="1">
            <a:spLocks noGrp="1"/>
          </p:cNvSpPr>
          <p:nvPr>
            <p:ph type="body" idx="2"/>
          </p:nvPr>
        </p:nvSpPr>
        <p:spPr bwMode="auto">
          <a:xfrm>
            <a:off x="4766732" y="1676400"/>
            <a:ext cx="6815667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45700" anchor="t" anchorCtr="0">
            <a:noAutofit/>
          </a:bodyPr>
          <a:lstStyle>
            <a:lvl1pPr marL="457200" lvl="0" indent="-37084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240"/>
              <a:buChar char="⮚"/>
              <a:defRPr sz="2800"/>
            </a:lvl1pPr>
            <a:lvl2pPr marL="914400" lvl="1" indent="-360680" algn="l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chemeClr val="dk1"/>
              </a:buClr>
              <a:buSzPts val="2080"/>
              <a:buChar char="⮚"/>
              <a:defRPr sz="2600"/>
            </a:lvl2pPr>
            <a:lvl3pPr marL="1371600" lvl="2" indent="-350519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920"/>
              <a:buChar char="⮚"/>
              <a:defRPr sz="2400"/>
            </a:lvl3pPr>
            <a:lvl4pPr marL="1828800" lvl="3" indent="-330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Char char="⮚"/>
              <a:defRPr sz="2000"/>
            </a:lvl4pPr>
            <a:lvl5pPr marL="2286000" lvl="4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 sz="18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34735828" name="Google Shape;88;p15"/>
          <p:cNvSpPr txBox="1">
            <a:spLocks noGrp="1"/>
          </p:cNvSpPr>
          <p:nvPr>
            <p:ph type="dt" idx="10"/>
          </p:nvPr>
        </p:nvSpPr>
        <p:spPr bwMode="auto"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07859828" name="Google Shape;89;p15"/>
          <p:cNvSpPr txBox="1">
            <a:spLocks noGrp="1"/>
          </p:cNvSpPr>
          <p:nvPr>
            <p:ph type="ftr" idx="11"/>
          </p:nvPr>
        </p:nvSpPr>
        <p:spPr bwMode="auto"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Picture with Caption" preserve="0" showMasterPhAnim="0" showMasterSp="1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2816672" name="Google Shape;91;p16"/>
          <p:cNvSpPr/>
          <p:nvPr/>
        </p:nvSpPr>
        <p:spPr bwMode="auto">
          <a:xfrm rot="-10380000" flipH="1">
            <a:off x="4220633" y="1108075"/>
            <a:ext cx="7010399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9525" cap="rnd" cmpd="sng">
            <a:solidFill>
              <a:srgbClr val="C0C0C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38500" dir="7500000" sx="98500" sy="100080" kx="100000" algn="tl" rotWithShape="0">
              <a:srgbClr val="000000">
                <a:alpha val="2392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84747661" name="Google Shape;92;p16"/>
          <p:cNvSpPr/>
          <p:nvPr/>
        </p:nvSpPr>
        <p:spPr bwMode="auto">
          <a:xfrm rot="-10380000" flipH="1">
            <a:off x="10672233" y="5359401"/>
            <a:ext cx="207433" cy="155575"/>
          </a:xfrm>
          <a:prstGeom prst="rtTriangle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bevel/>
            <a:headEnd type="none" w="sm" len="sm"/>
            <a:tailEnd type="none" w="sm" len="sm"/>
          </a:ln>
          <a:effectLst>
            <a:outerShdw blurRad="19685" dist="6350" dir="12900000" algn="tl" rotWithShape="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22018776" name="Google Shape;93;p16"/>
          <p:cNvSpPr/>
          <p:nvPr/>
        </p:nvSpPr>
        <p:spPr bwMode="auto">
          <a:xfrm rot="10800000" flipH="1">
            <a:off x="-12700" y="5816600"/>
            <a:ext cx="12217400" cy="1041400"/>
          </a:xfrm>
          <a:custGeom>
            <a:avLst/>
            <a:gdLst/>
            <a:ahLst/>
            <a:cxnLst/>
            <a:rect l="l" t="t" r="r" b="b"/>
            <a:pathLst>
              <a:path w="5772" h="656" fill="norm" stroke="1" extrusionOk="0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rgbClr val="0079AD">
                  <a:alpha val="43921"/>
                </a:srgbClr>
              </a:gs>
              <a:gs pos="100000">
                <a:srgbClr val="00E9F7">
                  <a:alpha val="54117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5722809" name="Google Shape;94;p16"/>
          <p:cNvSpPr/>
          <p:nvPr/>
        </p:nvSpPr>
        <p:spPr bwMode="auto">
          <a:xfrm rot="10800000" flipH="1">
            <a:off x="5842000" y="6219826"/>
            <a:ext cx="6350000" cy="638175"/>
          </a:xfrm>
          <a:custGeom>
            <a:avLst/>
            <a:gdLst/>
            <a:ahLst/>
            <a:cxnLst/>
            <a:rect l="l" t="t" r="r" b="b"/>
            <a:pathLst>
              <a:path w="3000" h="595" fill="norm" stroke="1" extrusionOk="0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0ABB4">
                  <a:alpha val="29019"/>
                </a:srgbClr>
              </a:gs>
              <a:gs pos="80000">
                <a:srgbClr val="0099E4">
                  <a:alpha val="43921"/>
                </a:srgbClr>
              </a:gs>
              <a:gs pos="100000">
                <a:srgbClr val="0099E4">
                  <a:alpha val="43921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0529352" name="Google Shape;95;p16"/>
          <p:cNvSpPr txBox="1">
            <a:spLocks noGrp="1"/>
          </p:cNvSpPr>
          <p:nvPr>
            <p:ph type="title"/>
          </p:nvPr>
        </p:nvSpPr>
        <p:spPr bwMode="auto">
          <a:xfrm>
            <a:off x="812800" y="1176997"/>
            <a:ext cx="2950464" cy="1582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sz="2000" b="1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02524373" name="Google Shape;96;p16"/>
          <p:cNvSpPr txBox="1">
            <a:spLocks noGrp="1"/>
          </p:cNvSpPr>
          <p:nvPr>
            <p:ph type="body" idx="1"/>
          </p:nvPr>
        </p:nvSpPr>
        <p:spPr bwMode="auto">
          <a:xfrm>
            <a:off x="812800" y="2828785"/>
            <a:ext cx="2946400" cy="2179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000" tIns="45700" rIns="45700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040"/>
              <a:buFont typeface="Arial"/>
              <a:buNone/>
              <a:defRPr sz="1300"/>
            </a:lvl1pPr>
            <a:lvl2pPr marL="914400" lvl="1" indent="-28956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960"/>
              <a:buChar char="⮚"/>
              <a:defRPr sz="1200"/>
            </a:lvl2pPr>
            <a:lvl3pPr marL="1371600" lvl="2" indent="-2794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⮚"/>
              <a:defRPr sz="1000"/>
            </a:lvl3pPr>
            <a:lvl4pPr marL="1828800" lvl="3" indent="-274319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720"/>
              <a:buChar char="⮚"/>
              <a:defRPr sz="900"/>
            </a:lvl4pPr>
            <a:lvl5pPr marL="2286000" lvl="4" indent="-27432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720"/>
              <a:buChar char="⮚"/>
              <a:defRPr sz="900"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17272759" name="Google Shape;97;p16"/>
          <p:cNvSpPr>
            <a:spLocks noGrp="1"/>
          </p:cNvSpPr>
          <p:nvPr>
            <p:ph type="pic" idx="2"/>
          </p:nvPr>
        </p:nvSpPr>
        <p:spPr bwMode="auto">
          <a:xfrm rot="420000">
            <a:off x="4647724" y="1199517"/>
            <a:ext cx="6156960" cy="3931920"/>
          </a:xfrm>
          <a:prstGeom prst="rect">
            <a:avLst/>
          </a:prstGeom>
          <a:solidFill>
            <a:schemeClr val="lt2"/>
          </a:solidFill>
          <a:ln w="9525" cap="rnd" cmpd="sng">
            <a:solidFill>
              <a:srgbClr val="C0C0C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en-IN"/>
          </a:p>
        </p:txBody>
      </p:sp>
      <p:sp>
        <p:nvSpPr>
          <p:cNvPr id="377495343" name="Google Shape;98;p16"/>
          <p:cNvSpPr txBox="1">
            <a:spLocks noGrp="1"/>
          </p:cNvSpPr>
          <p:nvPr>
            <p:ph type="dt" idx="10"/>
          </p:nvPr>
        </p:nvSpPr>
        <p:spPr bwMode="auto"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87490869" name="Google Shape;99;p16"/>
          <p:cNvSpPr txBox="1">
            <a:spLocks noGrp="1"/>
          </p:cNvSpPr>
          <p:nvPr>
            <p:ph type="ftr" idx="11"/>
          </p:nvPr>
        </p:nvSpPr>
        <p:spPr bwMode="auto"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Vertical Text" preserve="0" showMasterPhAnim="0" showMasterSp="1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72052" name="Google Shape;101;p17"/>
          <p:cNvSpPr txBox="1">
            <a:spLocks noGrp="1"/>
          </p:cNvSpPr>
          <p:nvPr>
            <p:ph type="title"/>
          </p:nvPr>
        </p:nvSpPr>
        <p:spPr bwMode="auto">
          <a:xfrm>
            <a:off x="609600" y="70485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43918894" name="Google Shape;102;p17"/>
          <p:cNvSpPr txBox="1">
            <a:spLocks noGrp="1"/>
          </p:cNvSpPr>
          <p:nvPr>
            <p:ph type="body" idx="1"/>
          </p:nvPr>
        </p:nvSpPr>
        <p:spPr bwMode="auto">
          <a:xfrm rot="5400000">
            <a:off x="3901281" y="-1356518"/>
            <a:ext cx="4389437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59746844" name="Google Shape;103;p17"/>
          <p:cNvSpPr txBox="1">
            <a:spLocks noGrp="1"/>
          </p:cNvSpPr>
          <p:nvPr>
            <p:ph type="dt" idx="10"/>
          </p:nvPr>
        </p:nvSpPr>
        <p:spPr bwMode="auto"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54037337" name="Google Shape;104;p17"/>
          <p:cNvSpPr txBox="1">
            <a:spLocks noGrp="1"/>
          </p:cNvSpPr>
          <p:nvPr>
            <p:ph type="ftr" idx="11"/>
          </p:nvPr>
        </p:nvSpPr>
        <p:spPr bwMode="auto"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Vertical Title and Text" preserve="0" showMasterPhAnim="0" showMasterSp="1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4602091" name="Google Shape;106;p18"/>
          <p:cNvSpPr txBox="1">
            <a:spLocks noGrp="1"/>
          </p:cNvSpPr>
          <p:nvPr>
            <p:ph type="title"/>
          </p:nvPr>
        </p:nvSpPr>
        <p:spPr bwMode="auto">
          <a:xfrm rot="5400000">
            <a:off x="7604919" y="2148684"/>
            <a:ext cx="5211763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2972558" name="Google Shape;107;p18"/>
          <p:cNvSpPr txBox="1">
            <a:spLocks noGrp="1"/>
          </p:cNvSpPr>
          <p:nvPr>
            <p:ph type="body" idx="1"/>
          </p:nvPr>
        </p:nvSpPr>
        <p:spPr bwMode="auto">
          <a:xfrm rot="5400000">
            <a:off x="2016919" y="-492917"/>
            <a:ext cx="5211763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9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89691625" name="Google Shape;108;p18"/>
          <p:cNvSpPr txBox="1">
            <a:spLocks noGrp="1"/>
          </p:cNvSpPr>
          <p:nvPr>
            <p:ph type="dt" idx="10"/>
          </p:nvPr>
        </p:nvSpPr>
        <p:spPr bwMode="auto"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25721173" name="Google Shape;109;p18"/>
          <p:cNvSpPr txBox="1">
            <a:spLocks noGrp="1"/>
          </p:cNvSpPr>
          <p:nvPr>
            <p:ph type="ftr" idx="11"/>
          </p:nvPr>
        </p:nvSpPr>
        <p:spPr bwMode="auto"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ustom Layout" preserve="0" showMasterPhAnim="0" showMasterSp="1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614923" name="Google Shape;111;p19"/>
          <p:cNvSpPr txBox="1">
            <a:spLocks noGrp="1"/>
          </p:cNvSpPr>
          <p:nvPr>
            <p:ph type="title"/>
          </p:nvPr>
        </p:nvSpPr>
        <p:spPr bwMode="auto">
          <a:xfrm>
            <a:off x="609600" y="70485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81120170" name="Google Shape;112;p19"/>
          <p:cNvSpPr txBox="1">
            <a:spLocks noGrp="1"/>
          </p:cNvSpPr>
          <p:nvPr>
            <p:ph type="dt" idx="10"/>
          </p:nvPr>
        </p:nvSpPr>
        <p:spPr bwMode="auto"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50698324" name="Google Shape;113;p19"/>
          <p:cNvSpPr txBox="1">
            <a:spLocks noGrp="1"/>
          </p:cNvSpPr>
          <p:nvPr>
            <p:ph type="ftr" idx="11"/>
          </p:nvPr>
        </p:nvSpPr>
        <p:spPr bwMode="auto">
          <a:xfrm>
            <a:off x="9652000" y="6477000"/>
            <a:ext cx="19304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12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7539387" name="Google Shape;45;p7"/>
          <p:cNvSpPr txBox="1">
            <a:spLocks noGrp="1"/>
          </p:cNvSpPr>
          <p:nvPr>
            <p:ph type="title"/>
          </p:nvPr>
        </p:nvSpPr>
        <p:spPr bwMode="auto">
          <a:xfrm>
            <a:off x="609600" y="70485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18776910" name="Google Shape;46;p7"/>
          <p:cNvSpPr txBox="1">
            <a:spLocks noGrp="1"/>
          </p:cNvSpPr>
          <p:nvPr>
            <p:ph type="body" idx="1"/>
          </p:nvPr>
        </p:nvSpPr>
        <p:spPr bwMode="auto">
          <a:xfrm>
            <a:off x="609600" y="1935164"/>
            <a:ext cx="10972800" cy="4389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⮚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lvl="5" indent="-320039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5"/>
              </a:buClr>
              <a:buSzPts val="1440"/>
              <a:buFont typeface="Noto Sans Symbols"/>
              <a:buChar char="⚫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lvl="6" indent="-309879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6"/>
              </a:buClr>
              <a:buSzPts val="1280"/>
              <a:buFont typeface="Noto Sans Symbols"/>
              <a:buChar char="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99129670" name="Google Shape;47;p7"/>
          <p:cNvSpPr txBox="1">
            <a:spLocks noGrp="1"/>
          </p:cNvSpPr>
          <p:nvPr>
            <p:ph type="dt" idx="10"/>
          </p:nvPr>
        </p:nvSpPr>
        <p:spPr bwMode="auto"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1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717038" name="Google Shape;121;p20"/>
          <p:cNvSpPr txBox="1">
            <a:spLocks noGrp="1"/>
          </p:cNvSpPr>
          <p:nvPr>
            <p:ph type="body" idx="1"/>
          </p:nvPr>
        </p:nvSpPr>
        <p:spPr bwMode="auto">
          <a:xfrm>
            <a:off x="1472513" y="2121013"/>
            <a:ext cx="4040100" cy="6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60"/>
              <a:buNone/>
              <a:defRPr/>
            </a:pPr>
            <a:endParaRPr sz="3200">
              <a:solidFill>
                <a:srgbClr val="B9077E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B9077E"/>
              </a:buClr>
              <a:buSzPts val="2560"/>
              <a:buNone/>
              <a:defRPr/>
            </a:pPr>
            <a:r>
              <a:rPr lang="en-US" sz="3200">
                <a:solidFill>
                  <a:srgbClr val="B9077E"/>
                </a:solidFill>
              </a:rPr>
              <a:t>    </a:t>
            </a:r>
            <a:endParaRPr sz="3200"/>
          </a:p>
        </p:txBody>
      </p:sp>
      <p:pic>
        <p:nvPicPr>
          <p:cNvPr id="1594582274" name="Google Shape;122;p20" descr="klogo copy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2286851" y="1589512"/>
            <a:ext cx="1374775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1820866" name="Google Shape;125;p20"/>
          <p:cNvSpPr txBox="1"/>
          <p:nvPr/>
        </p:nvSpPr>
        <p:spPr bwMode="auto">
          <a:xfrm>
            <a:off x="5331609" y="1262410"/>
            <a:ext cx="5926545" cy="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/>
            </a:pPr>
            <a:r>
              <a:rPr lang="en-US" sz="20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Department of Computer Science and Engineering</a:t>
            </a:r>
            <a:endParaRPr sz="2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9777693" name="Google Shape;126;p20"/>
          <p:cNvSpPr txBox="1">
            <a:spLocks noGrp="1"/>
          </p:cNvSpPr>
          <p:nvPr>
            <p:ph type="title"/>
          </p:nvPr>
        </p:nvSpPr>
        <p:spPr bwMode="auto">
          <a:xfrm>
            <a:off x="3094060" y="2980783"/>
            <a:ext cx="8655924" cy="622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8255" marR="5080" indent="-1266190" algn="ctr">
              <a:defRPr/>
            </a:pPr>
            <a:br>
              <a:rPr lang="en-US"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</a:br>
            <a:r>
              <a:rPr lang="en-GB"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SECOND </a:t>
            </a:r>
            <a:r>
              <a:rPr lang="en-US" sz="20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REVIEW </a:t>
            </a:r>
            <a:endParaRPr>
              <a:latin typeface="Times New Roman"/>
              <a:cs typeface="Times New Roman"/>
            </a:endParaRPr>
          </a:p>
        </p:txBody>
      </p:sp>
      <p:sp>
        <p:nvSpPr>
          <p:cNvPr id="1423167268" name="TextBox 1"/>
          <p:cNvSpPr txBox="1"/>
          <p:nvPr/>
        </p:nvSpPr>
        <p:spPr bwMode="auto">
          <a:xfrm>
            <a:off x="5744364" y="1752192"/>
            <a:ext cx="4975481" cy="5185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IN" sz="2800">
                <a:latin typeface="Times New Roman"/>
                <a:ea typeface="Times New Roman"/>
                <a:cs typeface="Times New Roman"/>
              </a:rPr>
              <a:t>22CSP72 PROJECT WORK II</a:t>
            </a:r>
            <a:endParaRPr>
              <a:latin typeface="Times New Roman"/>
              <a:cs typeface="Times New Roman"/>
            </a:endParaRPr>
          </a:p>
        </p:txBody>
      </p:sp>
      <p:pic>
        <p:nvPicPr>
          <p:cNvPr id="1040481375" name="Picture 2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819881" y="165315"/>
            <a:ext cx="2573001" cy="1010822"/>
          </a:xfrm>
          <a:prstGeom prst="rect">
            <a:avLst/>
          </a:prstGeom>
        </p:spPr>
      </p:pic>
      <p:sp>
        <p:nvSpPr>
          <p:cNvPr id="1425266522" name="TextBox 5"/>
          <p:cNvSpPr txBox="1"/>
          <p:nvPr/>
        </p:nvSpPr>
        <p:spPr bwMode="auto">
          <a:xfrm>
            <a:off x="5182802" y="2501507"/>
            <a:ext cx="6229552" cy="701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sz="2000" b="1" i="0" u="none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Deep Learning-Based Tuberculosis Detection from Chest X-Ray Images</a:t>
            </a:r>
            <a:endParaRPr sz="2000" b="1" i="0">
              <a:solidFill>
                <a:srgbClr val="FF0000"/>
              </a:solidFill>
            </a:endParaRPr>
          </a:p>
        </p:txBody>
      </p:sp>
      <p:sp>
        <p:nvSpPr>
          <p:cNvPr id="1503125825" name="object 3"/>
          <p:cNvSpPr txBox="1"/>
          <p:nvPr/>
        </p:nvSpPr>
        <p:spPr bwMode="auto">
          <a:xfrm>
            <a:off x="4953521" y="3873138"/>
            <a:ext cx="5549753" cy="1893294"/>
          </a:xfrm>
          <a:prstGeom prst="rect">
            <a:avLst/>
          </a:prstGeom>
        </p:spPr>
        <p:txBody>
          <a:bodyPr vert="horz" wrap="square" lIns="0" tIns="15874" rIns="0" bIns="0" rtlCol="0">
            <a:spAutoFit/>
          </a:bodyPr>
          <a:lstStyle/>
          <a:p>
            <a:pPr marL="12699">
              <a:lnSpc>
                <a:spcPct val="100000"/>
              </a:lnSpc>
              <a:spcBef>
                <a:spcPts val="124"/>
              </a:spcBef>
              <a:defRPr/>
            </a:pPr>
            <a:r>
              <a:rPr lang="en-IN" sz="2000" b="1" spc="-9">
                <a:latin typeface="Times New Roman"/>
                <a:cs typeface="Times New Roman"/>
              </a:rPr>
              <a:t>Team Number :</a:t>
            </a:r>
            <a:r>
              <a:rPr lang="en-GB" sz="2200">
                <a:latin typeface="Times New Roman"/>
                <a:cs typeface="Times New Roman"/>
              </a:rPr>
              <a:t> A22</a:t>
            </a:r>
            <a:endParaRPr lang="en-IN" sz="2000" b="1" spc="-9">
              <a:latin typeface="Times New Roman"/>
              <a:cs typeface="Times New Roman"/>
            </a:endParaRPr>
          </a:p>
          <a:p>
            <a:pPr marL="12699">
              <a:lnSpc>
                <a:spcPct val="100000"/>
              </a:lnSpc>
              <a:spcBef>
                <a:spcPts val="124"/>
              </a:spcBef>
              <a:defRPr/>
            </a:pPr>
            <a:r>
              <a:rPr lang="en-IN" sz="2000" b="1" spc="-9">
                <a:latin typeface="Times New Roman"/>
                <a:cs typeface="Times New Roman"/>
              </a:rPr>
              <a:t>Team Guide : </a:t>
            </a:r>
            <a:r>
              <a:rPr lang="en-IN" sz="2000" spc="-9">
                <a:latin typeface="Times New Roman"/>
                <a:cs typeface="Times New Roman"/>
              </a:rPr>
              <a:t>Dr. </a:t>
            </a:r>
            <a:r>
              <a:rPr lang="en-US" sz="2000" spc="-9">
                <a:latin typeface="Times New Roman"/>
                <a:cs typeface="Times New Roman"/>
              </a:rPr>
              <a:t>K. Venu </a:t>
            </a:r>
            <a:endParaRPr lang="en-US" sz="2000">
              <a:latin typeface="Times New Roman"/>
              <a:cs typeface="Times New Roman"/>
            </a:endParaRPr>
          </a:p>
          <a:p>
            <a:pPr marL="13969">
              <a:lnSpc>
                <a:spcPct val="100000"/>
              </a:lnSpc>
              <a:spcBef>
                <a:spcPts val="4"/>
              </a:spcBef>
              <a:defRPr/>
            </a:pPr>
            <a:r>
              <a:rPr lang="en-US" sz="2000" b="1">
                <a:latin typeface="Times New Roman"/>
                <a:cs typeface="Times New Roman"/>
              </a:rPr>
              <a:t>Team</a:t>
            </a:r>
            <a:r>
              <a:rPr lang="en-US" sz="2000" b="1" spc="-19">
                <a:latin typeface="Times New Roman"/>
                <a:cs typeface="Times New Roman"/>
              </a:rPr>
              <a:t> </a:t>
            </a:r>
            <a:r>
              <a:rPr lang="en-US" sz="2000" b="1" spc="-9">
                <a:latin typeface="Times New Roman"/>
                <a:cs typeface="Times New Roman"/>
              </a:rPr>
              <a:t>Members :</a:t>
            </a:r>
            <a:endParaRPr/>
          </a:p>
          <a:p>
            <a:pPr marL="13969">
              <a:lnSpc>
                <a:spcPct val="100000"/>
              </a:lnSpc>
              <a:spcBef>
                <a:spcPts val="4"/>
              </a:spcBef>
              <a:defRPr/>
            </a:pPr>
            <a:r>
              <a:rPr lang="en-IN" sz="2000" b="1" spc="-9">
                <a:latin typeface="Times New Roman"/>
                <a:cs typeface="Times New Roman"/>
              </a:rPr>
              <a:t>		</a:t>
            </a:r>
            <a:r>
              <a:rPr lang="en-IN" sz="2000" spc="-9">
                <a:latin typeface="Times New Roman"/>
                <a:cs typeface="Times New Roman"/>
              </a:rPr>
              <a:t>Abinandhana S G (23CSR008)</a:t>
            </a:r>
            <a:endParaRPr/>
          </a:p>
          <a:p>
            <a:pPr marL="13969">
              <a:lnSpc>
                <a:spcPct val="100000"/>
              </a:lnSpc>
              <a:spcBef>
                <a:spcPts val="4"/>
              </a:spcBef>
              <a:defRPr/>
            </a:pPr>
            <a:r>
              <a:rPr lang="en-IN" sz="2000" spc="-9">
                <a:latin typeface="Times New Roman"/>
                <a:cs typeface="Times New Roman"/>
              </a:rPr>
              <a:t>		Anbuselvam N     (23CSR018)</a:t>
            </a:r>
            <a:endParaRPr/>
          </a:p>
          <a:p>
            <a:pPr marL="13969">
              <a:lnSpc>
                <a:spcPct val="100000"/>
              </a:lnSpc>
              <a:spcBef>
                <a:spcPts val="4"/>
              </a:spcBef>
              <a:defRPr/>
            </a:pPr>
            <a:r>
              <a:rPr lang="en-IN" sz="2000" spc="-9">
                <a:latin typeface="Times New Roman"/>
                <a:cs typeface="Times New Roman"/>
              </a:rPr>
              <a:t>		Gobika R (23CSR062)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2104405" name="object 2" descr="$PPTXTitle"/>
          <p:cNvSpPr txBox="1">
            <a:spLocks noGrp="1"/>
          </p:cNvSpPr>
          <p:nvPr>
            <p:ph type="title"/>
          </p:nvPr>
        </p:nvSpPr>
        <p:spPr bwMode="auto">
          <a:xfrm>
            <a:off x="3951263" y="556186"/>
            <a:ext cx="6096358" cy="596559"/>
          </a:xfrm>
          <a:prstGeom prst="rect">
            <a:avLst/>
          </a:prstGeom>
        </p:spPr>
        <p:txBody>
          <a:bodyPr vert="horz" wrap="square" lIns="0" tIns="199960" rIns="0" bIns="0" rtlCol="0">
            <a:spAutoFit/>
          </a:bodyPr>
          <a:lstStyle/>
          <a:p>
            <a:pPr marL="12699">
              <a:lnSpc>
                <a:spcPct val="100000"/>
              </a:lnSpc>
              <a:spcBef>
                <a:spcPts val="129"/>
              </a:spcBef>
              <a:defRPr/>
            </a:pPr>
            <a:r>
              <a:rPr lang="en-IN" sz="2600" spc="-19">
                <a:latin typeface="Times New Roman"/>
                <a:ea typeface="Times New Roman"/>
                <a:cs typeface="Times New Roman"/>
              </a:rPr>
              <a:t>PROBLEM</a:t>
            </a:r>
            <a:r>
              <a:rPr lang="en-IN" sz="2600" spc="-199">
                <a:latin typeface="Times New Roman"/>
                <a:ea typeface="Times New Roman"/>
                <a:cs typeface="Times New Roman"/>
              </a:rPr>
              <a:t> </a:t>
            </a:r>
            <a:r>
              <a:rPr lang="en-IN" sz="2600" spc="-9">
                <a:latin typeface="Times New Roman"/>
                <a:ea typeface="Times New Roman"/>
                <a:cs typeface="Times New Roman"/>
              </a:rPr>
              <a:t>STATEMENT</a:t>
            </a:r>
            <a:endParaRPr sz="2600" spc="-9">
              <a:latin typeface="Times New Roman"/>
              <a:cs typeface="Times New Roman"/>
            </a:endParaRPr>
          </a:p>
        </p:txBody>
      </p:sp>
      <p:sp>
        <p:nvSpPr>
          <p:cNvPr id="1302163244" name="TextBox 5"/>
          <p:cNvSpPr txBox="1"/>
          <p:nvPr/>
        </p:nvSpPr>
        <p:spPr bwMode="auto">
          <a:xfrm>
            <a:off x="1395693" y="1322991"/>
            <a:ext cx="9992921" cy="3404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existing </a:t>
            </a: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CoAtNet</a:t>
            </a: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-based tuberculosis detection framework performs automated classification using the entire chest X-ray image without explicitly isolating the lung region prior to classification.</a:t>
            </a:r>
            <a:endParaRPr sz="2100" b="0"/>
          </a:p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existing framework uses LIME for explainability, which provides local feature-based explanations but does not generate gradient-based class activation heatmaps for class-specific visualization of the model's predictions.</a:t>
            </a:r>
            <a:endParaRPr/>
          </a:p>
          <a:p>
            <a:pPr marL="217792" indent="-217792" algn="just">
              <a:lnSpc>
                <a:spcPct val="114999"/>
              </a:lnSpc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existing framework does not provide an integrated AI-assisted diagnostic reporting mechanism that presents the model's prediction, prediction confidence, and explainability in a unified and structured format.</a:t>
            </a:r>
            <a:endParaRPr sz="21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7884224" name="object 2" descr="$PPTXTitle"/>
          <p:cNvSpPr txBox="1">
            <a:spLocks noGrp="1"/>
          </p:cNvSpPr>
          <p:nvPr>
            <p:ph type="title"/>
          </p:nvPr>
        </p:nvSpPr>
        <p:spPr bwMode="auto">
          <a:xfrm>
            <a:off x="3588009" y="443855"/>
            <a:ext cx="6255173" cy="635299"/>
          </a:xfrm>
          <a:prstGeom prst="rect">
            <a:avLst/>
          </a:prstGeom>
        </p:spPr>
        <p:txBody>
          <a:bodyPr vert="horz" wrap="square" lIns="0" tIns="128775" rIns="0" bIns="0" rtlCol="0">
            <a:spAutoFit/>
          </a:bodyPr>
          <a:lstStyle/>
          <a:p>
            <a:pPr marL="1174749">
              <a:lnSpc>
                <a:spcPct val="100000"/>
              </a:lnSpc>
              <a:spcBef>
                <a:spcPts val="124"/>
              </a:spcBef>
              <a:defRPr/>
            </a:pPr>
            <a:r>
              <a:rPr lang="en-US" spc="-9">
                <a:latin typeface="Times New Roman"/>
                <a:cs typeface="Times New Roman"/>
              </a:rPr>
              <a:t>OBJECTIVES</a:t>
            </a:r>
            <a:endParaRPr spc="-9">
              <a:latin typeface="Times New Roman"/>
              <a:cs typeface="Times New Roman"/>
            </a:endParaRPr>
          </a:p>
        </p:txBody>
      </p:sp>
      <p:sp>
        <p:nvSpPr>
          <p:cNvPr id="1904671710" name="TextBox 5"/>
          <p:cNvSpPr txBox="1"/>
          <p:nvPr/>
        </p:nvSpPr>
        <p:spPr bwMode="auto">
          <a:xfrm>
            <a:off x="1611918" y="1346542"/>
            <a:ext cx="9668794" cy="3772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Apply image preprocessing techniques, including resizing and Contrast Limited Adaptive Histogram Equalization (CLAHE), to enhance chest X-ray image quality.</a:t>
            </a:r>
            <a:endParaRPr sz="2100" b="0"/>
          </a:p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Perform lung segmentation to isolate the lung region and reduce the influence of irrelevant background information. </a:t>
            </a:r>
            <a:endParaRPr sz="2100" b="0"/>
          </a:p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Develop an </a:t>
            </a: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CoAtNet</a:t>
            </a: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-based deep learning framework for automated classification of chest X-ray images into Normal and Tuberculosis categories. </a:t>
            </a:r>
            <a:endParaRPr sz="2100" b="0"/>
          </a:p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Integrate Grad-CAM++ to generate class-specific visual explanations for interpreting the model's predictions. </a:t>
            </a:r>
            <a:endParaRPr sz="2100" b="0"/>
          </a:p>
          <a:p>
            <a:pPr marL="217793" indent="-217793" algn="just">
              <a:lnSpc>
                <a:spcPct val="114999"/>
              </a:lnSpc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Develop an AI-assisted diagnostic reporting mechanism that presents the prediction, confidence score, and explainability results in a unified format.</a:t>
            </a:r>
            <a:endParaRPr sz="21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359588961" name="Table 1868955789"/>
          <p:cNvGraphicFramePr>
            <a:graphicFrameLocks xmlns:a="http://schemas.openxmlformats.org/drawingml/2006/main"/>
          </p:cNvGraphicFramePr>
          <p:nvPr/>
        </p:nvGraphicFramePr>
        <p:xfrm rot="0">
          <a:off x="627636" y="709040"/>
          <a:ext cx="11364756" cy="5945407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540000"/>
                <a:gridCol w="2860112"/>
                <a:gridCol w="1525392"/>
                <a:gridCol w="1568881"/>
                <a:gridCol w="1737934"/>
                <a:gridCol w="3132437"/>
              </a:tblGrid>
              <a:tr h="456519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S.No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Paper (Year)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Model Used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Performance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Limitations / Research Gap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Proposed Improvement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</a:tr>
              <a:tr h="1123564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Enhanced CoAtNet Based Hybrid Deep Learning Architecture for Automated Tuberculosis Detection in Human Chest X-rays (2025)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CoAtNet (CNN + Vision Transformer) + LIME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86.39% Accuracy, 93.79% ROC-AUC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lung segmentation, uses LIME, no diagnostic report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Integrate </a:t>
                      </a: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lung segmentation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</a:t>
                      </a: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Grad-CAM++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and </a:t>
                      </a: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AI-assisted diagnostic reporting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.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</a:tr>
              <a:tr h="1234079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Ensemble Learning Based Automatic Detection of Tuberculosis in Chest X-ray Images Using Hybrid Feature Descriptors (2021)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Ensemble CNN + Gabor Features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AUC = 0.99 (Shenzhen), 0.97 (Montgomery)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Does not incorporate Explainable AI and lacks a Transformer-based architecture.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Introduce</a:t>
                      </a: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CoAtNet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with </a:t>
                      </a: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Grad-CAM++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for improved feature learning and explainability.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</a:tr>
              <a:tr h="1105145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TB-CXRNet: Tuberculosis and Drug-Resistant Tuberculosis Detection Technique Using Chest X-ray Images (2024)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TB-CXRNet (CNN), CheXNet + MLP, Score-CAM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93.32% (TB/Healthy), 87.48% (Drug-Resistant TB)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Relies mainly on CNN features, no hybrid CNN-Transformer, no lung segmentation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</a:t>
                      </a: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CoAtNet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lung segmentation, </a:t>
                      </a: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Grad-CAM++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, and AI-assisted diagnostic reporting.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</a:tr>
              <a:tr h="1234079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Detecting Tuberculosis-Consistent Findings in Lateral Chest X-rays Using an Ensemble of CNNs and Vision Transformers (2024)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Ensemble CNN + Vision Transformer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95.7% Accuracy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Explainable AI, high computational complexity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Apply </a:t>
                      </a: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Grad-CAM++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and lung segmentation to improve model interpretability.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</a:tr>
              <a:tr h="792021"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Ensemble Deep Learning Architectures for Tuberculosis Detection (2026)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Ensemble CNN with Feature Fusion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AUC = 0.98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 computational cost, lacks explainability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</a:t>
                      </a:r>
                      <a:r>
                        <a:rPr lang="en-GB"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</a:t>
                      </a: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CoAtNet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with </a:t>
                      </a:r>
                      <a:r>
                        <a:rPr sz="1400" b="1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Grad-CAM++</a:t>
                      </a:r>
                      <a:r>
                        <a:rPr sz="14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and AI-assisted diagnostic reporting.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 anchor="ctr">
                    <a:lnL w="9524" algn="ctr"/>
                    <a:lnR w="9524" algn="ctr"/>
                    <a:lnT w="9524" algn="ctr"/>
                    <a:lnB w="9524" algn="ctr"/>
                  </a:tcPr>
                </a:tc>
              </a:tr>
            </a:tbl>
          </a:graphicData>
        </a:graphic>
      </p:graphicFrame>
      <p:sp>
        <p:nvSpPr>
          <p:cNvPr id="1385127424" name="object 2" descr="$PPTXTitle"/>
          <p:cNvSpPr txBox="1">
            <a:spLocks noGrp="1"/>
          </p:cNvSpPr>
          <p:nvPr>
            <p:ph type="title"/>
          </p:nvPr>
        </p:nvSpPr>
        <p:spPr bwMode="auto">
          <a:xfrm>
            <a:off x="2883417" y="92228"/>
            <a:ext cx="6263451" cy="616813"/>
          </a:xfrm>
          <a:prstGeom prst="rect">
            <a:avLst/>
          </a:prstGeom>
        </p:spPr>
        <p:txBody>
          <a:bodyPr vert="horz" wrap="square" lIns="0" tIns="128773" rIns="0" bIns="0" rtlCol="0">
            <a:spAutoFit/>
          </a:bodyPr>
          <a:lstStyle/>
          <a:p>
            <a:pPr marL="1174748">
              <a:lnSpc>
                <a:spcPct val="100000"/>
              </a:lnSpc>
              <a:spcBef>
                <a:spcPts val="123"/>
              </a:spcBef>
              <a:defRPr/>
            </a:pPr>
            <a:r>
              <a:rPr lang="en-GB" spc="-9">
                <a:latin typeface="Times New Roman"/>
                <a:cs typeface="Times New Roman"/>
              </a:rPr>
              <a:t>LITERATURE SURVEY </a:t>
            </a:r>
            <a:endParaRPr spc="-9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643458" name="Title 1"/>
          <p:cNvSpPr>
            <a:spLocks noGrp="1"/>
          </p:cNvSpPr>
          <p:nvPr>
            <p:ph type="title"/>
          </p:nvPr>
        </p:nvSpPr>
        <p:spPr bwMode="auto">
          <a:xfrm>
            <a:off x="4724399" y="601097"/>
            <a:ext cx="3555999" cy="492442"/>
          </a:xfrm>
        </p:spPr>
        <p:txBody>
          <a:bodyPr/>
          <a:lstStyle/>
          <a:p>
            <a:pPr>
              <a:defRPr/>
            </a:pPr>
            <a:r>
              <a:rPr lang="en-IN">
                <a:latin typeface="Times New Roman"/>
                <a:cs typeface="Times New Roman"/>
              </a:rPr>
              <a:t>RESEARCH GAP</a:t>
            </a:r>
            <a:endParaRPr>
              <a:latin typeface="Times New Roman"/>
              <a:cs typeface="Times New Roman"/>
            </a:endParaRPr>
          </a:p>
        </p:txBody>
      </p:sp>
      <p:sp>
        <p:nvSpPr>
          <p:cNvPr id="1231440651" name="TextBox 3"/>
          <p:cNvSpPr txBox="1"/>
          <p:nvPr/>
        </p:nvSpPr>
        <p:spPr bwMode="auto">
          <a:xfrm>
            <a:off x="1686168" y="1592370"/>
            <a:ext cx="9825626" cy="45083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16922" indent="-316922" algn="just">
              <a:lnSpc>
                <a:spcPct val="114999"/>
              </a:lnSpc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Existing Enhanced CoAtNet-based models classify the entire chest X-ray image without incorporating lung segmentation to explicitly focus the analysis on the lung region. </a:t>
            </a:r>
            <a:endParaRPr sz="2100" b="0"/>
          </a:p>
          <a:p>
            <a:pPr marL="316922" indent="-316922" algn="just">
              <a:lnSpc>
                <a:spcPct val="114999"/>
              </a:lnSpc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existing framework employs LIME for explainability, which provides local explanations but does not generate gradient-based class activation heatmaps for class-specific visualization of the model's predictions. </a:t>
            </a:r>
            <a:endParaRPr sz="2100" b="0"/>
          </a:p>
          <a:p>
            <a:pPr marL="316922" indent="-316922" algn="just">
              <a:lnSpc>
                <a:spcPct val="114999"/>
              </a:lnSpc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reviewed studies apply lung segmentation, Enhanced CoAtNet, and Explainable AI independently rather than integrating these components into a unified end-to-end tuberculosis detection framework. </a:t>
            </a:r>
            <a:endParaRPr sz="2100" b="0"/>
          </a:p>
          <a:p>
            <a:pPr marL="316922" indent="-316922" algn="just">
              <a:lnSpc>
                <a:spcPct val="114999"/>
              </a:lnSpc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Automatic AI-assisted diagnostic report generation, integrating the prediction, confidence score, and explainability results, is not included in the existing Enhanced CoAtNet framework.</a:t>
            </a:r>
            <a:endParaRPr sz="21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987713" name="Title 1"/>
          <p:cNvSpPr>
            <a:spLocks noGrp="1"/>
          </p:cNvSpPr>
          <p:nvPr>
            <p:ph type="title"/>
          </p:nvPr>
        </p:nvSpPr>
        <p:spPr bwMode="auto">
          <a:xfrm>
            <a:off x="685101" y="-259884"/>
            <a:ext cx="10972800" cy="1143000"/>
          </a:xfrm>
        </p:spPr>
        <p:txBody>
          <a:bodyPr/>
          <a:lstStyle/>
          <a:p>
            <a:pPr>
              <a:defRPr/>
            </a:pPr>
            <a:r>
              <a:rPr lang="en-US" sz="3600">
                <a:latin typeface="Times New Roman"/>
                <a:cs typeface="Times New Roman"/>
              </a:rPr>
              <a:t>                              ARCHITECTURE DIAGRAM</a:t>
            </a:r>
            <a:endParaRPr lang="en-IN" sz="3600">
              <a:latin typeface="Times New Roman"/>
              <a:cs typeface="Times New Roman"/>
            </a:endParaRPr>
          </a:p>
        </p:txBody>
      </p:sp>
      <p:sp>
        <p:nvSpPr>
          <p:cNvPr id="153090624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140902" y="2214694"/>
            <a:ext cx="10441497" cy="4109907"/>
          </a:xfrm>
        </p:spPr>
        <p:txBody>
          <a:bodyPr/>
          <a:lstStyle/>
          <a:p>
            <a:pPr>
              <a:defRPr/>
            </a:pPr>
            <a:endParaRPr lang="en-IN"/>
          </a:p>
        </p:txBody>
      </p:sp>
      <p:pic>
        <p:nvPicPr>
          <p:cNvPr id="1110625807" name="Picture 4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317072" y="1073791"/>
            <a:ext cx="10570128" cy="5357140"/>
          </a:xfrm>
          <a:prstGeom prst="rect">
            <a:avLst/>
          </a:prstGeom>
        </p:spPr>
      </p:pic>
      <p:pic>
        <p:nvPicPr>
          <p:cNvPr id="1500836536" name="Picture 2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701093" y="2843868"/>
            <a:ext cx="922789" cy="585132"/>
          </a:xfrm>
          <a:prstGeom prst="rect">
            <a:avLst/>
          </a:prstGeom>
        </p:spPr>
      </p:pic>
      <p:pic>
        <p:nvPicPr>
          <p:cNvPr id="930971977" name="Picture 4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620624" y="4348724"/>
            <a:ext cx="2155644" cy="212789"/>
          </a:xfrm>
          <a:prstGeom prst="rect">
            <a:avLst/>
          </a:prstGeom>
        </p:spPr>
      </p:pic>
      <p:sp>
        <p:nvSpPr>
          <p:cNvPr id="340668256" name="TextBox 5"/>
          <p:cNvSpPr txBox="1"/>
          <p:nvPr/>
        </p:nvSpPr>
        <p:spPr bwMode="auto">
          <a:xfrm>
            <a:off x="6056851" y="4330681"/>
            <a:ext cx="164424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IN" sz="900" b="1">
                <a:solidFill>
                  <a:srgbClr val="350060"/>
                </a:solidFill>
                <a:latin typeface="Aptos"/>
              </a:rPr>
              <a:t>(Grad-CAM++)</a:t>
            </a:r>
            <a:endParaRPr/>
          </a:p>
        </p:txBody>
      </p:sp>
      <p:pic>
        <p:nvPicPr>
          <p:cNvPr id="757881050" name="Picture 7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9364507" y="1845578"/>
            <a:ext cx="1876739" cy="170052"/>
          </a:xfrm>
          <a:prstGeom prst="rect">
            <a:avLst/>
          </a:prstGeom>
        </p:spPr>
      </p:pic>
      <p:sp>
        <p:nvSpPr>
          <p:cNvPr id="913031644" name="TextBox 9"/>
          <p:cNvSpPr txBox="1"/>
          <p:nvPr/>
        </p:nvSpPr>
        <p:spPr bwMode="auto">
          <a:xfrm>
            <a:off x="9118835" y="1784798"/>
            <a:ext cx="28438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IN" sz="900" b="1">
                <a:solidFill>
                  <a:srgbClr val="CC3300"/>
                </a:solidFill>
              </a:rPr>
              <a:t>CNN+VISION TRANSFORMER HYBRID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1697040" name="Title 1"/>
          <p:cNvSpPr>
            <a:spLocks noGrp="1"/>
          </p:cNvSpPr>
          <p:nvPr>
            <p:ph type="title"/>
          </p:nvPr>
        </p:nvSpPr>
        <p:spPr bwMode="auto">
          <a:xfrm>
            <a:off x="1935061" y="-276662"/>
            <a:ext cx="10972800" cy="1143000"/>
          </a:xfrm>
        </p:spPr>
        <p:txBody>
          <a:bodyPr/>
          <a:lstStyle/>
          <a:p>
            <a:pPr>
              <a:defRPr/>
            </a:pPr>
            <a:r>
              <a:rPr lang="en-IN">
                <a:latin typeface="Times New Roman"/>
                <a:cs typeface="Times New Roman"/>
              </a:rPr>
              <a:t>PROPOSED WORK WITH PLANNED INNOVATION</a:t>
            </a:r>
            <a:endParaRPr/>
          </a:p>
        </p:txBody>
      </p:sp>
      <p:sp>
        <p:nvSpPr>
          <p:cNvPr id="20879839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233181" y="1224779"/>
            <a:ext cx="10772263" cy="5217253"/>
          </a:xfrm>
        </p:spPr>
        <p:txBody>
          <a:bodyPr/>
          <a:lstStyle/>
          <a:p>
            <a:pPr marL="137159" indent="0">
              <a:lnSpc>
                <a:spcPct val="114999"/>
              </a:lnSpc>
              <a:buClr>
                <a:schemeClr val="dk1"/>
              </a:buClr>
              <a:buSzPts val="1440"/>
              <a:buFont typeface="Noto Sans Symbols"/>
              <a:buNone/>
              <a:defRPr/>
            </a:pPr>
            <a:r>
              <a:rPr sz="21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Proposed Work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Apply image preprocessing (Resize and CLAHE).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Perform lung segmentation using TorchXRayVision.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Train the CoAtNet model for automated tuberculosis classification.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Generate Grad-CAM++ visualizations. 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Generate an AI-assisted diagnostic report. </a:t>
            </a:r>
            <a:endParaRPr sz="2100" b="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endParaRPr sz="2100"/>
          </a:p>
          <a:p>
            <a:pPr marL="137159" indent="0">
              <a:lnSpc>
                <a:spcPct val="114999"/>
              </a:lnSpc>
              <a:buClr>
                <a:schemeClr val="dk1"/>
              </a:buClr>
              <a:buSzPts val="1440"/>
              <a:buFont typeface="Noto Sans Symbols"/>
              <a:buNone/>
              <a:defRPr/>
            </a:pPr>
            <a:r>
              <a:rPr sz="21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Planned Innovation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Combine lung segmentation and  CoAtNet for lung-focused analysis.</a:t>
            </a:r>
            <a:endParaRPr sz="2100" b="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Use Grad-CAM++ for class-specific visual explanations.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Combine prediction, confidence, and explainability in one diagnostic report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100" b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219695" name="Title 1"/>
          <p:cNvSpPr>
            <a:spLocks noGrp="1"/>
          </p:cNvSpPr>
          <p:nvPr>
            <p:ph type="title"/>
          </p:nvPr>
        </p:nvSpPr>
        <p:spPr bwMode="auto">
          <a:xfrm>
            <a:off x="609599" y="234862"/>
            <a:ext cx="10972800" cy="441343"/>
          </a:xfrm>
        </p:spPr>
        <p:txBody>
          <a:bodyPr/>
          <a:lstStyle/>
          <a:p>
            <a:pPr>
              <a:defRPr/>
            </a:pPr>
            <a:r>
              <a:rPr lang="en-IN">
                <a:latin typeface="Times New Roman"/>
                <a:cs typeface="Times New Roman"/>
              </a:rPr>
              <a:t>                             MODULES OF THE PROJECT</a:t>
            </a:r>
            <a:endParaRPr/>
          </a:p>
        </p:txBody>
      </p:sp>
      <p:sp>
        <p:nvSpPr>
          <p:cNvPr id="197652338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27712" y="858877"/>
            <a:ext cx="10972800" cy="5886800"/>
          </a:xfrm>
        </p:spPr>
        <p:txBody>
          <a:bodyPr/>
          <a:lstStyle/>
          <a:p>
            <a:pPr marL="137159" indent="0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None/>
              <a:defRPr/>
            </a:pPr>
            <a:r>
              <a:rPr sz="21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</a:t>
            </a:r>
            <a:r>
              <a:rPr lang="en-GB" sz="21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</a:t>
            </a:r>
            <a:r>
              <a:rPr sz="21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Image Preprocessing</a:t>
            </a:r>
            <a:endParaRPr sz="2100"/>
          </a:p>
          <a:p>
            <a:pPr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Resize chest X-ray images to 512 × 512 pixels.</a:t>
            </a:r>
            <a:endParaRPr sz="2100" b="0"/>
          </a:p>
          <a:p>
            <a:pPr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Apply CLAHE (Contrast Limited Adaptive Histogram Equalization) for contrast enhancement.</a:t>
            </a:r>
            <a:endParaRPr sz="2100" b="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Generate preprocessed images for lung segmentation.</a:t>
            </a:r>
            <a:endParaRPr/>
          </a:p>
          <a:p>
            <a:pPr marL="137159" indent="0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None/>
              <a:defRPr/>
            </a:pPr>
            <a:endParaRPr sz="21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137158" indent="0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None/>
              <a:defRPr/>
            </a:pPr>
            <a:r>
              <a:rPr lang="en-US" sz="2100" b="1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</a:t>
            </a:r>
            <a:r>
              <a:rPr lang="en-GB" sz="2100" b="1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lang="en-US" sz="2100" b="1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Lung Segmentation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Use the pretrained </a:t>
            </a:r>
            <a:r>
              <a:rPr sz="21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TorchXRayVision lung segmentation model</a:t>
            </a: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Load the model with its </a:t>
            </a:r>
            <a:r>
              <a:rPr sz="21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pretrained learned weights</a:t>
            </a: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Pass the preprocessed chest X-ray through the segmentation network.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Generate pixel-wise probability maps for the lung regions.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Convert the probability maps into binary lung masks using a threshold.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Combine the lung regions to create the final lung mask.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Apply the mask to the chest X-ray to remove non-lung regions.</a:t>
            </a: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Generate the segmented lung image for further classification.</a:t>
            </a:r>
            <a:endParaRPr sz="2100" b="1" i="0" u="none" strike="noStrike" cap="none" spc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endParaRPr sz="2100" b="1" i="0" u="none" strike="noStrike" cap="none" spc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endParaRPr sz="2100"/>
          </a:p>
          <a:p>
            <a:pPr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endParaRPr sz="2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1350036" name="Google Shape;66;p11"/>
          <p:cNvSpPr txBox="1">
            <a:spLocks noGrp="1"/>
          </p:cNvSpPr>
          <p:nvPr>
            <p:ph type="body" idx="1"/>
          </p:nvPr>
        </p:nvSpPr>
        <p:spPr bwMode="auto">
          <a:xfrm>
            <a:off x="1188698" y="613253"/>
            <a:ext cx="10445892" cy="5920114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457200" lvl="0" indent="-32004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 marL="137159" indent="0">
              <a:buClr>
                <a:schemeClr val="dk1"/>
              </a:buClr>
              <a:buSzPts val="1440"/>
              <a:buFont typeface="Noto Sans Symbols"/>
              <a:buNone/>
              <a:defRPr/>
            </a:pPr>
            <a:r>
              <a:rPr sz="21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3: Dataset Preparation and Data Augmentation</a:t>
            </a:r>
            <a:endParaRPr sz="2100"/>
          </a:p>
          <a:p>
            <a:pPr marL="137159" indent="0">
              <a:buClr>
                <a:schemeClr val="dk1"/>
              </a:buClr>
              <a:buSzPts val="1440"/>
              <a:buFont typeface="Noto Sans Symbols"/>
              <a:buNone/>
              <a:defRPr/>
            </a:pPr>
            <a:endParaRPr sz="210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Organize the segmented lung images into Normal and Tuberculosis classes.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Split the dataset into Training, Validation, and Test sets.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Resize the images to 224 × 224 pixels for Enhanced CoAtNet.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Apply data augmentation only to the training images.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Use transformations such as rotation, translation, and scaling.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Combine original and augmented images to increase training data diversity.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Generate 559 augmented images, resulting in 1118 total training images.</a:t>
            </a:r>
            <a:endParaRPr sz="2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8138443" name="Google Shape;66;p11"/>
          <p:cNvSpPr txBox="1">
            <a:spLocks noGrp="1"/>
          </p:cNvSpPr>
          <p:nvPr>
            <p:ph type="body" idx="1"/>
          </p:nvPr>
        </p:nvSpPr>
        <p:spPr bwMode="auto">
          <a:xfrm>
            <a:off x="1266985" y="613252"/>
            <a:ext cx="10445892" cy="5750491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457200" lvl="0" indent="-32004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 marL="137159" indent="0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None/>
              <a:defRPr/>
            </a:pPr>
            <a:r>
              <a:rPr sz="21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4: CoAtNet Model Training</a:t>
            </a:r>
            <a:endParaRPr sz="2100">
              <a:latin typeface="Times New Roman"/>
              <a:ea typeface="Times New Roman"/>
              <a:cs typeface="Times New Roman"/>
            </a:endParaRPr>
          </a:p>
          <a:p>
            <a:pPr marL="137159" indent="0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None/>
              <a:defRPr/>
            </a:pPr>
            <a:endParaRPr sz="2100">
              <a:latin typeface="Times New Roman"/>
              <a:cs typeface="Times New Roman"/>
            </a:endParaRPr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Load the pretrained CoAtNet-0 (coatnet_0_rw_224) model. </a:t>
            </a:r>
            <a:endParaRPr sz="2100" b="0">
              <a:latin typeface="Times New Roman"/>
              <a:cs typeface="Times New Roman"/>
            </a:endParaRPr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Replace the original classifier head with a 2-class output layer for Normal and Tuberculosis. </a:t>
            </a:r>
            <a:endParaRPr sz="2100" b="0">
              <a:latin typeface="Times New Roman"/>
              <a:cs typeface="Times New Roman"/>
            </a:endParaRPr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Use segmented lung images resized to 224 × 224 pixels as input. </a:t>
            </a:r>
            <a:endParaRPr sz="2100" b="0">
              <a:latin typeface="Times New Roman"/>
              <a:cs typeface="Times New Roman"/>
            </a:endParaRPr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Train the model using the augmented training dataset. </a:t>
            </a:r>
            <a:endParaRPr sz="2100" b="0">
              <a:latin typeface="Times New Roman"/>
              <a:cs typeface="Times New Roman"/>
            </a:endParaRPr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Use CrossEntropyLoss with label smoothing (0.1) to calculate the classification loss. </a:t>
            </a:r>
            <a:endParaRPr sz="2100" b="0">
              <a:latin typeface="Times New Roman"/>
              <a:cs typeface="Times New Roman"/>
            </a:endParaRPr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Use the AdamW optimizer with a learning rate of 0.0001 and weight decay of 0.001. </a:t>
            </a:r>
            <a:endParaRPr sz="2100" b="0">
              <a:latin typeface="Times New Roman"/>
              <a:cs typeface="Times New Roman"/>
            </a:endParaRPr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Use the OneCycleLR learning rate scheduler during training. </a:t>
            </a:r>
            <a:endParaRPr sz="2100" b="0">
              <a:latin typeface="Times New Roman"/>
              <a:cs typeface="Times New Roman"/>
            </a:endParaRPr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Train the model for a maximum of 30 epochs with early stopping patience of 7 epochs. </a:t>
            </a:r>
            <a:endParaRPr sz="2100" b="0">
              <a:latin typeface="Times New Roman"/>
              <a:cs typeface="Times New Roman"/>
            </a:endParaRPr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Validate the model after each epoch using the validation dataset. </a:t>
            </a:r>
            <a:endParaRPr sz="2100" b="0">
              <a:latin typeface="Times New Roman"/>
              <a:cs typeface="Times New Roman"/>
            </a:endParaRPr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Save the best model based on validation performance.</a:t>
            </a:r>
            <a:endParaRPr sz="2100" b="0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411789" name="Google Shape;66;p11"/>
          <p:cNvSpPr txBox="1">
            <a:spLocks noGrp="1"/>
          </p:cNvSpPr>
          <p:nvPr>
            <p:ph type="body" idx="1"/>
          </p:nvPr>
        </p:nvSpPr>
        <p:spPr bwMode="auto">
          <a:xfrm>
            <a:off x="1188697" y="717636"/>
            <a:ext cx="10680756" cy="5867922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457200" lvl="0" indent="-32004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 marL="137159" indent="0" algn="just">
              <a:buClr>
                <a:schemeClr val="dk1"/>
              </a:buClr>
              <a:buSzPts val="1440"/>
              <a:buFont typeface="Arial"/>
              <a:buNone/>
              <a:defRPr/>
            </a:pPr>
            <a:r>
              <a:rPr sz="21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5: Tuberculosis Classification and Model Evaluation</a:t>
            </a:r>
            <a:endParaRPr sz="2100"/>
          </a:p>
          <a:p>
            <a:pPr marL="137159" indent="0" algn="just">
              <a:buClr>
                <a:schemeClr val="dk1"/>
              </a:buClr>
              <a:buSzPts val="1440"/>
              <a:buFont typeface="Arial"/>
              <a:buNone/>
              <a:defRPr/>
            </a:pPr>
            <a:endParaRPr sz="210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Load the best trained CoAtNet model for testing and prediction.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Provide the 224 × 224 segmented lung images as input to the model.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Generate prediction scores for the Normal and Tuberculosis classes.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Apply Softmax to convert the prediction scores into class probabilities.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Select the class with the highest probability as the final prediction.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Calculate the prediction confidence for the predicted class.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Evaluate the model using the test dataset.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Measure performance using Accuracy, Precision, Recall, F1-Score, and ROC-AUC.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Generate the Classification Report, Confusion Matrix, and ROC Curve.</a:t>
            </a:r>
            <a:endParaRPr sz="2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475461" name="Google Shape;66;p11"/>
          <p:cNvSpPr txBox="1">
            <a:spLocks noGrp="1"/>
          </p:cNvSpPr>
          <p:nvPr>
            <p:ph type="body" idx="1"/>
          </p:nvPr>
        </p:nvSpPr>
        <p:spPr bwMode="auto">
          <a:xfrm>
            <a:off x="1032123" y="782876"/>
            <a:ext cx="10550276" cy="5750491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457200" lvl="0" indent="-32004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 marL="137159" indent="0"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None/>
              <a:defRPr/>
            </a:pPr>
            <a:r>
              <a:rPr sz="21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Module 6: Grad-CAM++ Visualization and AI-Assisted Diagnostic Reporting</a:t>
            </a:r>
            <a:endParaRPr sz="2100"/>
          </a:p>
          <a:p>
            <a:pPr marL="137159" indent="0"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None/>
              <a:defRPr/>
            </a:pPr>
            <a:endParaRPr sz="210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Load the trained CoAtNet model and the input chest X-ray image.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Perform prediction to identify the Normal or Tuberculosis class and its confidence score.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Select the appropriate target layer from the CoAtNet model.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Compute the gradients and feature maps for the predicted target class.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Calculate Grad-CAM++ importance weights from the feature maps and gradients.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Generate a class-specific activation heatmap showing the regions that influenced the prediction. 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Resize and overlay the Grad-CAM++ heatmap on the input chest X-ray image for visual interpretation.</a:t>
            </a:r>
            <a:endParaRPr sz="2100" b="0"/>
          </a:p>
          <a:p>
            <a:pPr algn="just">
              <a:lnSpc>
                <a:spcPct val="114999"/>
              </a:lnSpc>
              <a:buClr>
                <a:schemeClr val="dk1"/>
              </a:buClr>
              <a:buSzPts val="1440"/>
              <a:buFont typeface="Arial"/>
              <a:buChar char="•"/>
              <a:defRPr/>
            </a:pPr>
            <a:r>
              <a:rPr sz="21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Generate an AI-assisted diagnostic report containing the predicted class, confidence score, and Grad-CAM++ visualization.</a:t>
            </a:r>
            <a:endParaRPr sz="2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445769" name="Google Shape;65;p11"/>
          <p:cNvSpPr txBox="1">
            <a:spLocks noGrp="1"/>
          </p:cNvSpPr>
          <p:nvPr>
            <p:ph type="title"/>
          </p:nvPr>
        </p:nvSpPr>
        <p:spPr bwMode="auto">
          <a:xfrm>
            <a:off x="4683774" y="28330"/>
            <a:ext cx="10156290" cy="70432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r>
              <a:rPr lang="en-GB" sz="2600">
                <a:latin typeface="Times New Roman"/>
                <a:cs typeface="Times New Roman"/>
              </a:rPr>
              <a:t>IMPLEMENTATION 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1774227580" name="Google Shape;66;p11"/>
          <p:cNvSpPr txBox="1">
            <a:spLocks noGrp="1"/>
          </p:cNvSpPr>
          <p:nvPr>
            <p:ph type="body" idx="1"/>
          </p:nvPr>
        </p:nvSpPr>
        <p:spPr bwMode="auto">
          <a:xfrm>
            <a:off x="1019075" y="1056883"/>
            <a:ext cx="10986369" cy="5267716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457200" lvl="0" indent="-32004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1pPr>
            <a:lvl2pPr marL="914400" lvl="1" indent="-32004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2pPr>
            <a:lvl3pPr marL="1371600" lvl="2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3pPr>
            <a:lvl4pPr marL="1828800" lvl="3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4pPr>
            <a:lvl5pPr marL="2286000" lvl="4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Clr>
                <a:schemeClr val="dk1"/>
              </a:buClr>
              <a:buSzPts val="1440"/>
              <a:buChar char="⮚"/>
              <a:defRPr/>
            </a:lvl5pPr>
            <a:lvl6pPr marL="2743200" lvl="5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440"/>
              <a:buChar char="⚫"/>
              <a:defRPr/>
            </a:lvl6pPr>
            <a:lvl7pPr marL="3200400" lvl="6" indent="-320038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440"/>
              <a:buChar char="⚫"/>
              <a:defRPr/>
            </a:lvl7pPr>
            <a:lvl8pPr marL="3657600" lvl="7" indent="-34290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59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pPr marL="137159" indent="0">
              <a:buClr>
                <a:schemeClr val="dk1"/>
              </a:buClr>
              <a:buSzPts val="1440"/>
              <a:buFont typeface="Noto Sans Symbols"/>
              <a:buNone/>
              <a:defRPr/>
            </a:pPr>
            <a:r>
              <a:rPr lang="en-GB"/>
              <a:t>                                        </a:t>
            </a:r>
            <a:endParaRPr/>
          </a:p>
          <a:p>
            <a:pPr marL="137159" indent="0">
              <a:buClr>
                <a:schemeClr val="dk1"/>
              </a:buClr>
              <a:buSzPts val="1440"/>
              <a:buFont typeface="Noto Sans Symbols"/>
              <a:buNone/>
              <a:defRPr/>
            </a:pPr>
            <a:r>
              <a:rPr lang="en-GB"/>
              <a:t>                                                                              </a:t>
            </a:r>
            <a:endParaRPr/>
          </a:p>
          <a:p>
            <a:pPr marL="137159" indent="0">
              <a:buClr>
                <a:schemeClr val="dk1"/>
              </a:buClr>
              <a:buSzPts val="1440"/>
              <a:buFont typeface="Noto Sans Symbols"/>
              <a:buNone/>
              <a:defRPr/>
            </a:pPr>
            <a:endParaRPr/>
          </a:p>
          <a:p>
            <a:pPr marL="137159" indent="0">
              <a:buClr>
                <a:schemeClr val="dk1"/>
              </a:buClr>
              <a:buSzPts val="1440"/>
              <a:buFont typeface="Noto Sans Symbols"/>
              <a:buNone/>
              <a:defRPr/>
            </a:pPr>
            <a:endParaRPr/>
          </a:p>
          <a:p>
            <a:pPr marL="137159" indent="0">
              <a:buClr>
                <a:schemeClr val="dk1"/>
              </a:buClr>
              <a:buSzPts val="1440"/>
              <a:buFont typeface="Noto Sans Symbols"/>
              <a:buNone/>
              <a:defRPr/>
            </a:pPr>
            <a:endParaRPr/>
          </a:p>
          <a:p>
            <a:pPr marL="137159" indent="0">
              <a:buClr>
                <a:schemeClr val="dk1"/>
              </a:buClr>
              <a:buSzPts val="1440"/>
              <a:buFont typeface="Noto Sans Symbols"/>
              <a:buNone/>
              <a:defRPr/>
            </a:pPr>
            <a:endParaRPr/>
          </a:p>
          <a:p>
            <a:pPr marL="137159" indent="0">
              <a:buClr>
                <a:schemeClr val="dk1"/>
              </a:buClr>
              <a:buSzPts val="1440"/>
              <a:buFont typeface="Noto Sans Symbols"/>
              <a:buNone/>
              <a:defRPr/>
            </a:pPr>
            <a:endParaRPr/>
          </a:p>
          <a:p>
            <a:pPr marL="137159" indent="0">
              <a:buClr>
                <a:schemeClr val="dk1"/>
              </a:buClr>
              <a:buSzPts val="1440"/>
              <a:buFont typeface="Noto Sans Symbols"/>
              <a:buNone/>
              <a:defRPr/>
            </a:pPr>
            <a:endParaRPr/>
          </a:p>
          <a:p>
            <a:pPr marL="137159" indent="0">
              <a:buClr>
                <a:schemeClr val="dk1"/>
              </a:buClr>
              <a:buSzPts val="1440"/>
              <a:buFont typeface="Noto Sans Symbols"/>
              <a:buNone/>
              <a:defRPr/>
            </a:pPr>
            <a:endParaRPr/>
          </a:p>
          <a:p>
            <a:pPr marL="137159" indent="0">
              <a:buClr>
                <a:schemeClr val="dk1"/>
              </a:buClr>
              <a:buSzPts val="1440"/>
              <a:buFont typeface="Noto Sans Symbols"/>
              <a:buNone/>
              <a:defRPr/>
            </a:pPr>
            <a:r>
              <a:rPr lang="en-GB" sz="1600"/>
              <a:t> </a:t>
            </a:r>
            <a:r>
              <a:rPr lang="en-GB" sz="1500" b="0"/>
              <a:t>   </a:t>
            </a:r>
            <a:r>
              <a:rPr lang="en-GB" sz="15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    </a:t>
            </a:r>
            <a:r>
              <a:rPr sz="15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Original Image</a:t>
            </a:r>
            <a:r>
              <a:rPr lang="en-GB" sz="1500" b="0">
                <a:latin typeface="Times New Roman"/>
                <a:ea typeface="Times New Roman"/>
                <a:cs typeface="Times New Roman"/>
              </a:rPr>
              <a:t>                       </a:t>
            </a:r>
            <a:r>
              <a:rPr sz="15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Resized (</a:t>
            </a:r>
            <a:r>
              <a:rPr lang="en-GB" sz="15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512</a:t>
            </a:r>
            <a:r>
              <a:rPr sz="15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× </a:t>
            </a:r>
            <a:r>
              <a:rPr lang="en-GB" sz="15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512</a:t>
            </a:r>
            <a:r>
              <a:rPr sz="15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  <a:r>
              <a:rPr lang="en-GB" sz="1500" b="0">
                <a:latin typeface="Times New Roman"/>
                <a:ea typeface="Times New Roman"/>
                <a:cs typeface="Times New Roman"/>
              </a:rPr>
              <a:t> Image     </a:t>
            </a:r>
            <a:r>
              <a:rPr lang="en-GB" sz="15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sz="15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LAHE Enhanced Image(512×512)</a:t>
            </a:r>
            <a:r>
              <a:rPr lang="en-GB" sz="1500" b="0">
                <a:latin typeface="Times New Roman"/>
                <a:ea typeface="Times New Roman"/>
                <a:cs typeface="Times New Roman"/>
              </a:rPr>
              <a:t>     </a:t>
            </a:r>
            <a:r>
              <a:rPr sz="15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Segmented Lung Image(224×224)</a:t>
            </a:r>
            <a:b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</a:br>
            <a:endParaRPr sz="1600"/>
          </a:p>
        </p:txBody>
      </p:sp>
      <p:pic>
        <p:nvPicPr>
          <p:cNvPr id="568820818" name="Picture 10084520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18467" y="1370032"/>
            <a:ext cx="2695412" cy="2622636"/>
          </a:xfrm>
          <a:prstGeom prst="rect">
            <a:avLst/>
          </a:prstGeom>
        </p:spPr>
      </p:pic>
      <p:pic>
        <p:nvPicPr>
          <p:cNvPr id="1500706392" name="Picture 1838301143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616643" y="1705331"/>
            <a:ext cx="2231199" cy="2389894"/>
          </a:xfrm>
          <a:prstGeom prst="rect">
            <a:avLst/>
          </a:prstGeom>
        </p:spPr>
      </p:pic>
      <p:pic>
        <p:nvPicPr>
          <p:cNvPr id="1930792561" name="Picture 1481294750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931310" y="1705331"/>
            <a:ext cx="2333038" cy="2333038"/>
          </a:xfrm>
          <a:prstGeom prst="rect">
            <a:avLst/>
          </a:prstGeom>
        </p:spPr>
      </p:pic>
      <p:pic>
        <p:nvPicPr>
          <p:cNvPr id="1363947927" name="Picture 670359203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9472808" y="1961626"/>
            <a:ext cx="2133599" cy="21335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82753892" name="Picture 1680414898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28319" y="875472"/>
            <a:ext cx="5386422" cy="5468394"/>
          </a:xfrm>
          <a:prstGeom prst="rect">
            <a:avLst/>
          </a:prstGeom>
        </p:spPr>
      </p:pic>
      <p:pic>
        <p:nvPicPr>
          <p:cNvPr id="2121716230" name="Picture 1338906279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318639" y="967447"/>
            <a:ext cx="5629890" cy="53452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64925509" name="Picture 1362155746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37044" y="880843"/>
            <a:ext cx="4754822" cy="5446703"/>
          </a:xfrm>
          <a:prstGeom prst="rect">
            <a:avLst/>
          </a:prstGeom>
        </p:spPr>
      </p:pic>
      <p:pic>
        <p:nvPicPr>
          <p:cNvPr id="1724348366" name="Picture 1428981188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510924" y="1069747"/>
            <a:ext cx="3314700" cy="24860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82530371" name="Picture 96078422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34517" y="798239"/>
            <a:ext cx="9984719" cy="58065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96482471" name="Picture 126036144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89527" y="823702"/>
            <a:ext cx="9259283" cy="540969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38750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30392" y="96961"/>
            <a:ext cx="4134573" cy="458474"/>
          </a:xfrm>
        </p:spPr>
        <p:txBody>
          <a:bodyPr/>
          <a:lstStyle/>
          <a:p>
            <a:pPr>
              <a:defRPr/>
            </a:pPr>
            <a:r>
              <a:rPr lang="en-US" sz="2600">
                <a:latin typeface="Times New Roman"/>
                <a:cs typeface="Times New Roman"/>
              </a:rPr>
              <a:t>BASE LINE COMPARISION</a:t>
            </a:r>
            <a:endParaRPr lang="en-IN" sz="2600">
              <a:latin typeface="Times New Roman"/>
              <a:cs typeface="Times New Roman"/>
            </a:endParaRPr>
          </a:p>
        </p:txBody>
      </p:sp>
      <p:graphicFrame>
        <p:nvGraphicFramePr>
          <p:cNvPr id="698196434" name="Table 10"/>
          <p:cNvGraphicFramePr>
            <a:graphicFrameLocks xmlns:a="http://schemas.openxmlformats.org/drawingml/2006/main" noGrp="1"/>
          </p:cNvGraphicFramePr>
          <p:nvPr/>
        </p:nvGraphicFramePr>
        <p:xfrm rot="0">
          <a:off x="3171039" y="615049"/>
          <a:ext cx="6635835" cy="5957242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207712"/>
                <a:gridCol w="2207712"/>
                <a:gridCol w="2207712"/>
              </a:tblGrid>
              <a:tr h="436726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Feature / Component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Existing / Baseline System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Proposed System</a:t>
                      </a:r>
                      <a:endParaRPr/>
                    </a:p>
                  </a:txBody>
                  <a:tcPr anchor="ctr"/>
                </a:tc>
              </a:tr>
              <a:tr h="321374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 b="1">
                          <a:latin typeface="Times New Roman"/>
                          <a:cs typeface="Times New Roman"/>
                        </a:rPr>
                        <a:t>Input Image</a:t>
                      </a:r>
                      <a:endParaRPr lang="en-IN" sz="12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Complete chest X-ray image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Preprocessed chest X-ray image</a:t>
                      </a:r>
                      <a:endParaRPr/>
                    </a:p>
                  </a:txBody>
                  <a:tcPr anchor="ctr"/>
                </a:tc>
              </a:tr>
              <a:tr h="424600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 b="1">
                          <a:latin typeface="Times New Roman"/>
                          <a:cs typeface="Times New Roman"/>
                        </a:rPr>
                        <a:t>Image Preprocessing</a:t>
                      </a:r>
                      <a:endParaRPr lang="en-IN" sz="12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Basic preprocessing / direct input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Resizing + CLAHE enhancement</a:t>
                      </a:r>
                      <a:endParaRPr/>
                    </a:p>
                  </a:txBody>
                  <a:tcPr anchor="ctr"/>
                </a:tc>
              </a:tr>
              <a:tr h="327400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 b="1">
                          <a:latin typeface="Times New Roman"/>
                          <a:cs typeface="Times New Roman"/>
                        </a:rPr>
                        <a:t>Lung Segmentation</a:t>
                      </a:r>
                      <a:endParaRPr lang="en-IN" sz="12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 Not performed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 Lung region explicitly segmented</a:t>
                      </a:r>
                      <a:endParaRPr/>
                    </a:p>
                  </a:txBody>
                  <a:tcPr anchor="ctr"/>
                </a:tc>
              </a:tr>
              <a:tr h="262036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 b="1">
                          <a:latin typeface="Times New Roman"/>
                          <a:cs typeface="Times New Roman"/>
                        </a:rPr>
                        <a:t>Classification Model</a:t>
                      </a:r>
                      <a:endParaRPr lang="en-IN" sz="12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CoAtNet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CoAtNet</a:t>
                      </a:r>
                      <a:endParaRPr/>
                    </a:p>
                  </a:txBody>
                  <a:tcPr anchor="ctr"/>
                </a:tc>
              </a:tr>
              <a:tr h="315880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GB" sz="1200" b="1">
                          <a:latin typeface="Times New Roman"/>
                          <a:cs typeface="Times New Roman"/>
                        </a:rPr>
                        <a:t>Accuracy</a:t>
                      </a:r>
                      <a:endParaRPr lang="en-IN" sz="12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GB" sz="1200">
                          <a:latin typeface="Times New Roman"/>
                          <a:cs typeface="Times New Roman"/>
                        </a:rPr>
                        <a:t>86.39 %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GB" sz="1200">
                          <a:latin typeface="Times New Roman"/>
                          <a:cs typeface="Times New Roman"/>
                        </a:rPr>
                        <a:t>89.26 %</a:t>
                      </a:r>
                      <a:endParaRPr/>
                    </a:p>
                  </a:txBody>
                  <a:tcPr anchor="ctr"/>
                </a:tc>
              </a:tr>
              <a:tr h="262036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 b="1">
                          <a:latin typeface="Times New Roman"/>
                          <a:cs typeface="Times New Roman"/>
                        </a:rPr>
                        <a:t>Explainability Method</a:t>
                      </a:r>
                      <a:endParaRPr lang="en-IN" sz="12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LIME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Grad-CAM++</a:t>
                      </a:r>
                      <a:endParaRPr/>
                    </a:p>
                  </a:txBody>
                  <a:tcPr anchor="ctr"/>
                </a:tc>
              </a:tr>
              <a:tr h="436726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 b="1">
                          <a:latin typeface="Times New Roman"/>
                          <a:cs typeface="Times New Roman"/>
                        </a:rPr>
                        <a:t>Visual Heatmap</a:t>
                      </a:r>
                      <a:endParaRPr lang="en-IN" sz="12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No gradient-based class activation heatmap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 Class-specific Grad-CAM++ heatmap</a:t>
                      </a:r>
                      <a:endParaRPr/>
                    </a:p>
                  </a:txBody>
                  <a:tcPr anchor="ctr"/>
                </a:tc>
              </a:tr>
              <a:tr h="611005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 b="1">
                          <a:latin typeface="Times New Roman"/>
                          <a:cs typeface="Times New Roman"/>
                        </a:rPr>
                        <a:t>Focus on Lung Region</a:t>
                      </a:r>
                      <a:endParaRPr lang="en-IN" sz="12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May consider irrelevant background regions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 Focuses classification on segmented lung region</a:t>
                      </a:r>
                      <a:endParaRPr/>
                    </a:p>
                  </a:txBody>
                  <a:tcPr anchor="ctr"/>
                </a:tc>
              </a:tr>
              <a:tr h="436726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 b="1">
                          <a:latin typeface="Times New Roman"/>
                          <a:cs typeface="Times New Roman"/>
                        </a:rPr>
                        <a:t>Prediction Confidence</a:t>
                      </a:r>
                      <a:endParaRPr lang="en-IN" sz="12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Available as model output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 Presented in the diagnostic report</a:t>
                      </a:r>
                      <a:endParaRPr/>
                    </a:p>
                  </a:txBody>
                  <a:tcPr anchor="ctr"/>
                </a:tc>
              </a:tr>
              <a:tr h="436726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 b="1">
                          <a:latin typeface="Times New Roman"/>
                          <a:cs typeface="Times New Roman"/>
                        </a:rPr>
                        <a:t>AI-Assisted Report</a:t>
                      </a:r>
                      <a:endParaRPr lang="en-IN" sz="12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Not integrated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Integrated structured diagnostic report</a:t>
                      </a:r>
                      <a:endParaRPr/>
                    </a:p>
                  </a:txBody>
                  <a:tcPr anchor="ctr"/>
                </a:tc>
              </a:tr>
              <a:tr h="436726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 b="1">
                          <a:latin typeface="Times New Roman"/>
                          <a:cs typeface="Times New Roman"/>
                        </a:rPr>
                        <a:t>Unified Output</a:t>
                      </a:r>
                      <a:endParaRPr lang="en-IN" sz="12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Prediction + separate explanation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Prediction + confidence + heatmap + report</a:t>
                      </a:r>
                      <a:endParaRPr/>
                    </a:p>
                  </a:txBody>
                  <a:tcPr anchor="ctr"/>
                </a:tc>
              </a:tr>
              <a:tr h="436726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 b="1">
                          <a:latin typeface="Times New Roman"/>
                          <a:cs typeface="Times New Roman"/>
                        </a:rPr>
                        <a:t>Interpretability</a:t>
                      </a:r>
                      <a:endParaRPr lang="en-IN" sz="12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Local feature-based explanation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Class-specific visual explanation</a:t>
                      </a:r>
                      <a:endParaRPr/>
                    </a:p>
                  </a:txBody>
                  <a:tcPr anchor="ctr"/>
                </a:tc>
              </a:tr>
              <a:tr h="436726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 b="1">
                          <a:latin typeface="Times New Roman"/>
                          <a:cs typeface="Times New Roman"/>
                        </a:rPr>
                        <a:t>Diagnostic Support</a:t>
                      </a:r>
                      <a:endParaRPr lang="en-IN" sz="12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Limited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sz="1200">
                          <a:latin typeface="Times New Roman"/>
                          <a:cs typeface="Times New Roman"/>
                        </a:rPr>
                        <a:t>Enhanced with visual and structured reporting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0210523" name="Title 1"/>
          <p:cNvSpPr>
            <a:spLocks noGrp="1"/>
          </p:cNvSpPr>
          <p:nvPr>
            <p:ph type="title"/>
          </p:nvPr>
        </p:nvSpPr>
        <p:spPr bwMode="auto">
          <a:xfrm>
            <a:off x="3883784" y="-74128"/>
            <a:ext cx="10972800" cy="1143000"/>
          </a:xfrm>
        </p:spPr>
        <p:txBody>
          <a:bodyPr/>
          <a:lstStyle/>
          <a:p>
            <a:pPr>
              <a:defRPr/>
            </a:pPr>
            <a:r>
              <a:rPr lang="en-IN" sz="2600">
                <a:latin typeface="Times New Roman"/>
                <a:cs typeface="Times New Roman"/>
              </a:rPr>
              <a:t>      COMPLEXITY &amp; COST</a:t>
            </a:r>
            <a:endParaRPr/>
          </a:p>
        </p:txBody>
      </p:sp>
      <p:graphicFrame>
        <p:nvGraphicFramePr>
          <p:cNvPr id="930384399" name="Table 3"/>
          <p:cNvGraphicFramePr>
            <a:graphicFrameLocks xmlns:a="http://schemas.openxmlformats.org/drawingml/2006/main" noGrp="1"/>
          </p:cNvGraphicFramePr>
          <p:nvPr/>
        </p:nvGraphicFramePr>
        <p:xfrm rot="0">
          <a:off x="2145211" y="1414779"/>
          <a:ext cx="8128000" cy="402844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4000"/>
                <a:gridCol w="4064000"/>
              </a:tblGrid>
              <a:tr h="370840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>
                          <a:latin typeface="Times New Roman"/>
                          <a:cs typeface="Times New Roman"/>
                        </a:rPr>
                        <a:t>Aspect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>
                          <a:latin typeface="Times New Roman"/>
                          <a:cs typeface="Times New Roman"/>
                        </a:rPr>
                        <a:t>Proposed System</a:t>
                      </a:r>
                      <a:endParaRPr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b="1">
                          <a:latin typeface="Times New Roman"/>
                          <a:cs typeface="Times New Roman"/>
                        </a:rPr>
                        <a:t>Computational Complexity</a:t>
                      </a:r>
                      <a:endParaRPr lang="en-IN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>
                          <a:latin typeface="Times New Roman"/>
                          <a:cs typeface="Times New Roman"/>
                        </a:rPr>
                        <a:t>Uses CoAtNet, lung segmentation, CLAHE, and Grad-CAM++, making the system moderately computationally intensive during training.</a:t>
                      </a:r>
                      <a:endParaRPr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b="1">
                          <a:latin typeface="Times New Roman"/>
                          <a:cs typeface="Times New Roman"/>
                        </a:rPr>
                        <a:t>Implementation Complexity</a:t>
                      </a:r>
                      <a:endParaRPr lang="en-IN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>
                          <a:latin typeface="Times New Roman"/>
                          <a:cs typeface="Times New Roman"/>
                        </a:rPr>
                        <a:t>Requires multiple stages: preprocessing, segmentation, classification, explainability, and report generation.</a:t>
                      </a:r>
                      <a:endParaRPr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b="1">
                          <a:latin typeface="Times New Roman"/>
                          <a:cs typeface="Times New Roman"/>
                        </a:rPr>
                        <a:t>Hardware Cost</a:t>
                      </a:r>
                      <a:endParaRPr lang="en-IN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>
                          <a:latin typeface="Times New Roman"/>
                          <a:cs typeface="Times New Roman"/>
                        </a:rPr>
                        <a:t>Training may require GPU resources, but inference can be performed on a standard computer with suitable computational resources.</a:t>
                      </a:r>
                      <a:endParaRPr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b="1">
                          <a:latin typeface="Times New Roman"/>
                          <a:cs typeface="Times New Roman"/>
                        </a:rPr>
                        <a:t>Development Cost</a:t>
                      </a:r>
                      <a:endParaRPr lang="en-IN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>
                          <a:latin typeface="Times New Roman"/>
                          <a:cs typeface="Times New Roman"/>
                        </a:rPr>
                        <a:t>Primarily relies on open-source deep learning frameworks and software, reducing development and licensing costs.</a:t>
                      </a:r>
                      <a:endParaRPr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 b="1">
                          <a:latin typeface="Times New Roman"/>
                          <a:cs typeface="Times New Roman"/>
                        </a:rPr>
                        <a:t>Operational Cost</a:t>
                      </a:r>
                      <a:endParaRPr lang="en-IN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>
                        <a:buNone/>
                        <a:defRPr/>
                      </a:pPr>
                      <a:r>
                        <a:rPr lang="en-IN">
                          <a:latin typeface="Times New Roman"/>
                          <a:cs typeface="Times New Roman"/>
                        </a:rPr>
                        <a:t>Once trained, the model can provide automated predictions without requiring extensive manual processing for every X-ray.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626675" name="Title 1"/>
          <p:cNvSpPr>
            <a:spLocks noGrp="1"/>
          </p:cNvSpPr>
          <p:nvPr>
            <p:ph type="title"/>
          </p:nvPr>
        </p:nvSpPr>
        <p:spPr bwMode="auto">
          <a:xfrm>
            <a:off x="2181138" y="-251495"/>
            <a:ext cx="9384484" cy="1143000"/>
          </a:xfrm>
        </p:spPr>
        <p:txBody>
          <a:bodyPr/>
          <a:lstStyle/>
          <a:p>
            <a:pPr>
              <a:defRPr/>
            </a:pPr>
            <a:r>
              <a:rPr lang="en-IN" sz="2600">
                <a:latin typeface="Times New Roman"/>
                <a:cs typeface="Times New Roman"/>
              </a:rPr>
              <a:t>RELEVANCE TO ENVIRONMENT  &amp; SUSTAINABILITY</a:t>
            </a:r>
            <a:endParaRPr/>
          </a:p>
        </p:txBody>
      </p:sp>
      <p:sp>
        <p:nvSpPr>
          <p:cNvPr id="1852437587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1054216" y="965547"/>
            <a:ext cx="10972800" cy="5323561"/>
          </a:xfrm>
        </p:spPr>
        <p:txBody>
          <a:bodyPr/>
          <a:lstStyle/>
          <a:p>
            <a:pPr marL="137160" indent="0">
              <a:buNone/>
              <a:defRPr/>
            </a:pPr>
            <a:r>
              <a:rPr lang="en-IN" b="1">
                <a:latin typeface="Times New Roman"/>
                <a:cs typeface="Times New Roman"/>
              </a:rPr>
              <a:t>Relevance to Environment</a:t>
            </a:r>
            <a:endParaRPr/>
          </a:p>
          <a:p>
            <a:pPr lvl="0">
              <a:defRPr/>
            </a:pPr>
            <a:r>
              <a:rPr lang="en-IN">
                <a:latin typeface="Times New Roman"/>
                <a:cs typeface="Times New Roman"/>
              </a:rPr>
              <a:t>Supports paperless digital diagnosis. </a:t>
            </a:r>
            <a:endParaRPr/>
          </a:p>
          <a:p>
            <a:pPr lvl="0">
              <a:defRPr/>
            </a:pPr>
            <a:r>
              <a:rPr lang="en-IN">
                <a:latin typeface="Times New Roman"/>
                <a:cs typeface="Times New Roman"/>
              </a:rPr>
              <a:t>Reduces unnecessary manual processing and resource usage. </a:t>
            </a:r>
            <a:endParaRPr/>
          </a:p>
          <a:p>
            <a:pPr marL="137160" indent="0">
              <a:buNone/>
              <a:defRPr/>
            </a:pPr>
            <a:endParaRPr lang="en-IN" b="1">
              <a:latin typeface="Times New Roman"/>
              <a:cs typeface="Times New Roman"/>
            </a:endParaRPr>
          </a:p>
          <a:p>
            <a:pPr marL="137160" indent="0">
              <a:buNone/>
              <a:defRPr/>
            </a:pPr>
            <a:r>
              <a:rPr lang="en-IN" b="1">
                <a:latin typeface="Times New Roman"/>
                <a:cs typeface="Times New Roman"/>
              </a:rPr>
              <a:t>Sustainability</a:t>
            </a:r>
            <a:endParaRPr/>
          </a:p>
          <a:p>
            <a:pPr lvl="0">
              <a:defRPr/>
            </a:pPr>
            <a:r>
              <a:rPr lang="en-IN">
                <a:latin typeface="Times New Roman"/>
                <a:cs typeface="Times New Roman"/>
              </a:rPr>
              <a:t>Scalable and reusable for large-scale TB screening. </a:t>
            </a:r>
            <a:endParaRPr/>
          </a:p>
          <a:p>
            <a:pPr lvl="0">
              <a:defRPr/>
            </a:pPr>
            <a:r>
              <a:rPr lang="en-IN">
                <a:latin typeface="Times New Roman"/>
                <a:cs typeface="Times New Roman"/>
              </a:rPr>
              <a:t>Low operational cost after model development.</a:t>
            </a:r>
            <a:endParaRPr/>
          </a:p>
          <a:p>
            <a:pPr marL="137159" indent="0">
              <a:buClr>
                <a:schemeClr val="dk1"/>
              </a:buClr>
              <a:buSzPts val="1440"/>
              <a:buFont typeface="Noto Sans Symbols"/>
              <a:buNone/>
              <a:defRPr/>
            </a:pPr>
            <a:endParaRPr lang="en-IN">
              <a:latin typeface="Times New Roman"/>
              <a:cs typeface="Times New Roman"/>
            </a:endParaRPr>
          </a:p>
          <a:p>
            <a:pPr marL="137159" indent="0">
              <a:lnSpc>
                <a:spcPct val="114999"/>
              </a:lnSpc>
              <a:buClr>
                <a:schemeClr val="dk1"/>
              </a:buClr>
              <a:buSzPts val="1440"/>
              <a:buFont typeface="Noto Sans Symbols"/>
              <a:buNone/>
              <a:defRPr/>
            </a:pPr>
            <a:r>
              <a:rPr lang="en-IN" sz="2000" b="1" i="0" u="none" strike="noStrike" cap="none" spc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lang="en-GB" sz="2000" b="1" i="0" u="none" strike="noStrike" cap="none" spc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DG Goal Mapping</a:t>
            </a:r>
            <a:endParaRPr lang="en-GB" sz="2000" b="1" i="0" u="none" strike="noStrike" cap="none" spc="0">
              <a:solidFill>
                <a:schemeClr val="dk1"/>
              </a:solidFill>
              <a:latin typeface="Times New Roman"/>
              <a:cs typeface="Times New Roman"/>
            </a:endParaRPr>
          </a:p>
          <a:p>
            <a:pPr marL="137159" indent="0">
              <a:lnSpc>
                <a:spcPct val="114999"/>
              </a:lnSpc>
              <a:buClr>
                <a:schemeClr val="dk1"/>
              </a:buClr>
              <a:buSzPts val="1440"/>
              <a:buFont typeface="Noto Sans Symbols"/>
              <a:buNone/>
              <a:defRPr/>
            </a:pPr>
            <a:r>
              <a:rPr sz="20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SDG 3 – Good Health and Well-being</a:t>
            </a:r>
            <a:endParaRPr sz="2000" b="1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137159" indent="0">
              <a:lnSpc>
                <a:spcPct val="114999"/>
              </a:lnSpc>
              <a:buClr>
                <a:schemeClr val="dk1"/>
              </a:buClr>
              <a:buSzPts val="1440"/>
              <a:buFont typeface="Noto Sans Symbols"/>
              <a:buNone/>
              <a:defRPr/>
            </a:pP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proposed AI-based Tuberculosis detection system analyzes Chest X-ray images using deep learning to support early and automated identification of Tuberculosis, contributing to improved diagnostic support and better healthcare outcomes.</a:t>
            </a:r>
            <a:endParaRPr lang="en-IN" sz="2000" b="1" i="0" u="none" strike="noStrike" cap="none" spc="0">
              <a:solidFill>
                <a:schemeClr val="dk1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558185" name="Title 1"/>
          <p:cNvSpPr>
            <a:spLocks noGrp="1"/>
          </p:cNvSpPr>
          <p:nvPr>
            <p:ph type="ctrTitle"/>
          </p:nvPr>
        </p:nvSpPr>
        <p:spPr bwMode="auto">
          <a:xfrm>
            <a:off x="4470399" y="2936556"/>
            <a:ext cx="10363199" cy="492442"/>
          </a:xfrm>
        </p:spPr>
        <p:txBody>
          <a:bodyPr/>
          <a:lstStyle/>
          <a:p>
            <a:pPr>
              <a:defRPr/>
            </a:pPr>
            <a:r>
              <a:rPr lang="en-US">
                <a:latin typeface="Times New Roman"/>
                <a:cs typeface="Times New Roman"/>
              </a:rPr>
              <a:t>THANK YOU</a:t>
            </a:r>
            <a:endParaRPr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Flow">
  <a:themeElements>
    <a:clrScheme name="Flow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ONLYOFFICE/9.2.1.43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Danush Prakash</dc:creator>
  <cp:lastModifiedBy/>
  <cp:revision>37</cp:revision>
  <dcterms:modified xsi:type="dcterms:W3CDTF">2026-09-09T09:03:01Z</dcterms:modified>
</cp:coreProperties>
</file>