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5" d="100"/>
          <a:sy n="75" d="100"/>
        </p:scale>
        <p:origin x="946" y="403"/>
      </p:cViewPr>
      <p:guideLst>
        <p:guide pos="2880" orient="horz"/>
        <p:guide pos="216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943517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73307111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93527904" name="Google Shape;5;n"/>
          <p:cNvSpPr>
            <a:spLocks noChangeAspect="1" noGrp="1" noRot="1"/>
          </p:cNvSpPr>
          <p:nvPr>
            <p:ph type="sldImg" idx="3"/>
          </p:nvPr>
        </p:nvSpPr>
        <p:spPr bwMode="auto"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92487440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1219200" y="3300413"/>
            <a:ext cx="9753600" cy="2700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41514040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39747343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35272" name="Google Shape;115;g372815142fa_4_7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55065663" name="Google Shape;116;g372815142fa_4_70:notes"/>
          <p:cNvSpPr txBox="1">
            <a:spLocks noGrp="1"/>
          </p:cNvSpPr>
          <p:nvPr>
            <p:ph type="body" idx="1"/>
          </p:nvPr>
        </p:nvSpPr>
        <p:spPr bwMode="auto"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1277863656" name="Google Shape;117;g372815142fa_4_70:notes"/>
          <p:cNvSpPr txBox="1">
            <a:spLocks noGrp="1"/>
          </p:cNvSpPr>
          <p:nvPr>
            <p:ph type="dt" idx="10"/>
          </p:nvPr>
        </p:nvSpPr>
        <p:spPr bwMode="auto">
          <a:xfrm>
            <a:off x="6905979" y="0"/>
            <a:ext cx="52832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8528562" name="Google Shape;118;g372815142fa_4_70:notes"/>
          <p:cNvSpPr txBox="1">
            <a:spLocks noGrp="1"/>
          </p:cNvSpPr>
          <p:nvPr>
            <p:ph type="ftr" idx="11"/>
          </p:nvPr>
        </p:nvSpPr>
        <p:spPr bwMode="auto">
          <a:xfrm>
            <a:off x="0" y="6513909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1-59</a:t>
            </a:r>
            <a:endParaRPr/>
          </a:p>
        </p:txBody>
      </p:sp>
      <p:sp>
        <p:nvSpPr>
          <p:cNvPr id="497822925" name="Google Shape;119;g372815142fa_4_70:notes"/>
          <p:cNvSpPr txBox="1">
            <a:spLocks noGrp="1"/>
          </p:cNvSpPr>
          <p:nvPr>
            <p:ph type="sldNum" idx="12"/>
          </p:nvPr>
        </p:nvSpPr>
        <p:spPr bwMode="auto">
          <a:xfrm>
            <a:off x="6905979" y="6513909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972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716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62434-824F-9A6D-46C2-095078EE82E4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308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6017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357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060CA5-BBBE-2B58-2928-7093168DBECE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744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3723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622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3046CF-E456-81C6-6072-CC29D6EC9C19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311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881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631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C06FCC-D445-68D1-A3ED-4FBCB4088D10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864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2516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828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AB2890-F5CA-B565-8D75-49ACEF7A05CD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1404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791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930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76F482-21CC-BD8C-F8F7-168596BF43AE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9736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5886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4468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1D78AF-6C86-1FFC-D7D0-C59562D152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0082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9911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185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5D8F34-7210-153C-9B02-4D7B7D3B1B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185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7925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99353686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7560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656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768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6DADBC-D465-60D1-2FBE-B41061F5EE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777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229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5347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F08F3B-0629-E204-EE8A-D993046509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384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1361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232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C55A5D-D703-7578-D92B-8B02BAC30D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FB7F4F-ADEF-B1D1-F7AA-FB884D4288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982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51836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834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A284A1-9CD2-F390-1AF0-4963EB81D1E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563864" name="Google Shape;49;p8"/>
          <p:cNvSpPr txBox="1">
            <a:spLocks noGrp="1"/>
          </p:cNvSpPr>
          <p:nvPr>
            <p:ph type="title"/>
          </p:nvPr>
        </p:nvSpPr>
        <p:spPr bwMode="auto"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1673767" name="Google Shape;50;p8"/>
          <p:cNvSpPr txBox="1">
            <a:spLocks noGrp="1"/>
          </p:cNvSpPr>
          <p:nvPr>
            <p:ph type="body" idx="1"/>
          </p:nvPr>
        </p:nvSpPr>
        <p:spPr bwMode="auto"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6529566" name="Google Shape;51;p8"/>
          <p:cNvSpPr txBox="1">
            <a:spLocks noGrp="1"/>
          </p:cNvSpPr>
          <p:nvPr>
            <p:ph type="body" idx="2"/>
          </p:nvPr>
        </p:nvSpPr>
        <p:spPr bwMode="auto"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0694599" name="Google Shape;52;p8"/>
          <p:cNvSpPr txBox="1">
            <a:spLocks noGrp="1"/>
          </p:cNvSpPr>
          <p:nvPr>
            <p:ph type="body" idx="3"/>
          </p:nvPr>
        </p:nvSpPr>
        <p:spPr bwMode="auto"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255098" name="Google Shape;53;p8"/>
          <p:cNvSpPr txBox="1">
            <a:spLocks noGrp="1"/>
          </p:cNvSpPr>
          <p:nvPr>
            <p:ph type="body" idx="4"/>
          </p:nvPr>
        </p:nvSpPr>
        <p:spPr bwMode="auto"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1659258" name="Google Shape;54;p8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2804121" name="Google Shape;55;p8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395900" name="Google Shape;62;p10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7470837" name="Google Shape;63;p10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85881" name="Google Shape;65;p11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84240412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13885168" name="Google Shape;67;p11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559975" name="Google Shape;68;p11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604965" name="Google Shape;70;p12"/>
          <p:cNvSpPr txBox="1">
            <a:spLocks noGrp="1"/>
          </p:cNvSpPr>
          <p:nvPr>
            <p:ph type="title"/>
          </p:nvPr>
        </p:nvSpPr>
        <p:spPr bwMode="auto">
          <a:xfrm>
            <a:off x="707136" y="1316736"/>
            <a:ext cx="10363200" cy="136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4570278" name="Google Shape;71;p12"/>
          <p:cNvSpPr txBox="1">
            <a:spLocks noGrp="1"/>
          </p:cNvSpPr>
          <p:nvPr>
            <p:ph type="body" idx="1"/>
          </p:nvPr>
        </p:nvSpPr>
        <p:spPr bwMode="auto"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1931117" name="Google Shape;72;p12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6725956" name="Google Shape;73;p12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797924" name="Google Shape;75;p13"/>
          <p:cNvSpPr txBox="1">
            <a:spLocks noGrp="1"/>
          </p:cNvSpPr>
          <p:nvPr>
            <p:ph type="title"/>
          </p:nvPr>
        </p:nvSpPr>
        <p:spPr bwMode="auto"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0010207" name="Google Shape;76;p13"/>
          <p:cNvSpPr txBox="1">
            <a:spLocks noGrp="1"/>
          </p:cNvSpPr>
          <p:nvPr>
            <p:ph type="body" idx="1"/>
          </p:nvPr>
        </p:nvSpPr>
        <p:spPr bwMode="auto"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4355721" name="Google Shape;77;p13"/>
          <p:cNvSpPr txBox="1">
            <a:spLocks noGrp="1"/>
          </p:cNvSpPr>
          <p:nvPr>
            <p:ph type="body" idx="2"/>
          </p:nvPr>
        </p:nvSpPr>
        <p:spPr bwMode="auto"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85496644" name="Google Shape;78;p13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4219678" name="Google Shape;79;p13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727827" name="Google Shape;81;p14"/>
          <p:cNvSpPr txBox="1">
            <a:spLocks noGrp="1"/>
          </p:cNvSpPr>
          <p:nvPr>
            <p:ph type="title"/>
          </p:nvPr>
        </p:nvSpPr>
        <p:spPr bwMode="auto"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4725908" name="Google Shape;82;p14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81876781" name="Google Shape;83;p14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706590" name="Google Shape;85;p15"/>
          <p:cNvSpPr txBox="1">
            <a:spLocks noGrp="1"/>
          </p:cNvSpPr>
          <p:nvPr>
            <p:ph type="title"/>
          </p:nvPr>
        </p:nvSpPr>
        <p:spPr bwMode="auto">
          <a:xfrm>
            <a:off x="914400" y="514351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4210461" name="Google Shape;86;p15"/>
          <p:cNvSpPr txBox="1">
            <a:spLocks noGrp="1"/>
          </p:cNvSpPr>
          <p:nvPr>
            <p:ph type="body" idx="1"/>
          </p:nvPr>
        </p:nvSpPr>
        <p:spPr bwMode="auto"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6388947" name="Google Shape;87;p15"/>
          <p:cNvSpPr txBox="1">
            <a:spLocks noGrp="1"/>
          </p:cNvSpPr>
          <p:nvPr>
            <p:ph type="body" idx="2"/>
          </p:nvPr>
        </p:nvSpPr>
        <p:spPr bwMode="auto">
          <a:xfrm>
            <a:off x="4766732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7451540" name="Google Shape;88;p15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3594387" name="Google Shape;89;p15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0181" name="Google Shape;91;p16"/>
          <p:cNvSpPr/>
          <p:nvPr/>
        </p:nvSpPr>
        <p:spPr bwMode="auto">
          <a:xfrm rot="-10380000" flipH="1">
            <a:off x="4220633" y="1108075"/>
            <a:ext cx="7010399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7044903" name="Google Shape;92;p16"/>
          <p:cNvSpPr/>
          <p:nvPr/>
        </p:nvSpPr>
        <p:spPr bwMode="auto">
          <a:xfrm rot="-10380000" flipH="1">
            <a:off x="10672233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303636" name="Google Shape;93;p16"/>
          <p:cNvSpPr/>
          <p:nvPr/>
        </p:nvSpPr>
        <p:spPr bwMode="auto"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fill="norm" stroke="1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921"/>
                </a:srgbClr>
              </a:gs>
              <a:gs pos="100000">
                <a:srgbClr val="00E9F7">
                  <a:alpha val="54117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6522499" name="Google Shape;94;p16"/>
          <p:cNvSpPr/>
          <p:nvPr/>
        </p:nvSpPr>
        <p:spPr bwMode="auto"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fill="norm" stroke="1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019"/>
                </a:srgbClr>
              </a:gs>
              <a:gs pos="80000">
                <a:srgbClr val="0099E4">
                  <a:alpha val="43921"/>
                </a:srgbClr>
              </a:gs>
              <a:gs pos="100000">
                <a:srgbClr val="0099E4">
                  <a:alpha val="4392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0724578" name="Google Shape;95;p16"/>
          <p:cNvSpPr txBox="1">
            <a:spLocks noGrp="1"/>
          </p:cNvSpPr>
          <p:nvPr>
            <p:ph type="title"/>
          </p:nvPr>
        </p:nvSpPr>
        <p:spPr bwMode="auto"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1390663" name="Google Shape;96;p16"/>
          <p:cNvSpPr txBox="1">
            <a:spLocks noGrp="1"/>
          </p:cNvSpPr>
          <p:nvPr>
            <p:ph type="body" idx="1"/>
          </p:nvPr>
        </p:nvSpPr>
        <p:spPr bwMode="auto"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66181262" name="Google Shape;97;p16"/>
          <p:cNvSpPr>
            <a:spLocks noGrp="1"/>
          </p:cNvSpPr>
          <p:nvPr>
            <p:ph type="pic" idx="2"/>
          </p:nvPr>
        </p:nvSpPr>
        <p:spPr bwMode="auto"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4093683" name="Google Shape;98;p16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5717121" name="Google Shape;99;p16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411180" name="Google Shape;101;p17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0227214" name="Google Shape;102;p17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01281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6670445" name="Google Shape;103;p17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6549792" name="Google Shape;104;p17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345921" name="Google Shape;106;p18"/>
          <p:cNvSpPr txBox="1">
            <a:spLocks noGrp="1"/>
          </p:cNvSpPr>
          <p:nvPr>
            <p:ph type="title"/>
          </p:nvPr>
        </p:nvSpPr>
        <p:spPr bwMode="auto"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5525953" name="Google Shape;107;p18"/>
          <p:cNvSpPr txBox="1">
            <a:spLocks noGrp="1"/>
          </p:cNvSpPr>
          <p:nvPr>
            <p:ph type="body" idx="1"/>
          </p:nvPr>
        </p:nvSpPr>
        <p:spPr bwMode="auto"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7335590" name="Google Shape;108;p18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86287367" name="Google Shape;109;p18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" preserve="0" showMasterPhAnim="0" showMasterSp="1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120665" name="Google Shape;111;p19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1220733" name="Google Shape;112;p19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9684908" name="Google Shape;113;p19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717626" name="Google Shape;45;p7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29731097" name="Google Shape;46;p7"/>
          <p:cNvSpPr txBox="1"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14629884" name="Google Shape;47;p7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346246" name="Google Shape;121;p20"/>
          <p:cNvSpPr txBox="1">
            <a:spLocks noGrp="1"/>
          </p:cNvSpPr>
          <p:nvPr>
            <p:ph type="body" idx="1"/>
          </p:nvPr>
        </p:nvSpPr>
        <p:spPr bwMode="auto"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  <a:defRPr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  <a:defRPr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pic>
        <p:nvPicPr>
          <p:cNvPr id="994072594" name="Google Shape;122;p20" descr="klogo copy.png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863825" name="Google Shape;125;p20"/>
          <p:cNvSpPr txBox="1"/>
          <p:nvPr/>
        </p:nvSpPr>
        <p:spPr bwMode="auto">
          <a:xfrm>
            <a:off x="5331609" y="1262410"/>
            <a:ext cx="5926545" cy="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9794176" name="Google Shape;126;p20"/>
          <p:cNvSpPr txBox="1">
            <a:spLocks noGrp="1"/>
          </p:cNvSpPr>
          <p:nvPr>
            <p:ph type="title"/>
          </p:nvPr>
        </p:nvSpPr>
        <p:spPr bwMode="auto">
          <a:xfrm>
            <a:off x="3094062" y="2980784"/>
            <a:ext cx="8653045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8255" marR="5080" indent="-1266190" algn="ctr">
              <a:defRPr/>
            </a:pPr>
            <a:br>
              <a:rPr lang="en-US" sz="2000" b="1">
                <a:solidFill>
                  <a:srgbClr val="FF0000"/>
                </a:solidFill>
                <a:latin typeface="Times New Roman"/>
                <a:cs typeface="Times New Roman"/>
              </a:rPr>
            </a:br>
            <a:r>
              <a:rPr lang="en-US" sz="2000" b="1">
                <a:solidFill>
                  <a:srgbClr val="FF0000"/>
                </a:solidFill>
                <a:latin typeface="Times New Roman"/>
                <a:cs typeface="Times New Roman"/>
              </a:rPr>
              <a:t>FIRST </a:t>
            </a:r>
            <a:r>
              <a:rPr lang="en-US" sz="2000" b="1">
                <a:solidFill>
                  <a:srgbClr val="FF0000"/>
                </a:solidFill>
              </a:rPr>
              <a:t>REVIEW </a:t>
            </a:r>
            <a:endParaRPr/>
          </a:p>
        </p:txBody>
      </p:sp>
      <p:sp>
        <p:nvSpPr>
          <p:cNvPr id="1943020126" name="TextBox 1"/>
          <p:cNvSpPr txBox="1"/>
          <p:nvPr/>
        </p:nvSpPr>
        <p:spPr bwMode="auto">
          <a:xfrm>
            <a:off x="5744364" y="1752192"/>
            <a:ext cx="4975481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2800">
                <a:latin typeface="Times New Roman"/>
                <a:ea typeface="Times New Roman"/>
                <a:cs typeface="Times New Roman"/>
              </a:rPr>
              <a:t>22CSP72 PROJECT WORK II</a:t>
            </a:r>
            <a:endParaRPr>
              <a:latin typeface="Times New Roman"/>
              <a:cs typeface="Times New Roman"/>
            </a:endParaRPr>
          </a:p>
        </p:txBody>
      </p:sp>
      <p:pic>
        <p:nvPicPr>
          <p:cNvPr id="810574710" name="Picture 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819881" y="165315"/>
            <a:ext cx="2573001" cy="1010822"/>
          </a:xfrm>
          <a:prstGeom prst="rect">
            <a:avLst/>
          </a:prstGeom>
        </p:spPr>
      </p:pic>
      <p:sp>
        <p:nvSpPr>
          <p:cNvPr id="1529783498" name="TextBox 5"/>
          <p:cNvSpPr txBox="1"/>
          <p:nvPr/>
        </p:nvSpPr>
        <p:spPr bwMode="auto">
          <a:xfrm>
            <a:off x="5182803" y="2501508"/>
            <a:ext cx="62263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Tuberculosis Detection from Chest X-Ray Images Using Deep Learning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934711776" name="object 3"/>
          <p:cNvSpPr txBox="1"/>
          <p:nvPr/>
        </p:nvSpPr>
        <p:spPr bwMode="auto">
          <a:xfrm>
            <a:off x="4953522" y="3873139"/>
            <a:ext cx="5549394" cy="1893929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lnSpc>
                <a:spcPct val="100000"/>
              </a:lnSpc>
              <a:spcBef>
                <a:spcPts val="124"/>
              </a:spcBef>
              <a:defRPr/>
            </a:pPr>
            <a:r>
              <a:rPr lang="en-IN" sz="2000" b="1" spc="-9">
                <a:latin typeface="Times New Roman"/>
                <a:cs typeface="Times New Roman"/>
              </a:rPr>
              <a:t>Team Number :</a:t>
            </a:r>
            <a:r>
              <a:rPr lang="en-GB" sz="2200">
                <a:latin typeface="Times New Roman"/>
                <a:cs typeface="Times New Roman"/>
              </a:rPr>
              <a:t> A22</a:t>
            </a:r>
            <a:endParaRPr lang="en-IN" sz="2000" b="1" spc="-9">
              <a:latin typeface="Times New Roman"/>
              <a:cs typeface="Times New Roman"/>
            </a:endParaRPr>
          </a:p>
          <a:p>
            <a:pPr marL="12699">
              <a:lnSpc>
                <a:spcPct val="100000"/>
              </a:lnSpc>
              <a:spcBef>
                <a:spcPts val="124"/>
              </a:spcBef>
              <a:defRPr/>
            </a:pPr>
            <a:r>
              <a:rPr lang="en-IN" sz="2000" b="1" spc="-9">
                <a:latin typeface="Times New Roman"/>
                <a:cs typeface="Times New Roman"/>
              </a:rPr>
              <a:t>Team Guide : </a:t>
            </a:r>
            <a:r>
              <a:rPr lang="en-IN" sz="2000" spc="-9">
                <a:latin typeface="Times New Roman"/>
                <a:cs typeface="Times New Roman"/>
              </a:rPr>
              <a:t>Dr. </a:t>
            </a:r>
            <a:r>
              <a:rPr lang="en-US" sz="2000" spc="-9">
                <a:latin typeface="Times New Roman"/>
                <a:cs typeface="Times New Roman"/>
              </a:rPr>
              <a:t>K. Venu ASP/CSE</a:t>
            </a:r>
            <a:endParaRPr lang="en-US" sz="2000">
              <a:latin typeface="Times New Roman"/>
              <a:cs typeface="Times New Roman"/>
            </a:endParaRPr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US" sz="2000" b="1">
                <a:latin typeface="Times New Roman"/>
                <a:cs typeface="Times New Roman"/>
              </a:rPr>
              <a:t>Team</a:t>
            </a:r>
            <a:r>
              <a:rPr lang="en-US" sz="2000" b="1" spc="-19">
                <a:latin typeface="Times New Roman"/>
                <a:cs typeface="Times New Roman"/>
              </a:rPr>
              <a:t> </a:t>
            </a:r>
            <a:r>
              <a:rPr lang="en-US" sz="2000" b="1" spc="-9">
                <a:latin typeface="Times New Roman"/>
                <a:cs typeface="Times New Roman"/>
              </a:rPr>
              <a:t>Members :</a:t>
            </a:r>
            <a:endParaRPr/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IN" sz="2000" b="1" spc="-9">
                <a:latin typeface="Times New Roman"/>
                <a:cs typeface="Times New Roman"/>
              </a:rPr>
              <a:t>		</a:t>
            </a:r>
            <a:r>
              <a:rPr lang="en-IN" sz="2000" spc="-9">
                <a:latin typeface="Times New Roman"/>
                <a:cs typeface="Times New Roman"/>
              </a:rPr>
              <a:t>Abinandhana</a:t>
            </a:r>
            <a:r>
              <a:rPr lang="en-IN" sz="2000" spc="-9">
                <a:latin typeface="Times New Roman"/>
                <a:cs typeface="Times New Roman"/>
              </a:rPr>
              <a:t> S G (23CSR008)</a:t>
            </a:r>
            <a:endParaRPr/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IN" sz="2000" spc="-9">
                <a:latin typeface="Times New Roman"/>
                <a:cs typeface="Times New Roman"/>
              </a:rPr>
              <a:t>		</a:t>
            </a:r>
            <a:r>
              <a:rPr lang="en-IN" sz="2000" spc="-9">
                <a:latin typeface="Times New Roman"/>
                <a:cs typeface="Times New Roman"/>
              </a:rPr>
              <a:t>Anbuselvam</a:t>
            </a:r>
            <a:r>
              <a:rPr lang="en-IN" sz="2000" spc="-9">
                <a:latin typeface="Times New Roman"/>
                <a:cs typeface="Times New Roman"/>
              </a:rPr>
              <a:t> N     (23CSR018)</a:t>
            </a:r>
            <a:endParaRPr/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IN" sz="2000" spc="-9">
                <a:latin typeface="Times New Roman"/>
                <a:cs typeface="Times New Roman"/>
              </a:rPr>
              <a:t>		Gobika R (23CSR062)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341783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4107839" y="252085"/>
            <a:ext cx="6095999" cy="602022"/>
          </a:xfrm>
          <a:prstGeom prst="rect">
            <a:avLst/>
          </a:prstGeom>
        </p:spPr>
        <p:txBody>
          <a:bodyPr vert="horz" wrap="square" lIns="0" tIns="199960" rIns="0" bIns="0" rtlCol="0">
            <a:spAutoFit/>
          </a:bodyPr>
          <a:lstStyle/>
          <a:p>
            <a:pPr marL="12699">
              <a:lnSpc>
                <a:spcPct val="100000"/>
              </a:lnSpc>
              <a:spcBef>
                <a:spcPts val="129"/>
              </a:spcBef>
              <a:defRPr/>
            </a:pPr>
            <a:r>
              <a:rPr lang="en-IN" sz="2600" spc="-19"/>
              <a:t>PROBLEM</a:t>
            </a:r>
            <a:r>
              <a:rPr lang="en-IN" sz="2600" spc="-199"/>
              <a:t> </a:t>
            </a:r>
            <a:r>
              <a:rPr lang="en-IN" sz="2600" spc="-9"/>
              <a:t>STATEMENT</a:t>
            </a:r>
            <a:endParaRPr sz="2600" spc="-9"/>
          </a:p>
        </p:txBody>
      </p:sp>
      <p:sp>
        <p:nvSpPr>
          <p:cNvPr id="271723122" name="TextBox 5"/>
          <p:cNvSpPr txBox="1"/>
          <p:nvPr/>
        </p:nvSpPr>
        <p:spPr bwMode="auto">
          <a:xfrm>
            <a:off x="1395694" y="1322994"/>
            <a:ext cx="9978885" cy="450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Tuberculosis remains a major global health challenge requiring early and accurate diagnosis.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Manual chest X-ray interpretation is time-consuming and depends on experienced radiologists.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existing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Enhanced CoAtNet-based TB detection model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performs automated classification but analyzes the entire chest X-ray image without explicitly focusing on the lung region. 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existing model uses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LIME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explainability, which provides local feature-based explanations but does not generate class-specific activation heatmaps. 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Therefore, an improved explainable AI framework integrating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lung segmentation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Enhanced CoAtNet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and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Grad-CAM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is proposed to improve interpretability and provide better diagnostic support.</a:t>
            </a: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455876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3588009" y="443855"/>
            <a:ext cx="6255173" cy="635299"/>
          </a:xfrm>
          <a:prstGeom prst="rect">
            <a:avLst/>
          </a:prstGeom>
        </p:spPr>
        <p:txBody>
          <a:bodyPr vert="horz" wrap="square" lIns="0" tIns="128775" rIns="0" bIns="0" rtlCol="0">
            <a:spAutoFit/>
          </a:bodyPr>
          <a:lstStyle/>
          <a:p>
            <a:pPr marL="1174749">
              <a:lnSpc>
                <a:spcPct val="100000"/>
              </a:lnSpc>
              <a:spcBef>
                <a:spcPts val="124"/>
              </a:spcBef>
              <a:defRPr/>
            </a:pPr>
            <a:r>
              <a:rPr lang="en-US" spc="-9">
                <a:latin typeface="Times New Roman"/>
                <a:cs typeface="Times New Roman"/>
              </a:rPr>
              <a:t>OBJECTIVES</a:t>
            </a:r>
            <a:endParaRPr spc="-9">
              <a:latin typeface="Times New Roman"/>
              <a:cs typeface="Times New Roman"/>
            </a:endParaRPr>
          </a:p>
        </p:txBody>
      </p:sp>
      <p:sp>
        <p:nvSpPr>
          <p:cNvPr id="1247010376" name="TextBox 5"/>
          <p:cNvSpPr txBox="1"/>
          <p:nvPr/>
        </p:nvSpPr>
        <p:spPr bwMode="auto">
          <a:xfrm>
            <a:off x="1611920" y="1516168"/>
            <a:ext cx="9659797" cy="450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Develop an automated Tuberculosis (TB) detection system using chest X-ray images.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Integrate the Shenzhen and Montgomery chest X-ray datasets for model development.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image preprocessing techniques such as resizing and CLAHE to enhance image quality.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Perform lung segmentation to extract the lung region and remove irrelevant background information.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 an Enhanced CoAtNet model for accurate TB classification.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Classify chest X-ray images into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Tuberculosis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Normal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categories. 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Integrate Grad-CAM to provide explainable visualizations of the model's predictions.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a diagnostic report displaying the predicted class, confidence score, and Grad-CAM heatmap.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 healthcare professionals in the early and reliable diagnosis of Tuberculosis</a:t>
            </a: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251303500" name="Table 2057513131"/>
          <p:cNvGraphicFramePr>
            <a:graphicFrameLocks xmlns:a="http://schemas.openxmlformats.org/drawingml/2006/main"/>
          </p:cNvGraphicFramePr>
          <p:nvPr/>
        </p:nvGraphicFramePr>
        <p:xfrm rot="0">
          <a:off x="1115737" y="679508"/>
          <a:ext cx="10967994" cy="591753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304366"/>
                <a:gridCol w="9663628"/>
              </a:tblGrid>
              <a:tr h="352822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5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Parameter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5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39791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5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Title</a:t>
                      </a:r>
                      <a:endParaRPr sz="1500"/>
                    </a:p>
                    <a:p>
                      <a:pPr algn="l">
                        <a:defRPr/>
                      </a:pPr>
                      <a:endParaRPr sz="1500" b="1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5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TB-CXRNet: Tuberculosis and Drug-Resistant Tuberculosis Detection Technique Using Chest X-ray Images</a:t>
                      </a:r>
                      <a:endParaRPr sz="1500"/>
                    </a:p>
                    <a:p>
                      <a:pPr algn="l">
                        <a:defRPr/>
                      </a:pPr>
                      <a:endParaRPr sz="1500" b="1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98959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Year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452787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 develop an automated deep learning framework for detecting Tuberculosis (TB), Non-TB lung infections, Healthy cases, and Drug-Resistant TB from chest X-ray images.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01853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Problem Addressed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Manual diagnosis of TB from chest X-rays is time-consuming, subjective, and requires experienced radiologists. Early detection of drug-resistant TB is also difficult using conventional diagnostic methods.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477955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Dataset Used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QU-MLG-TB dataset containing approximately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40,000 chest X-ray images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collected from multiple public and restricted sources. The dataset includes Healthy, Non-TB, TB, MDR-TB, and XDR-TB cases.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9687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Used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TB-CXRNet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a CNN-based deep learning architecture combined with a Multi-Layer Perceptron (MLP) classifier. For drug-resistant TB classification, CheXNet was used for feature extraction followed by PCA and machine learning classifiers.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460032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Explainable AI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Implemented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Score-CAM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to generate heatmaps highlighting the lung regions responsible for TB prediction, improving the transparency and interpretability of the model.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466007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Achieved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93.32% accuracy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Healthy, TB, and Non-TB classification,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87.48%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accuracy for Drug-Resistant vs Drug-Sensitive TB classification, and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79.59%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accuracy for MDR-TB, XDR-TB, and Sensitive TB classification.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39791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Large benchmark dataset, multi-class disease classification, detection of drug-resistant TB, integration of Explainable AI using Score-CAM, and strong classification performance.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9687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Limitations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Relies mainly on CNN-based feature extraction, making it less effective in capturing global contextual information. The model is computationally intensive due to multiple classification stages. It does not employ hybrid CNN-Transformer architectures such as CoAtNet.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870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 to Proposed Work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This paper demonstrates the importance of automated TB detection and Explainable AI. However, the proposed work aims to improve feature extraction by using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CoAtNet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incorporate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lung segmentation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replace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Score-CAM/LIME with Grad-CAM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and generate a more interpretable diagnostic framework suitable for clinical decision support.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592931586" name="Table 903603249"/>
          <p:cNvGraphicFramePr>
            <a:graphicFrameLocks xmlns:a="http://schemas.openxmlformats.org/drawingml/2006/main"/>
          </p:cNvGraphicFramePr>
          <p:nvPr/>
        </p:nvGraphicFramePr>
        <p:xfrm rot="0">
          <a:off x="989901" y="620785"/>
          <a:ext cx="11054687" cy="6039662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21934"/>
                <a:gridCol w="9632753"/>
              </a:tblGrid>
              <a:tr h="24237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Parameter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26705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Title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Ensemble Learning Based Automatic Detection of Tuberculosis in Chest X-ray Images Using Hybrid Feature Descriptors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2202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Year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2021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1986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 develop an automatic computer-aided diagnosis (CAD) system for tuberculosis detection by combining handcrafted features and deep learning features using ensemble learning.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74587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Problem Addressed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Existing TB detection methods showed limited accuracy due to the diverse manifestations of tuberculosis in chest X-ray images and dependence on manual interpretation by radiologists.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4722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Dataset Used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Montgomery County and Shenzhen Chest X-ray datasets containing normal and TB chest X-ray images. The model was evaluated using k-fold cross-validation.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2247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Used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Pre-trained CNN models (AlexNet, VGG16, VGG19, ResNet50, DenseNet201, InceptionV3, Xception) combined with handcrafted Gabor filter features using an Ensemble Learning approach.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26705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Explainable AI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used.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The model focused only on improving classification accuracy without providing visual explanations for predictions.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74587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Achieved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AUC of 0.99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on the Shenzhen dataset and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0.97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on the Montgomery dataset, demonstrating strong classification performance.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33545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Combined handcrafted and deep features to improve classification performance. Used ensemble learning for better robustness and achieved high detection accuracy with minimal preprocessing.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44056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Limitations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Explainable AI, no transformer-based architecture, no localization of TB regions, and limited evaluation on relatively small public datasets.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60839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 to Proposed Work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This paper demonstrates the effectiveness of ensemble learning for TB detection. However, the proposed work uses a more advanced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CoAtNet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hybrid architecture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integrates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Grad-CAM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explainability, and aims to provide a more interpretable and clinically useful TB detection system.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520530094" name="Table 1757777884"/>
          <p:cNvGraphicFramePr>
            <a:graphicFrameLocks xmlns:a="http://schemas.openxmlformats.org/drawingml/2006/main"/>
          </p:cNvGraphicFramePr>
          <p:nvPr/>
        </p:nvGraphicFramePr>
        <p:xfrm rot="0">
          <a:off x="1065402" y="713063"/>
          <a:ext cx="10913944" cy="5966248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347734"/>
                <a:gridCol w="9566211"/>
              </a:tblGrid>
              <a:tr h="23856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Parameter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1842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Title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Enhanced CoAtNet Based Hybrid Deep Learning Architecture for Automated Tuberculosis Detection in Human Chest X-Rays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219932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Year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11689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 develop an accurate and explainable hybrid deep learning model for automated tuberculosis detection by combining the strengths of CNNs and Vision Transformers.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6555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Problem Addressed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Traditional CNN models fail to capture global contextual information, while Vision Transformers require large datasets and high computational resources. There is also a need for more interpretable AI systems in medical imaging.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38619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Dataset Used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IN-CXR Tuberculosis dataset collected from ICMR-NIRT, containing normal and TB chest X-ray images. Image preprocessing included CLAHE, data augmentation, normalization, and oversampling.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126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Used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CoAtNet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a hybrid architecture combining Convolutional Neural Networks (CNNs) and Vision Transformers (ViTs), fine-tuned using transfer learning from ImageNet.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1842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Explainable AI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LIME (Local Interpretable Model-Agnostic Explanations)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was used to visualize the important regions influencing the model's predictions, improving transparency and interpretability.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6555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Achieved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86.39% classification accuracy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and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93.79% ROC-AUC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outperforming the CNN-only and Vision Transformer-only baseline models evaluated in the study.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2515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Hybrid architecture effectively captures both local and global image features. Includes Explainable AI using LIME and demonstrates better generalization than standalone CNN or ViT models.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43986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Limitations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not incorporate lung segmentation, relies on LIME instead of Grad-CAM, and does not generate an automated diagnostic report for clinicians.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5979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 to Proposed Work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This paper serves as the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base paper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the proposed research. The proposed work extends it by incorporating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lung segmentation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replacing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LIME with Grad-CAM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better localization of TB-affected regions, and adding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diagnostic report generation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to improve interpretability and clinical usability.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92088" name="Title 1"/>
          <p:cNvSpPr>
            <a:spLocks noGrp="1"/>
          </p:cNvSpPr>
          <p:nvPr>
            <p:ph type="title"/>
          </p:nvPr>
        </p:nvSpPr>
        <p:spPr bwMode="auto">
          <a:xfrm>
            <a:off x="4724399" y="601097"/>
            <a:ext cx="3555999" cy="492442"/>
          </a:xfrm>
        </p:spPr>
        <p:txBody>
          <a:bodyPr/>
          <a:lstStyle/>
          <a:p>
            <a:pPr>
              <a:defRPr/>
            </a:pPr>
            <a:r>
              <a:rPr lang="en-IN">
                <a:latin typeface="Times New Roman"/>
                <a:cs typeface="Times New Roman"/>
              </a:rPr>
              <a:t>RESEARCH GAP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61672996" name="TextBox 3"/>
          <p:cNvSpPr txBox="1"/>
          <p:nvPr/>
        </p:nvSpPr>
        <p:spPr bwMode="auto">
          <a:xfrm>
            <a:off x="1686168" y="1592370"/>
            <a:ext cx="9811949" cy="2668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Enhanced CoAtNet models classify the entire chest X-ray without lung segmentation.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LIME-based explanations provide limited visualization of the model's decision-making. 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Limited research integrates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lung segmentation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Enhanced CoAtNet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and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Grad-CAM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a single TB detection framework. </a:t>
            </a:r>
            <a:endParaRPr sz="2100"/>
          </a:p>
          <a:p>
            <a:pPr marL="272865" indent="-272865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Automatic diagnostic report generation is not included in the existing framework.</a:t>
            </a: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856701" name="Title 1"/>
          <p:cNvSpPr>
            <a:spLocks noGrp="1"/>
          </p:cNvSpPr>
          <p:nvPr>
            <p:ph type="title"/>
          </p:nvPr>
        </p:nvSpPr>
        <p:spPr bwMode="auto">
          <a:xfrm>
            <a:off x="685101" y="-259884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en-US" sz="3600">
                <a:latin typeface="Times New Roman"/>
                <a:cs typeface="Times New Roman"/>
              </a:rPr>
              <a:t>                              ARCHITECTURE DIAGRAM</a:t>
            </a:r>
            <a:endParaRPr lang="en-IN" sz="3600">
              <a:latin typeface="Times New Roman"/>
              <a:cs typeface="Times New Roman"/>
            </a:endParaRPr>
          </a:p>
        </p:txBody>
      </p:sp>
      <p:sp>
        <p:nvSpPr>
          <p:cNvPr id="2681674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0902" y="2214694"/>
            <a:ext cx="10441497" cy="4109907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pic>
        <p:nvPicPr>
          <p:cNvPr id="854662428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17072" y="1082180"/>
            <a:ext cx="10570128" cy="535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200130" name="Title 1"/>
          <p:cNvSpPr>
            <a:spLocks noGrp="1"/>
          </p:cNvSpPr>
          <p:nvPr>
            <p:ph type="title"/>
          </p:nvPr>
        </p:nvSpPr>
        <p:spPr bwMode="auto">
          <a:xfrm>
            <a:off x="1935061" y="-276662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en-IN">
                <a:latin typeface="Times New Roman"/>
                <a:cs typeface="Times New Roman"/>
              </a:rPr>
              <a:t>PROPOSED WORK WITH PLANNED INNOVATION</a:t>
            </a:r>
            <a:endParaRPr/>
          </a:p>
        </p:txBody>
      </p:sp>
      <p:sp>
        <p:nvSpPr>
          <p:cNvPr id="3114269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33182" y="1107348"/>
            <a:ext cx="10349217" cy="5217254"/>
          </a:xfrm>
        </p:spPr>
        <p:txBody>
          <a:bodyPr/>
          <a:lstStyle/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Work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Integrate Montgomery and Shenzhen chest X-ray datasets.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image preprocessing (Resize and CLAHE).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Perform lung segmentation using TorchXRayVision.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 the Enhanced CoAtNet model for TB classification.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Grad-CAM visualizations.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Produce an automated diagnostic report.</a:t>
            </a:r>
            <a:endParaRPr sz="2100"/>
          </a:p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Planned Innovation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Integration of lung segmentation with Enhanced CoAtNet.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Grad-CAM-based explainable AI for visual interpretation.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Improved model interpretability and diagnostic support.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Automated diagnostic report generation.</a:t>
            </a: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531143" name="Title 1"/>
          <p:cNvSpPr>
            <a:spLocks noGrp="1"/>
          </p:cNvSpPr>
          <p:nvPr>
            <p:ph type="title"/>
          </p:nvPr>
        </p:nvSpPr>
        <p:spPr bwMode="auto">
          <a:xfrm>
            <a:off x="609600" y="-310218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en-IN">
                <a:latin typeface="Times New Roman"/>
                <a:cs typeface="Times New Roman"/>
              </a:rPr>
              <a:t>                             MODULES OF THE PROJECT</a:t>
            </a:r>
            <a:endParaRPr/>
          </a:p>
        </p:txBody>
      </p:sp>
      <p:sp>
        <p:nvSpPr>
          <p:cNvPr id="63073339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27713" y="832782"/>
            <a:ext cx="10972800" cy="5886800"/>
          </a:xfrm>
        </p:spPr>
        <p:txBody>
          <a:bodyPr/>
          <a:lstStyle/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1: Dataset Collection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Collect Shenzhen Chest X-ray Dataset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Collect Montgomery Chest X-ray Dataset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Gather TB and Normal chest X-ray images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2: Dataset Integration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Merge both datasets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Verify image labels (TB/Normal)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Remove duplicate and invalid images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3: Image Preprocessing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Resize images to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224 × 224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Apply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CLAHE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contrast enhancement 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Prepare images for model training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61714" name="Google Shape;66;p11"/>
          <p:cNvSpPr txBox="1">
            <a:spLocks noGrp="1"/>
          </p:cNvSpPr>
          <p:nvPr>
            <p:ph type="body" idx="1"/>
          </p:nvPr>
        </p:nvSpPr>
        <p:spPr bwMode="auto">
          <a:xfrm flipH="0" flipV="0">
            <a:off x="1188698" y="613253"/>
            <a:ext cx="10445892" cy="5920114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lang="en-US" sz="21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4: Lung Segmentation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Segment lung regions using </a:t>
            </a:r>
            <a:r>
              <a:rPr lang="en-US" sz="21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TorchXRayVision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Remove background noise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Extract lung Region of Interest (ROI)</a:t>
            </a:r>
            <a:endParaRPr lang="en-US" sz="21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lang="en-US" sz="21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5: Enhanced CoAtNet Model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Load pretrained CoAtNet model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Fine-tune using transfer learning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Extract deep features and classify images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lang="en-US" sz="21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6: TB Classification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Predict </a:t>
            </a:r>
            <a:r>
              <a:rPr lang="en-US" sz="21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Tuberculosis</a:t>
            </a: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or </a:t>
            </a:r>
            <a:r>
              <a:rPr lang="en-US" sz="21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Normal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prediction confidence score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696729" name="Google Shape;66;p11"/>
          <p:cNvSpPr txBox="1">
            <a:spLocks noGrp="1"/>
          </p:cNvSpPr>
          <p:nvPr>
            <p:ph type="body" idx="1"/>
          </p:nvPr>
        </p:nvSpPr>
        <p:spPr bwMode="auto">
          <a:xfrm flipH="0" flipV="0">
            <a:off x="901643" y="456678"/>
            <a:ext cx="10680756" cy="586792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lang="en-US" sz="21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7: Explainable AI (Grad-CAM)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Grad-CAM heatmaps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Visualize important lung regions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Interpret model predictions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lang="en-US" sz="21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8: Diagnostic Report Generation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Display predicted class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Display confidence score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Display Grad-CAM heatmap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lang="en-U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final diagnostic report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613495" name="Google Shape;65;p11"/>
          <p:cNvSpPr txBox="1">
            <a:spLocks noGrp="1"/>
          </p:cNvSpPr>
          <p:nvPr>
            <p:ph type="title"/>
          </p:nvPr>
        </p:nvSpPr>
        <p:spPr bwMode="auto">
          <a:xfrm>
            <a:off x="1235900" y="35255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GB"/>
              <a:t>IMPLEMENTATION </a:t>
            </a:r>
            <a:endParaRPr/>
          </a:p>
        </p:txBody>
      </p:sp>
      <p:pic>
        <p:nvPicPr>
          <p:cNvPr id="12839160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6883" y="1839760"/>
            <a:ext cx="6038849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10853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82979" y="639349"/>
            <a:ext cx="6499212" cy="51051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034108" name="Title 1"/>
          <p:cNvSpPr>
            <a:spLocks noGrp="1"/>
          </p:cNvSpPr>
          <p:nvPr>
            <p:ph type="ctrTitle"/>
          </p:nvPr>
        </p:nvSpPr>
        <p:spPr bwMode="auto">
          <a:xfrm>
            <a:off x="4470399" y="2936556"/>
            <a:ext cx="10363199" cy="492442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THANK YOU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Danush Prakash</dc:creator>
  <cp:lastModifiedBy/>
  <cp:revision>26</cp:revision>
  <dcterms:modified xsi:type="dcterms:W3CDTF">2026-07-20T12:57:11Z</dcterms:modified>
</cp:coreProperties>
</file>