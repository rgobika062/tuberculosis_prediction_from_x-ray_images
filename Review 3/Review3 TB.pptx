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 strictFirstAndLastChars="0">
  <p:sldMasterIdLst>
    <p:sldMasterId id="2147483648" r:id="rId1"/>
  </p:sldMasterIdLst>
  <p:notesMasterIdLst>
    <p:notesMasterId r:id="rId2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91" d="100"/>
          <a:sy n="91" d="100"/>
        </p:scale>
        <p:origin x="283" y="62"/>
      </p:cViewPr>
      <p:guideLst>
        <p:guide pos="2880" orient="horz"/>
        <p:guide pos="216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 /><Relationship Id="rId29" Type="http://schemas.openxmlformats.org/officeDocument/2006/relationships/tableStyles" Target="tableStyles.xml" /><Relationship Id="rId3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4257749" name="Google Shape;3;n"/>
          <p:cNvSpPr txBox="1">
            <a:spLocks noGrp="1"/>
          </p:cNvSpPr>
          <p:nvPr>
            <p:ph type="hdr" idx="2"/>
          </p:nvPr>
        </p:nvSpPr>
        <p:spPr bwMode="auto"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638716168" name="Google Shape;4;n"/>
          <p:cNvSpPr txBox="1">
            <a:spLocks noGrp="1"/>
          </p:cNvSpPr>
          <p:nvPr>
            <p:ph type="dt" idx="10"/>
          </p:nvPr>
        </p:nvSpPr>
        <p:spPr bwMode="auto"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57227629" name="Google Shape;5;n"/>
          <p:cNvSpPr>
            <a:spLocks noChangeAspect="1" noGrp="1" noRot="1"/>
          </p:cNvSpPr>
          <p:nvPr>
            <p:ph type="sldImg" idx="3"/>
          </p:nvPr>
        </p:nvSpPr>
        <p:spPr bwMode="auto"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377944418" name="Google Shape;6;n"/>
          <p:cNvSpPr txBox="1">
            <a:spLocks noGrp="1"/>
          </p:cNvSpPr>
          <p:nvPr>
            <p:ph type="body" idx="1"/>
          </p:nvPr>
        </p:nvSpPr>
        <p:spPr bwMode="auto">
          <a:xfrm>
            <a:off x="1219200" y="3300413"/>
            <a:ext cx="9753600" cy="2700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182370771" name="Google Shape;7;n"/>
          <p:cNvSpPr txBox="1">
            <a:spLocks noGrp="1"/>
          </p:cNvSpPr>
          <p:nvPr>
            <p:ph type="ftr" idx="11"/>
          </p:nvPr>
        </p:nvSpPr>
        <p:spPr bwMode="auto"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385959395" name="Google Shape;8;n"/>
          <p:cNvSpPr txBox="1">
            <a:spLocks noGrp="1"/>
          </p:cNvSpPr>
          <p:nvPr>
            <p:ph type="sldNum" idx="12"/>
          </p:nvPr>
        </p:nvSpPr>
        <p:spPr bwMode="auto"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178469" name="Google Shape;115;g372815142fa_4_7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856995092" name="Google Shape;116;g372815142fa_4_70:notes"/>
          <p:cNvSpPr txBox="1">
            <a:spLocks noGrp="1"/>
          </p:cNvSpPr>
          <p:nvPr>
            <p:ph type="body" idx="1"/>
          </p:nvPr>
        </p:nvSpPr>
        <p:spPr bwMode="auto">
          <a:xfrm>
            <a:off x="1219200" y="3300413"/>
            <a:ext cx="97536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endParaRPr/>
          </a:p>
        </p:txBody>
      </p:sp>
      <p:sp>
        <p:nvSpPr>
          <p:cNvPr id="1078671739" name="Google Shape;117;g372815142fa_4_70:notes"/>
          <p:cNvSpPr txBox="1">
            <a:spLocks noGrp="1"/>
          </p:cNvSpPr>
          <p:nvPr>
            <p:ph type="dt" idx="10"/>
          </p:nvPr>
        </p:nvSpPr>
        <p:spPr bwMode="auto">
          <a:xfrm>
            <a:off x="6905979" y="0"/>
            <a:ext cx="52832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30 June 2023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62885399" name="Google Shape;118;g372815142fa_4_70:notes"/>
          <p:cNvSpPr txBox="1">
            <a:spLocks noGrp="1"/>
          </p:cNvSpPr>
          <p:nvPr>
            <p:ph type="ftr" idx="11"/>
          </p:nvPr>
        </p:nvSpPr>
        <p:spPr bwMode="auto">
          <a:xfrm>
            <a:off x="0" y="6513909"/>
            <a:ext cx="52832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1-59</a:t>
            </a:r>
            <a:endParaRPr/>
          </a:p>
        </p:txBody>
      </p:sp>
      <p:sp>
        <p:nvSpPr>
          <p:cNvPr id="1386259093" name="Google Shape;119;g372815142fa_4_70:notes"/>
          <p:cNvSpPr txBox="1">
            <a:spLocks noGrp="1"/>
          </p:cNvSpPr>
          <p:nvPr>
            <p:ph type="sldNum" idx="12"/>
          </p:nvPr>
        </p:nvSpPr>
        <p:spPr bwMode="auto">
          <a:xfrm>
            <a:off x="6905979" y="6513909"/>
            <a:ext cx="52832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36591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83281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3863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462434-824F-9A6D-46C2-095078EE82E4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45710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2936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95978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060CA5-BBBE-2B58-2928-7093168DBECE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4176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06084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77178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A45DFC-D3F3-DBC6-8FD8-807F6B8D57C4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36178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1391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7262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76F482-21CC-BD8C-F8F7-168596BF43AE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79200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285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95527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1D78AF-6C86-1FFC-D7D0-C59562D15264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54629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95560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45435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5D8F34-7210-153C-9B02-4D7B7D3B1B0B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1685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46097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931124025" name="Slide Number Placeholder 3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6033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38920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4532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6DADBC-D465-60D1-2FBE-B41061F5EECB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082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2453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07324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7A8A72-1CB5-E1A6-8EF2-608A8552142F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80782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92415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67731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F08F3B-0629-E204-EE8A-D9930465091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79196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81957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57361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E608A7-836F-A3F7-08F2-30271B8D638E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3650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9201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2209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ACE0D5-4F0A-87CA-50E7-E7D94FDFA27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46084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05843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6900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C55A5D-D703-7578-D92B-8B02BAC30D7C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44179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06585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69932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FB7F4F-ADEF-B1D1-F7AA-FB884D428847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52600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00103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71735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2F3C5A-3E80-2677-A95C-D1EA188A118F}" type="slidenum">
              <a:rPr/>
              <a:t>15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62593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7361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35575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E47B39-7770-A266-128C-89EA4CA5FE8C}" type="slidenum">
              <a:rPr/>
              <a:t>16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92071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10344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77219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3283F4-AA74-046A-633E-D69FEF5DDE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8DCC24-3C7A-1B9B-0B67-37E3F4CCF1C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64898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49684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12319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272710-ECFA-E707-177A-BD36799A6AB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54778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31603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32918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4BA754-BFF0-F821-ABFE-CD28B8622BA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A9E460-91B0-938E-A4E4-76CA648E99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8579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57768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6653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A284A1-9CD2-F390-1AF0-4963EB81D1ED}" type="slidenum">
              <a:rPr/>
              <a:t>23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mparison" preserve="0" showMasterPhAnim="0" showMasterSp="1" type="twoTxTwoObj" userDrawn="1">
  <p:cSld name="TWO_OBJECTS_WITH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6879783" name="Google Shape;49;p8"/>
          <p:cNvSpPr txBox="1">
            <a:spLocks noGrp="1"/>
          </p:cNvSpPr>
          <p:nvPr>
            <p:ph type="title"/>
          </p:nvPr>
        </p:nvSpPr>
        <p:spPr bwMode="auto">
          <a:xfrm>
            <a:off x="609600" y="70408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16886009" name="Google Shape;50;p8"/>
          <p:cNvSpPr txBox="1">
            <a:spLocks noGrp="1"/>
          </p:cNvSpPr>
          <p:nvPr>
            <p:ph type="body" idx="1"/>
          </p:nvPr>
        </p:nvSpPr>
        <p:spPr bwMode="auto">
          <a:xfrm>
            <a:off x="609600" y="1855248"/>
            <a:ext cx="5386917" cy="65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30469760" name="Google Shape;51;p8"/>
          <p:cNvSpPr txBox="1">
            <a:spLocks noGrp="1"/>
          </p:cNvSpPr>
          <p:nvPr>
            <p:ph type="body" idx="2"/>
          </p:nvPr>
        </p:nvSpPr>
        <p:spPr bwMode="auto">
          <a:xfrm>
            <a:off x="6193368" y="1859758"/>
            <a:ext cx="5389033" cy="65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18377305" name="Google Shape;52;p8"/>
          <p:cNvSpPr txBox="1">
            <a:spLocks noGrp="1"/>
          </p:cNvSpPr>
          <p:nvPr>
            <p:ph type="body" idx="3"/>
          </p:nvPr>
        </p:nvSpPr>
        <p:spPr bwMode="auto">
          <a:xfrm>
            <a:off x="609600" y="2514600"/>
            <a:ext cx="5386917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57720933" name="Google Shape;53;p8"/>
          <p:cNvSpPr txBox="1">
            <a:spLocks noGrp="1"/>
          </p:cNvSpPr>
          <p:nvPr>
            <p:ph type="body" idx="4"/>
          </p:nvPr>
        </p:nvSpPr>
        <p:spPr bwMode="auto">
          <a:xfrm>
            <a:off x="6193368" y="2514600"/>
            <a:ext cx="5389033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02586626" name="Google Shape;54;p8"/>
          <p:cNvSpPr txBox="1"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47682389" name="Google Shape;55;p8"/>
          <p:cNvSpPr txBox="1">
            <a:spLocks noGrp="1"/>
          </p:cNvSpPr>
          <p:nvPr>
            <p:ph type="ftr" idx="11"/>
          </p:nvPr>
        </p:nvSpPr>
        <p:spPr bwMode="auto"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Content" preserve="0" showMasterPhAnim="0" showMasterSp="1" type="obj" userDrawn="1">
  <p:cSld name="OBJEC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0757712" name="Google Shape;65;p11"/>
          <p:cNvSpPr txBox="1">
            <a:spLocks noGrp="1"/>
          </p:cNvSpPr>
          <p:nvPr>
            <p:ph type="title"/>
          </p:nvPr>
        </p:nvSpPr>
        <p:spPr bwMode="auto"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53140280" name="Google Shape;66;p11"/>
          <p:cNvSpPr txBox="1">
            <a:spLocks noGrp="1"/>
          </p:cNvSpPr>
          <p:nvPr>
            <p:ph type="body" idx="1"/>
          </p:nvPr>
        </p:nvSpPr>
        <p:spPr bwMode="auto">
          <a:xfrm>
            <a:off x="609600" y="1935164"/>
            <a:ext cx="109728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84288292" name="Google Shape;67;p11"/>
          <p:cNvSpPr txBox="1"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99539155" name="Google Shape;68;p11"/>
          <p:cNvSpPr txBox="1">
            <a:spLocks noGrp="1"/>
          </p:cNvSpPr>
          <p:nvPr>
            <p:ph type="ftr" idx="11"/>
          </p:nvPr>
        </p:nvSpPr>
        <p:spPr bwMode="auto"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" preserve="0" showMasterPhAnim="0" showMasterSp="1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5951292" name="Google Shape;70;p12"/>
          <p:cNvSpPr txBox="1">
            <a:spLocks noGrp="1"/>
          </p:cNvSpPr>
          <p:nvPr>
            <p:ph type="title"/>
          </p:nvPr>
        </p:nvSpPr>
        <p:spPr bwMode="auto">
          <a:xfrm>
            <a:off x="707136" y="1316736"/>
            <a:ext cx="10363200" cy="1362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Arial"/>
              <a:buNone/>
              <a:defRPr sz="5600" b="1" cap="none">
                <a:solidFill>
                  <a:srgbClr val="4AE3AC"/>
                </a:solidFill>
                <a:latin typeface="Arial"/>
                <a:ea typeface="Arial"/>
                <a:cs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53732014" name="Google Shape;71;p12"/>
          <p:cNvSpPr txBox="1">
            <a:spLocks noGrp="1"/>
          </p:cNvSpPr>
          <p:nvPr>
            <p:ph type="body" idx="1"/>
          </p:nvPr>
        </p:nvSpPr>
        <p:spPr bwMode="auto">
          <a:xfrm>
            <a:off x="707136" y="2704664"/>
            <a:ext cx="103632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07389797" name="Google Shape;72;p12"/>
          <p:cNvSpPr txBox="1"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43972437" name="Google Shape;73;p12"/>
          <p:cNvSpPr txBox="1">
            <a:spLocks noGrp="1"/>
          </p:cNvSpPr>
          <p:nvPr>
            <p:ph type="ftr" idx="11"/>
          </p:nvPr>
        </p:nvSpPr>
        <p:spPr bwMode="auto"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wo Content" preserve="0" showMasterPhAnim="0" showMasterSp="1" type="twoObj" userDrawn="1">
  <p:cSld name="TWO_OBJEC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6539712" name="Google Shape;75;p13"/>
          <p:cNvSpPr txBox="1">
            <a:spLocks noGrp="1"/>
          </p:cNvSpPr>
          <p:nvPr>
            <p:ph type="title"/>
          </p:nvPr>
        </p:nvSpPr>
        <p:spPr bwMode="auto">
          <a:xfrm>
            <a:off x="609600" y="70408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92501959" name="Google Shape;76;p13"/>
          <p:cNvSpPr txBox="1">
            <a:spLocks noGrp="1"/>
          </p:cNvSpPr>
          <p:nvPr>
            <p:ph type="body" idx="1"/>
          </p:nvPr>
        </p:nvSpPr>
        <p:spPr bwMode="auto">
          <a:xfrm>
            <a:off x="609600" y="1920085"/>
            <a:ext cx="53848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19866581" name="Google Shape;77;p13"/>
          <p:cNvSpPr txBox="1">
            <a:spLocks noGrp="1"/>
          </p:cNvSpPr>
          <p:nvPr>
            <p:ph type="body" idx="2"/>
          </p:nvPr>
        </p:nvSpPr>
        <p:spPr bwMode="auto">
          <a:xfrm>
            <a:off x="6197600" y="1920085"/>
            <a:ext cx="53848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95886090" name="Google Shape;78;p13"/>
          <p:cNvSpPr txBox="1"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2164355" name="Google Shape;79;p13"/>
          <p:cNvSpPr txBox="1">
            <a:spLocks noGrp="1"/>
          </p:cNvSpPr>
          <p:nvPr>
            <p:ph type="ftr" idx="11"/>
          </p:nvPr>
        </p:nvSpPr>
        <p:spPr bwMode="auto"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showMasterSp="1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9864851" name="Google Shape;81;p14"/>
          <p:cNvSpPr txBox="1">
            <a:spLocks noGrp="1"/>
          </p:cNvSpPr>
          <p:nvPr>
            <p:ph type="title"/>
          </p:nvPr>
        </p:nvSpPr>
        <p:spPr bwMode="auto">
          <a:xfrm>
            <a:off x="609600" y="704088"/>
            <a:ext cx="1107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 b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48565934" name="Google Shape;82;p14"/>
          <p:cNvSpPr txBox="1"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31386892" name="Google Shape;83;p14"/>
          <p:cNvSpPr txBox="1">
            <a:spLocks noGrp="1"/>
          </p:cNvSpPr>
          <p:nvPr>
            <p:ph type="ftr" idx="11"/>
          </p:nvPr>
        </p:nvSpPr>
        <p:spPr bwMode="auto"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ntent with Caption" preserve="0" showMasterPhAnim="0" showMasterSp="1" type="objTx" userDrawn="1">
  <p:cSld name="OBJECT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1217447" name="Google Shape;85;p15"/>
          <p:cNvSpPr txBox="1">
            <a:spLocks noGrp="1"/>
          </p:cNvSpPr>
          <p:nvPr>
            <p:ph type="title"/>
          </p:nvPr>
        </p:nvSpPr>
        <p:spPr bwMode="auto">
          <a:xfrm>
            <a:off x="914400" y="514351"/>
            <a:ext cx="36576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 b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75030994" name="Google Shape;86;p15"/>
          <p:cNvSpPr txBox="1">
            <a:spLocks noGrp="1"/>
          </p:cNvSpPr>
          <p:nvPr>
            <p:ph type="body" idx="1"/>
          </p:nvPr>
        </p:nvSpPr>
        <p:spPr bwMode="auto">
          <a:xfrm>
            <a:off x="914400" y="1676400"/>
            <a:ext cx="3657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48765647" name="Google Shape;87;p15"/>
          <p:cNvSpPr txBox="1">
            <a:spLocks noGrp="1"/>
          </p:cNvSpPr>
          <p:nvPr>
            <p:ph type="body" idx="2"/>
          </p:nvPr>
        </p:nvSpPr>
        <p:spPr bwMode="auto">
          <a:xfrm>
            <a:off x="4766732" y="1676400"/>
            <a:ext cx="681566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7084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Char char="⮚"/>
              <a:defRPr sz="2800"/>
            </a:lvl1pPr>
            <a:lvl2pPr marL="914400" lvl="1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2pPr>
            <a:lvl3pPr marL="1371600" lvl="2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3pPr>
            <a:lvl4pPr marL="182880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4817473" name="Google Shape;88;p15"/>
          <p:cNvSpPr txBox="1"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99222062" name="Google Shape;89;p15"/>
          <p:cNvSpPr txBox="1">
            <a:spLocks noGrp="1"/>
          </p:cNvSpPr>
          <p:nvPr>
            <p:ph type="ftr" idx="11"/>
          </p:nvPr>
        </p:nvSpPr>
        <p:spPr bwMode="auto"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icture with Caption" preserve="0" showMasterPhAnim="0" showMasterSp="1" type="picTx" userDrawn="1">
  <p:cSld name="PICTURE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1505574" name="Google Shape;91;p16"/>
          <p:cNvSpPr/>
          <p:nvPr/>
        </p:nvSpPr>
        <p:spPr bwMode="auto">
          <a:xfrm rot="-10380000" flipH="1">
            <a:off x="4220633" y="1108075"/>
            <a:ext cx="7010399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8481738" name="Google Shape;92;p16"/>
          <p:cNvSpPr/>
          <p:nvPr/>
        </p:nvSpPr>
        <p:spPr bwMode="auto">
          <a:xfrm rot="-10380000" flipH="1">
            <a:off x="10672233" y="5359401"/>
            <a:ext cx="207433" cy="155575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6218418" name="Google Shape;93;p16"/>
          <p:cNvSpPr/>
          <p:nvPr/>
        </p:nvSpPr>
        <p:spPr bwMode="auto">
          <a:xfrm rot="10800000" flipH="1">
            <a:off x="-12700" y="5816600"/>
            <a:ext cx="12217400" cy="1041400"/>
          </a:xfrm>
          <a:custGeom>
            <a:avLst/>
            <a:gdLst/>
            <a:ahLst/>
            <a:cxnLst/>
            <a:rect l="l" t="t" r="r" b="b"/>
            <a:pathLst>
              <a:path w="5772" h="656" fill="norm" stroke="1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3921"/>
                </a:srgbClr>
              </a:gs>
              <a:gs pos="100000">
                <a:srgbClr val="00E9F7">
                  <a:alpha val="54117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3873831" name="Google Shape;94;p16"/>
          <p:cNvSpPr/>
          <p:nvPr/>
        </p:nvSpPr>
        <p:spPr bwMode="auto">
          <a:xfrm rot="10800000" flipH="1">
            <a:off x="5842000" y="6219826"/>
            <a:ext cx="6350000" cy="638175"/>
          </a:xfrm>
          <a:custGeom>
            <a:avLst/>
            <a:gdLst/>
            <a:ahLst/>
            <a:cxnLst/>
            <a:rect l="l" t="t" r="r" b="b"/>
            <a:pathLst>
              <a:path w="3000" h="595" fill="norm" stroke="1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019"/>
                </a:srgbClr>
              </a:gs>
              <a:gs pos="80000">
                <a:srgbClr val="0099E4">
                  <a:alpha val="43921"/>
                </a:srgbClr>
              </a:gs>
              <a:gs pos="100000">
                <a:srgbClr val="0099E4">
                  <a:alpha val="4392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8701016" name="Google Shape;95;p16"/>
          <p:cNvSpPr txBox="1">
            <a:spLocks noGrp="1"/>
          </p:cNvSpPr>
          <p:nvPr>
            <p:ph type="title"/>
          </p:nvPr>
        </p:nvSpPr>
        <p:spPr bwMode="auto">
          <a:xfrm>
            <a:off x="812800" y="1176997"/>
            <a:ext cx="2950464" cy="158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71975963" name="Google Shape;96;p16"/>
          <p:cNvSpPr txBox="1">
            <a:spLocks noGrp="1"/>
          </p:cNvSpPr>
          <p:nvPr>
            <p:ph type="body" idx="1"/>
          </p:nvPr>
        </p:nvSpPr>
        <p:spPr bwMode="auto">
          <a:xfrm>
            <a:off x="812800" y="2828785"/>
            <a:ext cx="2946400" cy="21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/>
              <a:buNone/>
              <a:defRPr sz="1300"/>
            </a:lvl1pPr>
            <a:lvl2pPr marL="914400" lvl="1" indent="-28956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Char char="⮚"/>
              <a:defRPr sz="1200"/>
            </a:lvl2pPr>
            <a:lvl3pPr marL="1371600" lvl="2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⮚"/>
              <a:defRPr sz="1000"/>
            </a:lvl3pPr>
            <a:lvl4pPr marL="1828800" lvl="3" indent="-274319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4pPr>
            <a:lvl5pPr marL="2286000" lvl="4" indent="-27432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88274035" name="Google Shape;97;p16"/>
          <p:cNvSpPr>
            <a:spLocks noGrp="1"/>
          </p:cNvSpPr>
          <p:nvPr>
            <p:ph type="pic" idx="2"/>
          </p:nvPr>
        </p:nvSpPr>
        <p:spPr bwMode="auto"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78788144" name="Google Shape;98;p16"/>
          <p:cNvSpPr txBox="1"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17504705" name="Google Shape;99;p16"/>
          <p:cNvSpPr txBox="1">
            <a:spLocks noGrp="1"/>
          </p:cNvSpPr>
          <p:nvPr>
            <p:ph type="ftr" idx="11"/>
          </p:nvPr>
        </p:nvSpPr>
        <p:spPr bwMode="auto"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Vertical Text" preserve="0" showMasterPhAnim="0" showMasterSp="1" type="vertTx" userDrawn="1">
  <p:cSld name="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0966611" name="Google Shape;101;p17"/>
          <p:cNvSpPr txBox="1">
            <a:spLocks noGrp="1"/>
          </p:cNvSpPr>
          <p:nvPr>
            <p:ph type="title"/>
          </p:nvPr>
        </p:nvSpPr>
        <p:spPr bwMode="auto"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91414472" name="Google Shape;102;p17"/>
          <p:cNvSpPr txBox="1">
            <a:spLocks noGrp="1"/>
          </p:cNvSpPr>
          <p:nvPr>
            <p:ph type="body" idx="1"/>
          </p:nvPr>
        </p:nvSpPr>
        <p:spPr bwMode="auto">
          <a:xfrm rot="5400000">
            <a:off x="3901281" y="-1356518"/>
            <a:ext cx="4389437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80030983" name="Google Shape;103;p17"/>
          <p:cNvSpPr txBox="1"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84828869" name="Google Shape;104;p17"/>
          <p:cNvSpPr txBox="1">
            <a:spLocks noGrp="1"/>
          </p:cNvSpPr>
          <p:nvPr>
            <p:ph type="ftr" idx="11"/>
          </p:nvPr>
        </p:nvSpPr>
        <p:spPr bwMode="auto"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Vertical Title and Text" preserve="0" showMasterPhAnim="0" showMasterSp="1" type="vertTitleAndTx" userDrawn="1">
  <p:cSld name="VERTICAL_TITLE_AND_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329745" name="Google Shape;106;p18"/>
          <p:cNvSpPr txBox="1">
            <a:spLocks noGrp="1"/>
          </p:cNvSpPr>
          <p:nvPr>
            <p:ph type="title"/>
          </p:nvPr>
        </p:nvSpPr>
        <p:spPr bwMode="auto">
          <a:xfrm rot="5400000">
            <a:off x="7604919" y="2148684"/>
            <a:ext cx="5211763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66056855" name="Google Shape;107;p18"/>
          <p:cNvSpPr txBox="1">
            <a:spLocks noGrp="1"/>
          </p:cNvSpPr>
          <p:nvPr>
            <p:ph type="body" idx="1"/>
          </p:nvPr>
        </p:nvSpPr>
        <p:spPr bwMode="auto">
          <a:xfrm rot="5400000">
            <a:off x="2016919" y="-492917"/>
            <a:ext cx="5211763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58578841" name="Google Shape;108;p18"/>
          <p:cNvSpPr txBox="1"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36920820" name="Google Shape;109;p18"/>
          <p:cNvSpPr txBox="1">
            <a:spLocks noGrp="1"/>
          </p:cNvSpPr>
          <p:nvPr>
            <p:ph type="ftr" idx="11"/>
          </p:nvPr>
        </p:nvSpPr>
        <p:spPr bwMode="auto"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ustom Layout" preserve="0" showMasterPhAnim="0" showMasterSp="1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6209407" name="Google Shape;111;p19"/>
          <p:cNvSpPr txBox="1">
            <a:spLocks noGrp="1"/>
          </p:cNvSpPr>
          <p:nvPr>
            <p:ph type="title"/>
          </p:nvPr>
        </p:nvSpPr>
        <p:spPr bwMode="auto"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29277574" name="Google Shape;112;p19"/>
          <p:cNvSpPr txBox="1"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77568736" name="Google Shape;113;p19"/>
          <p:cNvSpPr txBox="1">
            <a:spLocks noGrp="1"/>
          </p:cNvSpPr>
          <p:nvPr>
            <p:ph type="ftr" idx="11"/>
          </p:nvPr>
        </p:nvSpPr>
        <p:spPr bwMode="auto"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 rotWithShape="1">
          <a:blip r:embed="rId1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45636" name="Google Shape;45;p7"/>
          <p:cNvSpPr txBox="1">
            <a:spLocks noGrp="1"/>
          </p:cNvSpPr>
          <p:nvPr>
            <p:ph type="title"/>
          </p:nvPr>
        </p:nvSpPr>
        <p:spPr bwMode="auto"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11544608" name="Google Shape;46;p7"/>
          <p:cNvSpPr txBox="1">
            <a:spLocks noGrp="1"/>
          </p:cNvSpPr>
          <p:nvPr>
            <p:ph type="body" idx="1"/>
          </p:nvPr>
        </p:nvSpPr>
        <p:spPr bwMode="auto">
          <a:xfrm>
            <a:off x="609600" y="1935164"/>
            <a:ext cx="109728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lvl="5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lvl="6" indent="-30987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363827059" name="Google Shape;47;p7"/>
          <p:cNvSpPr txBox="1"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1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2671524" name="Google Shape;121;p20"/>
          <p:cNvSpPr txBox="1">
            <a:spLocks noGrp="1"/>
          </p:cNvSpPr>
          <p:nvPr>
            <p:ph type="body" idx="1"/>
          </p:nvPr>
        </p:nvSpPr>
        <p:spPr bwMode="auto">
          <a:xfrm>
            <a:off x="1472513" y="2121013"/>
            <a:ext cx="4040100" cy="6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60"/>
              <a:buNone/>
              <a:defRPr/>
            </a:pPr>
            <a:endParaRPr sz="3200">
              <a:solidFill>
                <a:srgbClr val="B9077E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9077E"/>
              </a:buClr>
              <a:buSzPts val="2560"/>
              <a:buNone/>
              <a:defRPr/>
            </a:pPr>
            <a:r>
              <a:rPr lang="en-US" sz="3200">
                <a:solidFill>
                  <a:srgbClr val="B9077E"/>
                </a:solidFill>
              </a:rPr>
              <a:t>    </a:t>
            </a:r>
            <a:endParaRPr sz="3200"/>
          </a:p>
        </p:txBody>
      </p:sp>
      <p:pic>
        <p:nvPicPr>
          <p:cNvPr id="2011655428" name="Google Shape;122;p20" descr="klogo copy.png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2286851" y="1589512"/>
            <a:ext cx="1374775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59250756" name="Google Shape;125;p20"/>
          <p:cNvSpPr txBox="1"/>
          <p:nvPr/>
        </p:nvSpPr>
        <p:spPr bwMode="auto">
          <a:xfrm>
            <a:off x="5331609" y="1262410"/>
            <a:ext cx="5926545" cy="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Department of Computer Science and Engineering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67851899" name="Google Shape;126;p20"/>
          <p:cNvSpPr txBox="1">
            <a:spLocks noGrp="1"/>
          </p:cNvSpPr>
          <p:nvPr>
            <p:ph type="title"/>
          </p:nvPr>
        </p:nvSpPr>
        <p:spPr bwMode="auto">
          <a:xfrm>
            <a:off x="3094059" y="3507706"/>
            <a:ext cx="8659163" cy="622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8255" marR="5080" indent="-1266190" algn="ctr">
              <a:defRPr/>
            </a:pPr>
            <a:br>
              <a:rPr lang="en-US"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</a:br>
            <a:r>
              <a:rPr lang="en-GB"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THIRD </a:t>
            </a:r>
            <a:r>
              <a:rPr lang="en-US"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REVIEW 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944150018" name="TextBox 1"/>
          <p:cNvSpPr txBox="1"/>
          <p:nvPr/>
        </p:nvSpPr>
        <p:spPr bwMode="auto">
          <a:xfrm>
            <a:off x="5744364" y="1752192"/>
            <a:ext cx="4975481" cy="518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sz="2800">
                <a:latin typeface="Times New Roman"/>
                <a:ea typeface="Times New Roman"/>
                <a:cs typeface="Times New Roman"/>
              </a:rPr>
              <a:t>22CSP72 PROJECT WORK II</a:t>
            </a:r>
            <a:endParaRPr>
              <a:latin typeface="Times New Roman"/>
              <a:cs typeface="Times New Roman"/>
            </a:endParaRPr>
          </a:p>
        </p:txBody>
      </p:sp>
      <p:pic>
        <p:nvPicPr>
          <p:cNvPr id="1774960409" name="Picture 2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819881" y="165315"/>
            <a:ext cx="2573001" cy="1010822"/>
          </a:xfrm>
          <a:prstGeom prst="rect">
            <a:avLst/>
          </a:prstGeom>
        </p:spPr>
      </p:pic>
      <p:sp>
        <p:nvSpPr>
          <p:cNvPr id="71346718" name="TextBox 5"/>
          <p:cNvSpPr txBox="1"/>
          <p:nvPr/>
        </p:nvSpPr>
        <p:spPr bwMode="auto">
          <a:xfrm flipH="0" flipV="0">
            <a:off x="3828648" y="2501506"/>
            <a:ext cx="8529811" cy="701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000" b="1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Deep Learning-Based Multimodal Classification of Drug-Resistant and Drug-Sensitive Tuberculosis Using Chest X-Rays and Genomic Information</a:t>
            </a:r>
            <a:endParaRPr sz="2000" b="1" i="0">
              <a:solidFill>
                <a:srgbClr val="FF0000"/>
              </a:solidFill>
            </a:endParaRPr>
          </a:p>
        </p:txBody>
      </p:sp>
      <p:sp>
        <p:nvSpPr>
          <p:cNvPr id="236332552" name="object 3"/>
          <p:cNvSpPr txBox="1"/>
          <p:nvPr/>
        </p:nvSpPr>
        <p:spPr bwMode="auto">
          <a:xfrm>
            <a:off x="5031808" y="4342863"/>
            <a:ext cx="5549753" cy="1893294"/>
          </a:xfrm>
          <a:prstGeom prst="rect">
            <a:avLst/>
          </a:prstGeom>
        </p:spPr>
        <p:txBody>
          <a:bodyPr vert="horz" wrap="square" lIns="0" tIns="15874" rIns="0" bIns="0" rtlCol="0">
            <a:spAutoFit/>
          </a:bodyPr>
          <a:lstStyle/>
          <a:p>
            <a:pPr marL="12699">
              <a:lnSpc>
                <a:spcPct val="100000"/>
              </a:lnSpc>
              <a:spcBef>
                <a:spcPts val="124"/>
              </a:spcBef>
              <a:defRPr/>
            </a:pPr>
            <a:r>
              <a:rPr lang="en-IN" sz="2000" b="1" spc="-9">
                <a:latin typeface="Times New Roman"/>
                <a:cs typeface="Times New Roman"/>
              </a:rPr>
              <a:t>Team Number :</a:t>
            </a:r>
            <a:r>
              <a:rPr lang="en-GB" sz="2200">
                <a:latin typeface="Times New Roman"/>
                <a:cs typeface="Times New Roman"/>
              </a:rPr>
              <a:t> A22</a:t>
            </a:r>
            <a:endParaRPr lang="en-IN" sz="2000" b="1" spc="-9">
              <a:latin typeface="Times New Roman"/>
              <a:cs typeface="Times New Roman"/>
            </a:endParaRPr>
          </a:p>
          <a:p>
            <a:pPr marL="12699">
              <a:lnSpc>
                <a:spcPct val="100000"/>
              </a:lnSpc>
              <a:spcBef>
                <a:spcPts val="124"/>
              </a:spcBef>
              <a:defRPr/>
            </a:pPr>
            <a:r>
              <a:rPr lang="en-IN" sz="2000" b="1" spc="-9">
                <a:latin typeface="Times New Roman"/>
                <a:cs typeface="Times New Roman"/>
              </a:rPr>
              <a:t>Team Guide : </a:t>
            </a:r>
            <a:r>
              <a:rPr lang="en-IN" sz="2000" spc="-9">
                <a:latin typeface="Times New Roman"/>
                <a:cs typeface="Times New Roman"/>
              </a:rPr>
              <a:t>Dr. </a:t>
            </a:r>
            <a:r>
              <a:rPr lang="en-US" sz="2000" spc="-9">
                <a:latin typeface="Times New Roman"/>
                <a:cs typeface="Times New Roman"/>
              </a:rPr>
              <a:t>K. Venu </a:t>
            </a:r>
            <a:endParaRPr lang="en-US" sz="2000">
              <a:latin typeface="Times New Roman"/>
              <a:cs typeface="Times New Roman"/>
            </a:endParaRPr>
          </a:p>
          <a:p>
            <a:pPr marL="13969">
              <a:lnSpc>
                <a:spcPct val="100000"/>
              </a:lnSpc>
              <a:spcBef>
                <a:spcPts val="4"/>
              </a:spcBef>
              <a:defRPr/>
            </a:pPr>
            <a:r>
              <a:rPr lang="en-US" sz="2000" b="1">
                <a:latin typeface="Times New Roman"/>
                <a:cs typeface="Times New Roman"/>
              </a:rPr>
              <a:t>Team</a:t>
            </a:r>
            <a:r>
              <a:rPr lang="en-US" sz="2000" b="1" spc="-19">
                <a:latin typeface="Times New Roman"/>
                <a:cs typeface="Times New Roman"/>
              </a:rPr>
              <a:t> </a:t>
            </a:r>
            <a:r>
              <a:rPr lang="en-US" sz="2000" b="1" spc="-9">
                <a:latin typeface="Times New Roman"/>
                <a:cs typeface="Times New Roman"/>
              </a:rPr>
              <a:t>Members :</a:t>
            </a:r>
            <a:endParaRPr/>
          </a:p>
          <a:p>
            <a:pPr marL="13969">
              <a:lnSpc>
                <a:spcPct val="100000"/>
              </a:lnSpc>
              <a:spcBef>
                <a:spcPts val="4"/>
              </a:spcBef>
              <a:defRPr/>
            </a:pPr>
            <a:r>
              <a:rPr lang="en-IN" sz="2000" b="1" spc="-9">
                <a:latin typeface="Times New Roman"/>
                <a:cs typeface="Times New Roman"/>
              </a:rPr>
              <a:t>		</a:t>
            </a:r>
            <a:r>
              <a:rPr lang="en-IN" sz="2000" spc="-9">
                <a:latin typeface="Times New Roman"/>
                <a:cs typeface="Times New Roman"/>
              </a:rPr>
              <a:t>Abinandhana S G (23CSR008)</a:t>
            </a:r>
            <a:endParaRPr/>
          </a:p>
          <a:p>
            <a:pPr marL="13969">
              <a:lnSpc>
                <a:spcPct val="100000"/>
              </a:lnSpc>
              <a:spcBef>
                <a:spcPts val="4"/>
              </a:spcBef>
              <a:defRPr/>
            </a:pPr>
            <a:r>
              <a:rPr lang="en-IN" sz="2000" spc="-9">
                <a:latin typeface="Times New Roman"/>
                <a:cs typeface="Times New Roman"/>
              </a:rPr>
              <a:t>		Anbuselvam N     (23CSR018)</a:t>
            </a:r>
            <a:endParaRPr/>
          </a:p>
          <a:p>
            <a:pPr marL="13969">
              <a:lnSpc>
                <a:spcPct val="100000"/>
              </a:lnSpc>
              <a:spcBef>
                <a:spcPts val="4"/>
              </a:spcBef>
              <a:defRPr/>
            </a:pPr>
            <a:r>
              <a:rPr lang="en-IN" sz="2000" spc="-9">
                <a:latin typeface="Times New Roman"/>
                <a:cs typeface="Times New Roman"/>
              </a:rPr>
              <a:t>		Gobika R (23CSR062)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1415866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3951263" y="556186"/>
            <a:ext cx="6096358" cy="596559"/>
          </a:xfrm>
          <a:prstGeom prst="rect">
            <a:avLst/>
          </a:prstGeom>
        </p:spPr>
        <p:txBody>
          <a:bodyPr vert="horz" wrap="square" lIns="0" tIns="199960" rIns="0" bIns="0" rtlCol="0">
            <a:spAutoFit/>
          </a:bodyPr>
          <a:lstStyle/>
          <a:p>
            <a:pPr marL="12699">
              <a:lnSpc>
                <a:spcPct val="100000"/>
              </a:lnSpc>
              <a:spcBef>
                <a:spcPts val="129"/>
              </a:spcBef>
              <a:defRPr/>
            </a:pPr>
            <a:r>
              <a:rPr lang="en-IN" sz="2600" spc="-19">
                <a:latin typeface="Times New Roman"/>
                <a:ea typeface="Times New Roman"/>
                <a:cs typeface="Times New Roman"/>
              </a:rPr>
              <a:t>PROBLEM</a:t>
            </a:r>
            <a:r>
              <a:rPr lang="en-IN" sz="2600" spc="-199">
                <a:latin typeface="Times New Roman"/>
                <a:ea typeface="Times New Roman"/>
                <a:cs typeface="Times New Roman"/>
              </a:rPr>
              <a:t> </a:t>
            </a:r>
            <a:r>
              <a:rPr lang="en-IN" sz="2600" spc="-9">
                <a:latin typeface="Times New Roman"/>
                <a:ea typeface="Times New Roman"/>
                <a:cs typeface="Times New Roman"/>
              </a:rPr>
              <a:t>STATEMENT</a:t>
            </a:r>
            <a:endParaRPr sz="2600" spc="-9">
              <a:latin typeface="Times New Roman"/>
              <a:cs typeface="Times New Roman"/>
            </a:endParaRPr>
          </a:p>
        </p:txBody>
      </p:sp>
      <p:sp>
        <p:nvSpPr>
          <p:cNvPr id="1534825905" name="TextBox 5"/>
          <p:cNvSpPr txBox="1"/>
          <p:nvPr/>
        </p:nvSpPr>
        <p:spPr bwMode="auto">
          <a:xfrm>
            <a:off x="1460931" y="1557852"/>
            <a:ext cx="10000479" cy="2668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7793" indent="-217793" algn="just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Existing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Chest X-ray (CXR)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methods do not specifically focus on the lung region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so irrelevant areas of the X-ray may affect the prediction.</a:t>
            </a:r>
            <a:endParaRPr sz="2100" b="0"/>
          </a:p>
          <a:p>
            <a:pPr marL="217793" indent="-217793" algn="just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Existing deep-learning approaches have limited Explainable AI capabilities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making it difficult to understand the regions influencing the </a:t>
            </a:r>
            <a:r>
              <a:rPr lang="en-US" sz="21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Chest X-ray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prediction and the contribution of </a:t>
            </a:r>
            <a:r>
              <a:rPr lang="en-US" sz="21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Chest X-ray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and genomic information to the final decision.</a:t>
            </a:r>
            <a:endParaRPr sz="2100" b="0"/>
          </a:p>
          <a:p>
            <a:pPr marL="217793" indent="-217793" algn="just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Existing approaches do not provide a unified diagnostic report showing the predictions and confidence scores of the </a:t>
            </a:r>
            <a:r>
              <a:rPr lang="en-US" sz="21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Chest X-ray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genomic, and multimodal models</a:t>
            </a:r>
            <a:endParaRPr sz="2100" b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786246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3588009" y="443855"/>
            <a:ext cx="6255173" cy="635299"/>
          </a:xfrm>
          <a:prstGeom prst="rect">
            <a:avLst/>
          </a:prstGeom>
        </p:spPr>
        <p:txBody>
          <a:bodyPr vert="horz" wrap="square" lIns="0" tIns="128775" rIns="0" bIns="0" rtlCol="0">
            <a:spAutoFit/>
          </a:bodyPr>
          <a:lstStyle/>
          <a:p>
            <a:pPr marL="1174749">
              <a:lnSpc>
                <a:spcPct val="100000"/>
              </a:lnSpc>
              <a:spcBef>
                <a:spcPts val="124"/>
              </a:spcBef>
              <a:defRPr/>
            </a:pPr>
            <a:r>
              <a:rPr lang="en-US" spc="-9">
                <a:latin typeface="Times New Roman"/>
                <a:cs typeface="Times New Roman"/>
              </a:rPr>
              <a:t>OBJECTIVES</a:t>
            </a:r>
            <a:endParaRPr spc="-9">
              <a:latin typeface="Times New Roman"/>
              <a:cs typeface="Times New Roman"/>
            </a:endParaRPr>
          </a:p>
        </p:txBody>
      </p:sp>
      <p:sp>
        <p:nvSpPr>
          <p:cNvPr id="1114591813" name="TextBox 5"/>
          <p:cNvSpPr txBox="1"/>
          <p:nvPr/>
        </p:nvSpPr>
        <p:spPr bwMode="auto">
          <a:xfrm>
            <a:off x="1611918" y="1346540"/>
            <a:ext cx="9686072" cy="3404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7793" indent="-217793" algn="just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isolate the lung region from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Chest X-ray images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for focused feature extraction.  </a:t>
            </a:r>
            <a:endParaRPr sz="2100" b="0"/>
          </a:p>
          <a:p>
            <a:pPr marL="217793" indent="-217793" algn="just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use separate deep-learning models,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CoAtNet-0 for Chest X-ray data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and a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Transformer for genomic data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to classify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Drug-Resistant Tuberculosis</a:t>
            </a:r>
            <a:r>
              <a:rPr lang="en-GB"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</a:t>
            </a:r>
            <a:r>
              <a:rPr lang="en-US" sz="21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DR-TB</a:t>
            </a:r>
            <a:r>
              <a:rPr lang="en-GB"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and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Drug-Sensitive Tuberculosis</a:t>
            </a:r>
            <a:r>
              <a:rPr lang="en-GB"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lang="en-US" sz="21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DR-T</a:t>
            </a:r>
            <a:r>
              <a:rPr lang="en-GB" sz="21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S)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 </a:t>
            </a:r>
            <a:endParaRPr sz="2100" b="0"/>
          </a:p>
          <a:p>
            <a:pPr marL="217793" indent="-217793" algn="just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combine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Chest X-ray and genomic features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using multimodal late fusion for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Drug-Resistant Tuberculosis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and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Drug-Sensitive Tuberculosis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classification.  </a:t>
            </a:r>
            <a:endParaRPr sz="2100" b="0"/>
          </a:p>
          <a:p>
            <a:pPr marL="217793" indent="-217793" algn="just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provide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Explainable A</a:t>
            </a:r>
            <a:r>
              <a:rPr lang="en-GB"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using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Grad-CAM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and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modality-contribution analysis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along with prediction confidence for the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Chest X-ray, genomic, and multimodal models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100" b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2007981425" name="Table 1868955789"/>
          <p:cNvGraphicFramePr>
            <a:graphicFrameLocks xmlns:a="http://schemas.openxmlformats.org/drawingml/2006/main"/>
          </p:cNvGraphicFramePr>
          <p:nvPr/>
        </p:nvGraphicFramePr>
        <p:xfrm rot="0">
          <a:off x="627635" y="904758"/>
          <a:ext cx="11364756" cy="5022020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450000"/>
                <a:gridCol w="2950111"/>
                <a:gridCol w="1525392"/>
                <a:gridCol w="1568880"/>
                <a:gridCol w="1875614"/>
                <a:gridCol w="2994755"/>
              </a:tblGrid>
              <a:tr h="456519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S.No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Paper (Year)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Model Used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Performance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Limitations / Research Gap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Proposed Improvement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983481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Explainable AI for Drug-Resistant Tuberculosis Detection from Chest X-Rays (2026)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DEiT-B/16 Transformer, Raw Attention, Grad-CAM, LIME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Recall 82.8%, Precision 82.6%, F1 82.7%, AUC 0.800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CXR only; no genomic information or multimodal fusion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CoAtNet-0 + Genomic Transformer + Late Fusion + Grad-CAM + Modality Contribution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99000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Combining Radiological and Genomic TB Portals Data for Drug Resistance Analysis (2023)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Random Forest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92.4% accuracy for CXR + genomic data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 deep multimodal feature learning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CoAtNet-0 for CXR + Transformer for genomic features + Late Fusion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81000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TB-CXRNet (2024)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CheXNet + PCA + Stacking Classifiers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87.48% accuracy for DR-TB vs DS-TB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CXR only; no genomic information; limited explainability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Lung-focused CXR + CoAtNet-0 + Genomic Transformer + Multimodal Explainability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99000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Generalization Challenges in Drug-Resistant Tuberculosis Detection from Chest X-rays (2022)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InceptionV3/CNN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AUC around 0.85 internally; around 0.65 on unseen data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Performance decreases </a:t>
                      </a:r>
                      <a:endParaRPr sz="1400" b="0" i="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 unseen datasets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Lung-focused preprocessing + multimodal CXR and genomic information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792021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AI-driven Drug Resistance Profiling in Tuberculosis Patients: A Transfer Learning Approach (2025)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ResNet50, DenseNet121, EfficientNet + Genomic Transformer + Attention-based Fusion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91.2% accuracy, 89.4% sensitivity, 92.7% precision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Uses three modalities including clinical data; requires higher computational resources and external validation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Focus on CXR + genomic information using CoAtNet-0 and Transformer with late fusion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</a:tbl>
          </a:graphicData>
        </a:graphic>
      </p:graphicFrame>
      <p:sp>
        <p:nvSpPr>
          <p:cNvPr id="1192181532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2883417" y="92228"/>
            <a:ext cx="6263451" cy="616813"/>
          </a:xfrm>
          <a:prstGeom prst="rect">
            <a:avLst/>
          </a:prstGeom>
        </p:spPr>
        <p:txBody>
          <a:bodyPr vert="horz" wrap="square" lIns="0" tIns="128773" rIns="0" bIns="0" rtlCol="0">
            <a:spAutoFit/>
          </a:bodyPr>
          <a:lstStyle/>
          <a:p>
            <a:pPr marL="1174748">
              <a:lnSpc>
                <a:spcPct val="100000"/>
              </a:lnSpc>
              <a:spcBef>
                <a:spcPts val="123"/>
              </a:spcBef>
              <a:defRPr/>
            </a:pPr>
            <a:r>
              <a:rPr lang="en-GB" spc="-9">
                <a:latin typeface="Times New Roman"/>
                <a:cs typeface="Times New Roman"/>
              </a:rPr>
              <a:t>LITERATURE SURVEY </a:t>
            </a:r>
            <a:endParaRPr spc="-9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8430382" name="Title 1"/>
          <p:cNvSpPr>
            <a:spLocks noGrp="1"/>
          </p:cNvSpPr>
          <p:nvPr>
            <p:ph type="title"/>
          </p:nvPr>
        </p:nvSpPr>
        <p:spPr bwMode="auto">
          <a:xfrm>
            <a:off x="4724399" y="601097"/>
            <a:ext cx="3555999" cy="492442"/>
          </a:xfrm>
        </p:spPr>
        <p:txBody>
          <a:bodyPr/>
          <a:lstStyle/>
          <a:p>
            <a:pPr>
              <a:defRPr/>
            </a:pPr>
            <a:r>
              <a:rPr lang="en-IN">
                <a:latin typeface="Times New Roman"/>
                <a:cs typeface="Times New Roman"/>
              </a:rPr>
              <a:t>RESEARCH GAP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311070620" name="TextBox 3"/>
          <p:cNvSpPr txBox="1"/>
          <p:nvPr/>
        </p:nvSpPr>
        <p:spPr bwMode="auto">
          <a:xfrm>
            <a:off x="1686168" y="1592370"/>
            <a:ext cx="9828865" cy="3404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16922" indent="-316922" algn="just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Existing DR-TB studies mainly focus on CXR analysis, while multimodal studies use CXR and genomic information in different ways. However, lung-focused CXR processing is not consistently used in these approaches.</a:t>
            </a:r>
            <a:endParaRPr sz="2100" b="0"/>
          </a:p>
          <a:p>
            <a:pPr marL="316922" indent="-316922" algn="just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Existing studies do not specifically combine lung-focused CoAtNet-0 CXR features with mutation-based genomic Transformer features for DR-TB and DS-TB classification.</a:t>
            </a:r>
            <a:endParaRPr sz="2100" b="0"/>
          </a:p>
          <a:p>
            <a:pPr marL="316922" indent="-316922" algn="just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use of Explainable AI with multimodal predictions is still limited, particularly for providing Grad-CAM explanations, modality contribution, and confidence scores in a unified diagnostic report.</a:t>
            </a:r>
            <a:endParaRPr sz="2100" b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4455575" name="Title 1"/>
          <p:cNvSpPr>
            <a:spLocks noGrp="1"/>
          </p:cNvSpPr>
          <p:nvPr>
            <p:ph type="title"/>
          </p:nvPr>
        </p:nvSpPr>
        <p:spPr bwMode="auto">
          <a:xfrm>
            <a:off x="685101" y="-259884"/>
            <a:ext cx="10972800" cy="1143000"/>
          </a:xfrm>
        </p:spPr>
        <p:txBody>
          <a:bodyPr/>
          <a:lstStyle/>
          <a:p>
            <a:pPr>
              <a:defRPr/>
            </a:pPr>
            <a:r>
              <a:rPr lang="en-US" sz="3600">
                <a:latin typeface="Times New Roman"/>
                <a:cs typeface="Times New Roman"/>
              </a:rPr>
              <a:t>                              ARCHITECTURE DIAGRAM</a:t>
            </a:r>
            <a:endParaRPr lang="en-IN" sz="3600">
              <a:latin typeface="Times New Roman"/>
              <a:cs typeface="Times New Roman"/>
            </a:endParaRPr>
          </a:p>
        </p:txBody>
      </p:sp>
      <p:sp>
        <p:nvSpPr>
          <p:cNvPr id="146454534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0902" y="2214694"/>
            <a:ext cx="10441497" cy="4109907"/>
          </a:xfrm>
        </p:spPr>
        <p:txBody>
          <a:bodyPr/>
          <a:lstStyle/>
          <a:p>
            <a:pPr>
              <a:defRPr/>
            </a:pPr>
            <a:endParaRPr lang="en-IN"/>
          </a:p>
        </p:txBody>
      </p:sp>
      <p:pic>
        <p:nvPicPr>
          <p:cNvPr id="2143903627" name="Pictur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620624" y="4348724"/>
            <a:ext cx="2155644" cy="212789"/>
          </a:xfrm>
          <a:prstGeom prst="rect">
            <a:avLst/>
          </a:prstGeom>
        </p:spPr>
      </p:pic>
      <p:pic>
        <p:nvPicPr>
          <p:cNvPr id="1592928938" name="Picture 7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9364507" y="1845578"/>
            <a:ext cx="1876739" cy="170052"/>
          </a:xfrm>
          <a:prstGeom prst="rect">
            <a:avLst/>
          </a:prstGeom>
        </p:spPr>
      </p:pic>
      <p:pic>
        <p:nvPicPr>
          <p:cNvPr id="895419847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784212" y="883116"/>
            <a:ext cx="11142945" cy="58235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2629759" name="Title 1"/>
          <p:cNvSpPr>
            <a:spLocks noGrp="1"/>
          </p:cNvSpPr>
          <p:nvPr>
            <p:ph type="title"/>
          </p:nvPr>
        </p:nvSpPr>
        <p:spPr bwMode="auto">
          <a:xfrm>
            <a:off x="1935061" y="-276662"/>
            <a:ext cx="10972800" cy="1143000"/>
          </a:xfrm>
        </p:spPr>
        <p:txBody>
          <a:bodyPr/>
          <a:lstStyle/>
          <a:p>
            <a:pPr>
              <a:defRPr/>
            </a:pPr>
            <a:r>
              <a:rPr lang="en-IN">
                <a:latin typeface="Times New Roman"/>
                <a:cs typeface="Times New Roman"/>
              </a:rPr>
              <a:t>PROPOSED WORK WITH PLANNED INNOVATION</a:t>
            </a:r>
            <a:endParaRPr/>
          </a:p>
        </p:txBody>
      </p:sp>
      <p:sp>
        <p:nvSpPr>
          <p:cNvPr id="144165483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33180" y="1029059"/>
            <a:ext cx="10772263" cy="5217253"/>
          </a:xfrm>
        </p:spPr>
        <p:txBody>
          <a:bodyPr/>
          <a:lstStyle/>
          <a:p>
            <a:pPr marL="137159" indent="0">
              <a:lnSpc>
                <a:spcPct val="114999"/>
              </a:lnSpc>
              <a:buClr>
                <a:schemeClr val="dk1"/>
              </a:buClr>
              <a:buSzPts val="1440"/>
              <a:buFont typeface="Noto Sans Symbols"/>
              <a:buNone/>
              <a:defRPr/>
            </a:pPr>
            <a:r>
              <a:rPr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Proposed Work</a:t>
            </a:r>
            <a:endParaRPr sz="210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Isolate the lung region from the CXR and use CoAtNet-0 to classify DR-TB and DS-TB.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 a Transformer to learn features from mutation-based genomic information.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Combine CXR and genomic features using late fusion for multimodal classification.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 Grad-CAM and modality analysis to explain the model predictions.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Generate a diagnostic report with CXR, genomic, and multimodal predictions and their confidence scores.</a:t>
            </a:r>
            <a:endParaRPr sz="21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endParaRPr sz="2100" b="0"/>
          </a:p>
          <a:p>
            <a:pPr marL="137159" indent="0">
              <a:buClr>
                <a:schemeClr val="dk1"/>
              </a:buClr>
              <a:buSzPts val="1440"/>
              <a:buFont typeface="Noto Sans Symbols"/>
              <a:buNone/>
              <a:defRPr/>
            </a:pPr>
            <a:r>
              <a:rPr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Planned Innovation</a:t>
            </a:r>
            <a:endParaRPr sz="12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Focus on the lung region before extracting CXR features.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 CoAtNet-0 for CXR features and a Transformer for genomic features.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Combine the two modalities using late fusion.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Provide Explainable AI and confidence-based results in a unified report.</a:t>
            </a:r>
            <a:endParaRPr sz="2100" b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7944434" name="Title 1"/>
          <p:cNvSpPr>
            <a:spLocks noGrp="1"/>
          </p:cNvSpPr>
          <p:nvPr>
            <p:ph type="title"/>
          </p:nvPr>
        </p:nvSpPr>
        <p:spPr bwMode="auto">
          <a:xfrm>
            <a:off x="609599" y="234862"/>
            <a:ext cx="10972800" cy="441343"/>
          </a:xfrm>
        </p:spPr>
        <p:txBody>
          <a:bodyPr/>
          <a:lstStyle/>
          <a:p>
            <a:pPr>
              <a:defRPr/>
            </a:pPr>
            <a:r>
              <a:rPr lang="en-IN">
                <a:latin typeface="Times New Roman"/>
                <a:cs typeface="Times New Roman"/>
              </a:rPr>
              <a:t>                             MODULES OF THE PROJECT</a:t>
            </a:r>
            <a:endParaRPr/>
          </a:p>
        </p:txBody>
      </p:sp>
      <p:sp>
        <p:nvSpPr>
          <p:cNvPr id="37460886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27712" y="858877"/>
            <a:ext cx="10972800" cy="5886800"/>
          </a:xfrm>
        </p:spPr>
        <p:txBody>
          <a:bodyPr/>
          <a:lstStyle/>
          <a:p>
            <a:pPr marL="137159" indent="0">
              <a:buClr>
                <a:schemeClr val="dk1"/>
              </a:buClr>
              <a:buSzPts val="1440"/>
              <a:buFont typeface="Noto Sans Symbols"/>
              <a:buNone/>
              <a:defRPr/>
            </a:pPr>
            <a:r>
              <a:rPr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1</a:t>
            </a:r>
            <a:r>
              <a:rPr lang="en-GB"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  <a:r>
              <a:rPr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Dataset Collection</a:t>
            </a:r>
            <a:endParaRPr sz="210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Collected CXR images and genomic information from the TB Portals March 2025 dataset</a:t>
            </a:r>
            <a:endParaRPr sz="210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Selected 1,976 unique TB conditions</a:t>
            </a:r>
            <a:endParaRPr sz="210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Included 704 DS-TB conditions and 1,272 DR-TB conditions</a:t>
            </a:r>
            <a:endParaRPr sz="210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Matched CXR images and genomic information with the corresponding TB condition</a:t>
            </a:r>
            <a:endParaRPr sz="210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Collected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mutation-based genomic information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including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gene and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mutation information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endParaRPr sz="2100"/>
          </a:p>
          <a:p>
            <a:pPr marL="137159" indent="0"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None/>
              <a:defRPr/>
            </a:pPr>
            <a:r>
              <a:rPr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2</a:t>
            </a:r>
            <a:r>
              <a:rPr lang="en-GB"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  <a:r>
              <a:rPr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CXR Image Preprocessing</a:t>
            </a:r>
            <a:endParaRPr sz="210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Resized the collected CXR images to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224 × 224 pixels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Applied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CLAHE (Contrast Limited Adaptive Histogram Equalization)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to enhance the contrast of the CXR images</a:t>
            </a:r>
            <a:endParaRPr sz="2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9279599" name="Google Shape;66;p11"/>
          <p:cNvSpPr txBox="1">
            <a:spLocks noGrp="1"/>
          </p:cNvSpPr>
          <p:nvPr>
            <p:ph type="body" idx="1"/>
          </p:nvPr>
        </p:nvSpPr>
        <p:spPr bwMode="auto">
          <a:xfrm>
            <a:off x="1188697" y="469725"/>
            <a:ext cx="10445892" cy="5920114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32004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marL="137159" indent="0">
              <a:lnSpc>
                <a:spcPct val="114999"/>
              </a:lnSpc>
              <a:buClr>
                <a:schemeClr val="dk1"/>
              </a:buClr>
              <a:buSzPts val="1440"/>
              <a:buFont typeface="Noto Sans Symbols"/>
              <a:buNone/>
              <a:defRPr/>
            </a:pPr>
            <a:r>
              <a:rPr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3 </a:t>
            </a:r>
            <a:r>
              <a:rPr lang="en-GB"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  <a:r>
              <a:rPr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Lung Segmentation</a:t>
            </a:r>
            <a:endParaRPr sz="210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Used the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pretrained TorchXRayVision ChestX-Det PSPNet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for lung-region segmentation 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Generated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lung-region probability maps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from the preprocessed CXR images 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Converted the probability maps into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binary lung masks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using a threshold 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Combined the segmented lung regions to obtain the complete lung mask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Applied the lung mask to the CXR image to remove irrelevant non-lung regions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Obtained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lung-focused CXR images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for subsequent DR-TB and DS-TB classification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endParaRPr sz="2100" b="0"/>
          </a:p>
          <a:p>
            <a:pPr marL="137159" indent="0">
              <a:buClr>
                <a:schemeClr val="dk1"/>
              </a:buClr>
              <a:buSzPts val="1440"/>
              <a:buFont typeface="Noto Sans Symbols"/>
              <a:buNone/>
              <a:defRPr/>
            </a:pPr>
            <a:r>
              <a:rPr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4 </a:t>
            </a:r>
            <a:r>
              <a:rPr lang="en-GB"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  <a:r>
              <a:rPr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Dataset Preparation and Splitting</a:t>
            </a:r>
            <a:endParaRPr sz="210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Organized the lung-focused CXR images according to their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DR-TB and DS-TB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labels 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Kept the corresponding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genomic information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linked to the same TB condition 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Used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random seed 42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for reproducible dataset splitting 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Training set 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1,185 conditions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— 422 DS-TB and 763 DR-TB 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Validation set 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395 conditions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— 141 DS-TB and 254 DR-TB 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Testing set 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396 conditions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— 141 DS-TB and 255 DR-TB </a:t>
            </a:r>
            <a:endParaRPr sz="2100" b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7316918" name="Google Shape;66;p11"/>
          <p:cNvSpPr txBox="1">
            <a:spLocks noGrp="1"/>
          </p:cNvSpPr>
          <p:nvPr>
            <p:ph type="body" idx="1"/>
          </p:nvPr>
        </p:nvSpPr>
        <p:spPr bwMode="auto">
          <a:xfrm>
            <a:off x="1162601" y="313149"/>
            <a:ext cx="10445892" cy="575049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32004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marL="137159" indent="0">
              <a:buClr>
                <a:schemeClr val="dk1"/>
              </a:buClr>
              <a:buSzPts val="1440"/>
              <a:buFont typeface="Noto Sans Symbols"/>
              <a:buNone/>
              <a:defRPr/>
            </a:pPr>
            <a:r>
              <a:rPr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5: CoAtNet-0 Model Training</a:t>
            </a:r>
            <a:endParaRPr sz="2100">
              <a:latin typeface="Times New Roman"/>
              <a:cs typeface="Times New Roman"/>
            </a:endParaRPr>
          </a:p>
          <a:p>
            <a:pPr algn="just">
              <a:lnSpc>
                <a:spcPct val="114999"/>
              </a:lnSpc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Load the pretrained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CoAtNet-0 (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coatnet_0_rw_224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model. </a:t>
            </a:r>
            <a:endParaRPr sz="2100" b="0">
              <a:latin typeface="Times New Roman"/>
              <a:cs typeface="Times New Roman"/>
            </a:endParaRPr>
          </a:p>
          <a:p>
            <a:pPr algn="just">
              <a:lnSpc>
                <a:spcPct val="114999"/>
              </a:lnSpc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 the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lung-focused CXR images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with an input resolution of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224 × 224 pixels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endParaRPr sz="2100" b="0">
              <a:latin typeface="Times New Roman"/>
              <a:cs typeface="Times New Roman"/>
            </a:endParaRPr>
          </a:p>
          <a:p>
            <a:pPr algn="just">
              <a:lnSpc>
                <a:spcPct val="114999"/>
              </a:lnSpc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Replace the original classification head with a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2-class output layer for DS-TB and DR-TB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endParaRPr sz="2100" b="0">
              <a:latin typeface="Times New Roman"/>
              <a:cs typeface="Times New Roman"/>
            </a:endParaRPr>
          </a:p>
          <a:p>
            <a:pPr algn="just">
              <a:lnSpc>
                <a:spcPct val="114999"/>
              </a:lnSpc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Extract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768-dimensional feature representations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from the CoAtNet-0 backbone. </a:t>
            </a:r>
            <a:endParaRPr sz="2100" b="0">
              <a:latin typeface="Times New Roman"/>
              <a:cs typeface="Times New Roman"/>
            </a:endParaRPr>
          </a:p>
          <a:p>
            <a:pPr algn="just">
              <a:lnSpc>
                <a:spcPct val="114999"/>
              </a:lnSpc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class-weighted CrossEntropyLoss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with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label smoothing of 0.02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endParaRPr sz="2100" b="0">
              <a:latin typeface="Times New Roman"/>
              <a:cs typeface="Times New Roman"/>
            </a:endParaRPr>
          </a:p>
          <a:p>
            <a:pPr algn="just">
              <a:lnSpc>
                <a:spcPct val="114999"/>
              </a:lnSpc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 the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AdamW optimizer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with a backbone learning rate of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 × 10⁻⁵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and classifier learning rate of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 × 10⁻⁴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endParaRPr sz="2100" b="0">
              <a:latin typeface="Times New Roman"/>
              <a:cs typeface="Times New Roman"/>
            </a:endParaRPr>
          </a:p>
          <a:p>
            <a:pPr algn="just">
              <a:lnSpc>
                <a:spcPct val="114999"/>
              </a:lnSpc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Set the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weight decay to 1 × 10⁻⁴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endParaRPr sz="2100" b="0">
              <a:latin typeface="Times New Roman"/>
              <a:cs typeface="Times New Roman"/>
            </a:endParaRPr>
          </a:p>
          <a:p>
            <a:pPr algn="just">
              <a:lnSpc>
                <a:spcPct val="114999"/>
              </a:lnSpc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 a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batch size of 4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with gradient accumulation of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 steps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giving an effective batch size of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16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endParaRPr sz="2100" b="0">
              <a:latin typeface="Times New Roman"/>
              <a:cs typeface="Times New Roman"/>
            </a:endParaRPr>
          </a:p>
          <a:p>
            <a:pPr algn="just">
              <a:lnSpc>
                <a:spcPct val="114999"/>
              </a:lnSpc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Apply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gradient clipping with a maximum norm of 1.0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endParaRPr sz="2100" b="0">
              <a:latin typeface="Times New Roman"/>
              <a:cs typeface="Times New Roman"/>
            </a:endParaRPr>
          </a:p>
          <a:p>
            <a:pPr algn="just">
              <a:lnSpc>
                <a:spcPct val="114999"/>
              </a:lnSpc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 a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cosine annealing learning-rate schedule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during training. </a:t>
            </a:r>
            <a:endParaRPr sz="2100" b="0">
              <a:latin typeface="Times New Roman"/>
              <a:cs typeface="Times New Roman"/>
            </a:endParaRPr>
          </a:p>
          <a:p>
            <a:pPr algn="just">
              <a:lnSpc>
                <a:spcPct val="114999"/>
              </a:lnSpc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Train the model for a maximum of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40 epochs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endParaRPr sz="2100" b="0">
              <a:latin typeface="Times New Roman"/>
              <a:cs typeface="Times New Roman"/>
            </a:endParaRPr>
          </a:p>
          <a:p>
            <a:pPr algn="just">
              <a:lnSpc>
                <a:spcPct val="114999"/>
              </a:lnSpc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Validate the model after each epoch using the validation dataset.</a:t>
            </a:r>
            <a:endParaRPr sz="2100" b="0">
              <a:latin typeface="Times New Roman"/>
              <a:cs typeface="Times New Roman"/>
            </a:endParaRPr>
          </a:p>
          <a:p>
            <a:pPr algn="just">
              <a:lnSpc>
                <a:spcPct val="114999"/>
              </a:lnSpc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Select and save the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best model checkpoint based on validation ROC-AUC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100" b="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0150625" name="Google Shape;66;p11"/>
          <p:cNvSpPr txBox="1">
            <a:spLocks noGrp="1"/>
          </p:cNvSpPr>
          <p:nvPr>
            <p:ph type="body" idx="1"/>
          </p:nvPr>
        </p:nvSpPr>
        <p:spPr bwMode="auto">
          <a:xfrm>
            <a:off x="1188697" y="717636"/>
            <a:ext cx="10680756" cy="586792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32004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marL="137159" indent="0">
              <a:lnSpc>
                <a:spcPct val="114999"/>
              </a:lnSpc>
              <a:buClr>
                <a:schemeClr val="dk1"/>
              </a:buClr>
              <a:buSzPts val="1440"/>
              <a:buFont typeface="Noto Sans Symbols"/>
              <a:buNone/>
              <a:defRPr/>
            </a:pPr>
            <a:r>
              <a:rPr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6</a:t>
            </a:r>
            <a:r>
              <a:rPr lang="en-GB"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  <a:r>
              <a:rPr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Genomic Data Processing and Transformer</a:t>
            </a:r>
            <a:endParaRPr sz="210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Processed the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mutation-based genomic information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associated with each TB condition 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Represented the mutation information as a sequence of genomic tokens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Used a genomic vocabulary of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78 tokens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Limited the genomic sequence length to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74 tokens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Converted the tokens into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128-dimensional embeddings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Passed the embedded sequences through a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2-layer Transformer encoder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Used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 attention heads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and a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256-dimensional feed-forward layer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Applied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0.2 dropout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during Transformer processing 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Generated a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128-dimensional genomic feature representation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Used the genomic representation for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DS-TB and DR-TB classification</a:t>
            </a:r>
            <a:endParaRPr sz="2100" b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912058" name="Google Shape;66;p11"/>
          <p:cNvSpPr txBox="1">
            <a:spLocks noGrp="1"/>
          </p:cNvSpPr>
          <p:nvPr>
            <p:ph type="body" idx="1"/>
          </p:nvPr>
        </p:nvSpPr>
        <p:spPr bwMode="auto">
          <a:xfrm>
            <a:off x="1032123" y="782876"/>
            <a:ext cx="10550276" cy="575049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32004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marL="137159" indent="0">
              <a:buClr>
                <a:schemeClr val="dk1"/>
              </a:buClr>
              <a:buSzPts val="1440"/>
              <a:buFont typeface="Noto Sans Symbols"/>
              <a:buNone/>
              <a:defRPr/>
            </a:pPr>
            <a:r>
              <a:rPr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7</a:t>
            </a:r>
            <a:r>
              <a:rPr lang="en-GB"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  <a:r>
              <a:rPr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Multimodal CXR–Genomic Fusion</a:t>
            </a:r>
            <a:endParaRPr sz="210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 the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768-dimensional CXR features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extracted from CoAtNet-0 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 the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128-dimensional genomic features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extracted from the Transformer 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Project the CXR features from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768 to 256 dimensions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Project the genomic features from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128 to 128 dimensions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Apply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Batch Normalization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to both modality representations 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Concatenate the CXR and genomic features to form a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384-dimensional fused representation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Pass the fused representation through a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128-dimensional fully connected layer with ReLU activation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Apply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0.2 dropout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to the fused representation 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 a final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2-class output layer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for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DS-TB and DR-TB classification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Train the fusion network using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Adam optimizer with a learning rate of 0.001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Generate the final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multimodal DR-TB and DS-TB prediction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from the fused CXR and genomic features </a:t>
            </a:r>
            <a:endParaRPr sz="2100" b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7834930" name="Google Shape;66;p11"/>
          <p:cNvSpPr txBox="1">
            <a:spLocks noGrp="1"/>
          </p:cNvSpPr>
          <p:nvPr>
            <p:ph type="body" idx="1"/>
          </p:nvPr>
        </p:nvSpPr>
        <p:spPr bwMode="auto">
          <a:xfrm>
            <a:off x="1032122" y="782875"/>
            <a:ext cx="10550275" cy="575049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320040" algn="l">
              <a:lnSpc>
                <a:spcPct val="100000"/>
              </a:lnSpc>
              <a:spcBef>
                <a:spcPts val="358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58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7" algn="l">
              <a:lnSpc>
                <a:spcPct val="100000"/>
              </a:lnSpc>
              <a:spcBef>
                <a:spcPts val="358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7" algn="l">
              <a:lnSpc>
                <a:spcPct val="100000"/>
              </a:lnSpc>
              <a:spcBef>
                <a:spcPts val="358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7" algn="l">
              <a:lnSpc>
                <a:spcPct val="100000"/>
              </a:lnSpc>
              <a:spcBef>
                <a:spcPts val="358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7" algn="l">
              <a:lnSpc>
                <a:spcPct val="100000"/>
              </a:lnSpc>
              <a:spcBef>
                <a:spcPts val="358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7" algn="l">
              <a:lnSpc>
                <a:spcPct val="100000"/>
              </a:lnSpc>
              <a:spcBef>
                <a:spcPts val="358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58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58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marL="137159" indent="0">
              <a:lnSpc>
                <a:spcPct val="114999"/>
              </a:lnSpc>
              <a:buClr>
                <a:schemeClr val="dk1"/>
              </a:buClr>
              <a:buSzPts val="1440"/>
              <a:buFont typeface="Noto Sans Symbols"/>
              <a:buNone/>
              <a:defRPr/>
            </a:pPr>
            <a:r>
              <a:rPr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8</a:t>
            </a:r>
            <a:r>
              <a:rPr lang="en-GB"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  <a:r>
              <a:rPr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Explainable AI and Unified Diagnostic Report</a:t>
            </a:r>
            <a:endParaRPr sz="210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Apply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Grad-CAM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to the trained CoAtNet-0 model to identify the CXR regions influencing the DR-TB and DS-TB prediction 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Generate Grad-CAM heatmaps for the test cases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Perform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modality-contribution analysis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to determine the contribution of CXR and genomic information to the multimodal prediction 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Generate the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CXR-based prediction and confidence score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Generate the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genomic-based prediction and confidence score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Generate the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multimodal prediction and confidence score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Present the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Grad-CAM heatmap and modality-contribution results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along with the three model predictions 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Combine these results into a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unified diagnostic report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for interpretation</a:t>
            </a:r>
            <a:endParaRPr sz="2100" b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693444" name="Google Shape;65;p11"/>
          <p:cNvSpPr txBox="1">
            <a:spLocks noGrp="1"/>
          </p:cNvSpPr>
          <p:nvPr>
            <p:ph type="title"/>
          </p:nvPr>
        </p:nvSpPr>
        <p:spPr bwMode="auto">
          <a:xfrm>
            <a:off x="4683774" y="28330"/>
            <a:ext cx="10156290" cy="70432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en-GB" sz="2600">
                <a:latin typeface="Times New Roman"/>
                <a:cs typeface="Times New Roman"/>
              </a:rPr>
              <a:t>IMPLEMENTATION 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38572057" name="Google Shape;66;p11"/>
          <p:cNvSpPr txBox="1">
            <a:spLocks noGrp="1"/>
          </p:cNvSpPr>
          <p:nvPr>
            <p:ph type="body" idx="1"/>
          </p:nvPr>
        </p:nvSpPr>
        <p:spPr bwMode="auto">
          <a:xfrm>
            <a:off x="1019075" y="1056883"/>
            <a:ext cx="10986369" cy="5267716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32004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marL="137159" indent="0">
              <a:buClr>
                <a:schemeClr val="dk1"/>
              </a:buClr>
              <a:buSzPts val="1440"/>
              <a:buFont typeface="Noto Sans Symbols"/>
              <a:buNone/>
              <a:defRPr/>
            </a:pPr>
            <a:r>
              <a:rPr lang="en-GB"/>
              <a:t>                                        </a:t>
            </a:r>
            <a:endParaRPr/>
          </a:p>
          <a:p>
            <a:pPr marL="137159" indent="0">
              <a:buClr>
                <a:schemeClr val="dk1"/>
              </a:buClr>
              <a:buSzPts val="1440"/>
              <a:buFont typeface="Noto Sans Symbols"/>
              <a:buNone/>
              <a:defRPr/>
            </a:pPr>
            <a:r>
              <a:rPr lang="en-GB"/>
              <a:t>                                                                              </a:t>
            </a:r>
            <a:endParaRPr/>
          </a:p>
          <a:p>
            <a:pPr marL="137159" indent="0">
              <a:buClr>
                <a:schemeClr val="dk1"/>
              </a:buClr>
              <a:buSzPts val="1440"/>
              <a:buFont typeface="Noto Sans Symbols"/>
              <a:buNone/>
              <a:defRPr/>
            </a:pPr>
            <a:endParaRPr/>
          </a:p>
          <a:p>
            <a:pPr marL="137159" indent="0">
              <a:buClr>
                <a:schemeClr val="dk1"/>
              </a:buClr>
              <a:buSzPts val="1440"/>
              <a:buFont typeface="Noto Sans Symbols"/>
              <a:buNone/>
              <a:defRPr/>
            </a:pPr>
            <a:endParaRPr/>
          </a:p>
          <a:p>
            <a:pPr marL="137159" indent="0">
              <a:buClr>
                <a:schemeClr val="dk1"/>
              </a:buClr>
              <a:buSzPts val="1440"/>
              <a:buFont typeface="Noto Sans Symbols"/>
              <a:buNone/>
              <a:defRPr/>
            </a:pPr>
            <a:endParaRPr/>
          </a:p>
          <a:p>
            <a:pPr marL="137159" indent="0">
              <a:buClr>
                <a:schemeClr val="dk1"/>
              </a:buClr>
              <a:buSzPts val="1440"/>
              <a:buFont typeface="Noto Sans Symbols"/>
              <a:buNone/>
              <a:defRPr/>
            </a:pPr>
            <a:endParaRPr/>
          </a:p>
          <a:p>
            <a:pPr marL="137159" indent="0">
              <a:buClr>
                <a:schemeClr val="dk1"/>
              </a:buClr>
              <a:buSzPts val="1440"/>
              <a:buFont typeface="Noto Sans Symbols"/>
              <a:buNone/>
              <a:defRPr/>
            </a:pPr>
            <a:endParaRPr/>
          </a:p>
          <a:p>
            <a:pPr marL="137159" indent="0">
              <a:buClr>
                <a:schemeClr val="dk1"/>
              </a:buClr>
              <a:buSzPts val="1440"/>
              <a:buFont typeface="Noto Sans Symbols"/>
              <a:buNone/>
              <a:defRPr/>
            </a:pPr>
            <a:endParaRPr/>
          </a:p>
          <a:p>
            <a:pPr marL="137159" indent="0">
              <a:buClr>
                <a:schemeClr val="dk1"/>
              </a:buClr>
              <a:buSzPts val="1440"/>
              <a:buFont typeface="Noto Sans Symbols"/>
              <a:buNone/>
              <a:defRPr/>
            </a:pPr>
            <a:endParaRPr/>
          </a:p>
          <a:p>
            <a:pPr marL="137159" indent="0">
              <a:buClr>
                <a:schemeClr val="dk1"/>
              </a:buClr>
              <a:buSzPts val="1440"/>
              <a:buFont typeface="Noto Sans Symbols"/>
              <a:buNone/>
              <a:defRPr/>
            </a:pPr>
            <a:r>
              <a:rPr lang="en-GB" sz="1600"/>
              <a:t> </a:t>
            </a:r>
            <a:r>
              <a:rPr lang="en-GB" sz="1500" b="0"/>
              <a:t>   </a:t>
            </a:r>
            <a:r>
              <a:rPr lang="en-GB"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</a:t>
            </a:r>
            <a:r>
              <a:rPr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Original Image</a:t>
            </a:r>
            <a:r>
              <a:rPr lang="en-GB" sz="1500" b="0">
                <a:latin typeface="Times New Roman"/>
                <a:ea typeface="Times New Roman"/>
                <a:cs typeface="Times New Roman"/>
              </a:rPr>
              <a:t>                       </a:t>
            </a:r>
            <a:r>
              <a:rPr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Resized (</a:t>
            </a:r>
            <a:r>
              <a:rPr lang="en-GB"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224</a:t>
            </a:r>
            <a:r>
              <a:rPr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× </a:t>
            </a:r>
            <a:r>
              <a:rPr lang="en-GB"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224</a:t>
            </a:r>
            <a:r>
              <a:rPr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</a:t>
            </a:r>
            <a:r>
              <a:rPr lang="en-GB" sz="1500" b="0">
                <a:latin typeface="Times New Roman"/>
                <a:ea typeface="Times New Roman"/>
                <a:cs typeface="Times New Roman"/>
              </a:rPr>
              <a:t> Image     </a:t>
            </a:r>
            <a:r>
              <a:rPr lang="en-GB"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LAHE Enhanced Image(</a:t>
            </a:r>
            <a:r>
              <a:rPr lang="en-GB"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224</a:t>
            </a:r>
            <a:r>
              <a:rPr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×</a:t>
            </a:r>
            <a:r>
              <a:rPr lang="en-GB"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224</a:t>
            </a:r>
            <a:r>
              <a:rPr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</a:t>
            </a:r>
            <a:r>
              <a:rPr lang="en-GB" sz="1500" b="0">
                <a:latin typeface="Times New Roman"/>
                <a:ea typeface="Times New Roman"/>
                <a:cs typeface="Times New Roman"/>
              </a:rPr>
              <a:t>     </a:t>
            </a:r>
            <a:r>
              <a:rPr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Segmented Lung Image(224×224)</a:t>
            </a:r>
            <a:b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endParaRPr sz="1600"/>
          </a:p>
        </p:txBody>
      </p:sp>
      <p:pic>
        <p:nvPicPr>
          <p:cNvPr id="1018894108" name="Picture 10084520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18467" y="1370032"/>
            <a:ext cx="2695412" cy="2622636"/>
          </a:xfrm>
          <a:prstGeom prst="rect">
            <a:avLst/>
          </a:prstGeom>
        </p:spPr>
      </p:pic>
      <p:pic>
        <p:nvPicPr>
          <p:cNvPr id="279639599" name="Picture 1838301143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616643" y="1705331"/>
            <a:ext cx="2231199" cy="2389894"/>
          </a:xfrm>
          <a:prstGeom prst="rect">
            <a:avLst/>
          </a:prstGeom>
        </p:spPr>
      </p:pic>
      <p:pic>
        <p:nvPicPr>
          <p:cNvPr id="1037211384" name="Picture 1481294750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3931310" y="1705331"/>
            <a:ext cx="2333038" cy="2333038"/>
          </a:xfrm>
          <a:prstGeom prst="rect">
            <a:avLst/>
          </a:prstGeom>
        </p:spPr>
      </p:pic>
      <p:pic>
        <p:nvPicPr>
          <p:cNvPr id="276364231" name="Picture 670359203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9472808" y="1961626"/>
            <a:ext cx="2133599" cy="21335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938805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0">
            <a:off x="1265650" y="822020"/>
            <a:ext cx="9735102" cy="46842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791039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552705" y="825217"/>
            <a:ext cx="8469451" cy="1732179"/>
          </a:xfrm>
          <a:prstGeom prst="rect">
            <a:avLst/>
          </a:prstGeom>
        </p:spPr>
      </p:pic>
      <p:pic>
        <p:nvPicPr>
          <p:cNvPr id="32938234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122123" y="2684802"/>
            <a:ext cx="4985650" cy="4139736"/>
          </a:xfrm>
          <a:prstGeom prst="rect">
            <a:avLst/>
          </a:prstGeom>
        </p:spPr>
      </p:pic>
      <p:pic>
        <p:nvPicPr>
          <p:cNvPr id="2134925733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6276061" y="2771775"/>
            <a:ext cx="5598903" cy="3600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555117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27739" y="247910"/>
            <a:ext cx="5467088" cy="5963683"/>
          </a:xfrm>
          <a:prstGeom prst="rect">
            <a:avLst/>
          </a:prstGeom>
        </p:spPr>
      </p:pic>
      <p:pic>
        <p:nvPicPr>
          <p:cNvPr id="142330978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629691" y="365342"/>
            <a:ext cx="5297812" cy="37839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87859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930392" y="96961"/>
            <a:ext cx="4134573" cy="458474"/>
          </a:xfrm>
        </p:spPr>
        <p:txBody>
          <a:bodyPr/>
          <a:lstStyle/>
          <a:p>
            <a:pPr>
              <a:defRPr/>
            </a:pPr>
            <a:r>
              <a:rPr lang="en-US" sz="2600">
                <a:latin typeface="Times New Roman"/>
                <a:cs typeface="Times New Roman"/>
              </a:rPr>
              <a:t>BASE LINE COMPARISION</a:t>
            </a:r>
            <a:endParaRPr lang="en-IN" sz="2600">
              <a:latin typeface="Times New Roman"/>
              <a:cs typeface="Times New Roman"/>
            </a:endParaRPr>
          </a:p>
        </p:txBody>
      </p:sp>
      <p:graphicFrame>
        <p:nvGraphicFramePr>
          <p:cNvPr id="490168114" name="Table 10"/>
          <p:cNvGraphicFramePr>
            <a:graphicFrameLocks xmlns:a="http://schemas.openxmlformats.org/drawingml/2006/main" noGrp="1"/>
          </p:cNvGraphicFramePr>
          <p:nvPr/>
        </p:nvGraphicFramePr>
        <p:xfrm rot="0">
          <a:off x="3171039" y="615049"/>
          <a:ext cx="6635835" cy="5957242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207712"/>
                <a:gridCol w="2207712"/>
                <a:gridCol w="2207712"/>
              </a:tblGrid>
              <a:tr h="436726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Feature / Component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Baseline System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Proposed System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321374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Input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Chest X-ray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Chest X-ray + Genomic Information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42460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CXR Model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DEiT-B/16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CoAtNet-0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32740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Genomic Model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Not used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Transformer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262036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Fusion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Not used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Late Fusion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31588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Classification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DR-TB vs DS-TB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DR-TB vs DS-TB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262036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Precision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0.826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97.92%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436726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Recall / Sensitivity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0.828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92.16%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611005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F1-Score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0.827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94.95%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436726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ROC-AUC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0.800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0.9714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436726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Accuracy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GB"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86%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93.69%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436726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400" b="0">
                          <a:latin typeface="Times New Roman"/>
                          <a:ea typeface="Times New Roman"/>
                          <a:cs typeface="Times New Roman"/>
                        </a:rPr>
                        <a:t>Interpretability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400" b="0">
                          <a:latin typeface="Times New Roman"/>
                          <a:ea typeface="Times New Roman"/>
                          <a:cs typeface="Times New Roman"/>
                        </a:rPr>
                        <a:t>Local feature-based explanation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400" b="0">
                          <a:latin typeface="Times New Roman"/>
                          <a:ea typeface="Times New Roman"/>
                          <a:cs typeface="Times New Roman"/>
                        </a:rPr>
                        <a:t>Class-specific visual explanation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436726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400" b="0">
                          <a:latin typeface="Times New Roman"/>
                          <a:ea typeface="Times New Roman"/>
                          <a:cs typeface="Times New Roman"/>
                        </a:rPr>
                        <a:t>Diagnostic Support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400">
                          <a:latin typeface="Times New Roman"/>
                          <a:ea typeface="Times New Roman"/>
                          <a:cs typeface="Times New Roman"/>
                        </a:rPr>
                        <a:t>Limited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400">
                          <a:latin typeface="Times New Roman"/>
                          <a:ea typeface="Times New Roman"/>
                          <a:cs typeface="Times New Roman"/>
                        </a:rPr>
                        <a:t>Enhanced with visual and structured reporting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436726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400" b="0">
                          <a:latin typeface="Times New Roman"/>
                          <a:ea typeface="Times New Roman"/>
                          <a:cs typeface="Times New Roman"/>
                        </a:rPr>
                        <a:t>Diagnostic Support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400" b="0">
                          <a:latin typeface="Times New Roman"/>
                          <a:ea typeface="Times New Roman"/>
                          <a:cs typeface="Times New Roman"/>
                        </a:rPr>
                        <a:t>Limited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400" b="0">
                          <a:latin typeface="Times New Roman"/>
                          <a:ea typeface="Times New Roman"/>
                          <a:cs typeface="Times New Roman"/>
                        </a:rPr>
                        <a:t>Enhanced with visual and structured reporting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7952002" name="Google Shape;65;p11"/>
          <p:cNvSpPr txBox="1">
            <a:spLocks noGrp="1"/>
          </p:cNvSpPr>
          <p:nvPr>
            <p:ph type="title"/>
          </p:nvPr>
        </p:nvSpPr>
        <p:spPr bwMode="auto">
          <a:xfrm flipH="0" flipV="0">
            <a:off x="3610627" y="106862"/>
            <a:ext cx="6007043" cy="51695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sz="2600" b="0" i="0" u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</a:rPr>
              <a:t>E</a:t>
            </a:r>
            <a:r>
              <a:rPr lang="en-GB" sz="2600" b="0" i="0" u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</a:rPr>
              <a:t>XISTING</a:t>
            </a:r>
            <a:r>
              <a:rPr sz="2600" b="0" i="0" u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600" b="0" i="0" u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lang="en-GB" sz="2600" b="0" i="0" u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</a:rPr>
              <a:t>YSTEM</a:t>
            </a:r>
            <a:r>
              <a:rPr sz="2600" b="0" i="0" u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600" b="0" i="0" u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lang="en-GB" sz="2600" b="0" i="0" u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</a:rPr>
              <a:t>OMPARISON</a:t>
            </a:r>
            <a:endParaRPr sz="2600">
              <a:solidFill>
                <a:schemeClr val="bg2"/>
              </a:solidFill>
            </a:endParaRPr>
          </a:p>
        </p:txBody>
      </p:sp>
      <p:graphicFrame>
        <p:nvGraphicFramePr>
          <p:cNvPr id="967762441" name="Table 10"/>
          <p:cNvGraphicFramePr>
            <a:graphicFrameLocks xmlns:a="http://schemas.openxmlformats.org/drawingml/2006/main"/>
          </p:cNvGraphicFramePr>
          <p:nvPr/>
        </p:nvGraphicFramePr>
        <p:xfrm rot="0">
          <a:off x="2402157" y="611121"/>
          <a:ext cx="7678724" cy="5552664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679293"/>
                <a:gridCol w="2679293"/>
                <a:gridCol w="2679293"/>
              </a:tblGrid>
              <a:tr h="528857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Feature </a:t>
                      </a: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 </a:t>
                      </a: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Component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Existing </a:t>
                      </a: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System 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Proposed </a:t>
                      </a: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System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456312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Dataset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TB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Portals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TB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Portals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March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2025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528857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Input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Radiological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findings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genomic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features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Chest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X-ray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images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mutation-based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genomic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information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316302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Lung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Segmentation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Not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used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as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model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stage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Pretrained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ChestX-Det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PSPNet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528857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CXR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Model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deep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CXR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model;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radiological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features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CoAtNet-0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528857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Genomic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Model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Conventional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machine-learning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features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Transformer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407192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Classification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Model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Random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Forest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Multimodal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late-fusion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network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407192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Accuracy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92.4%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±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0.8%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93.69%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407192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ROC-AUC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0.957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±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0.005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0.9714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528857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Explainability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integrated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XAI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pipeline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reported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Grad-CAM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modality-contribution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analysis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528857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Unified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Diagnostic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Report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Not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reported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Prediction,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confidence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scores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and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explainability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outputs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528857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400" b="0">
                          <a:latin typeface="Times New Roman"/>
                          <a:ea typeface="Times New Roman"/>
                          <a:cs typeface="Times New Roman"/>
                        </a:rPr>
                        <a:t>Diagnostic Support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400" b="0">
                          <a:latin typeface="Times New Roman"/>
                          <a:ea typeface="Times New Roman"/>
                          <a:cs typeface="Times New Roman"/>
                        </a:rPr>
                        <a:t>Limited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400" b="0">
                          <a:latin typeface="Times New Roman"/>
                          <a:ea typeface="Times New Roman"/>
                          <a:cs typeface="Times New Roman"/>
                        </a:rPr>
                        <a:t>Enhanced with visual and structured reporting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6961650" name="Title 1"/>
          <p:cNvSpPr>
            <a:spLocks noGrp="1"/>
          </p:cNvSpPr>
          <p:nvPr>
            <p:ph type="title"/>
          </p:nvPr>
        </p:nvSpPr>
        <p:spPr bwMode="auto">
          <a:xfrm>
            <a:off x="3883784" y="-74128"/>
            <a:ext cx="10972800" cy="1143000"/>
          </a:xfrm>
        </p:spPr>
        <p:txBody>
          <a:bodyPr/>
          <a:lstStyle/>
          <a:p>
            <a:pPr>
              <a:defRPr/>
            </a:pPr>
            <a:r>
              <a:rPr lang="en-IN" sz="2600">
                <a:latin typeface="Times New Roman"/>
                <a:cs typeface="Times New Roman"/>
              </a:rPr>
              <a:t>      COMPLEXITY &amp; COST</a:t>
            </a:r>
            <a:endParaRPr/>
          </a:p>
        </p:txBody>
      </p:sp>
      <p:graphicFrame>
        <p:nvGraphicFramePr>
          <p:cNvPr id="1417256695" name="Table 3"/>
          <p:cNvGraphicFramePr>
            <a:graphicFrameLocks xmlns:a="http://schemas.openxmlformats.org/drawingml/2006/main" noGrp="1"/>
          </p:cNvGraphicFramePr>
          <p:nvPr/>
        </p:nvGraphicFramePr>
        <p:xfrm rot="0">
          <a:off x="2145211" y="1414779"/>
          <a:ext cx="8128000" cy="402844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3632754"/>
                <a:gridCol w="4779505"/>
              </a:tblGrid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Aspect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Proposed System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Computational Complexity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Uses lung segmentation, CoAtNet-0, genomic Transformer, and multimodal fusion, resulting in higher computational requirements during training.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Implementation Complexity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Involves multiple stages including CXR preprocessing, lung segmentation, CXR classification, genomic processing, multimodal fusion, explainability, and report generation.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Hardware Cost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Model training may require GPU resources due to CoAtNet-0, Transformer processing, and multimodal training.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Development Cost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Uses open-source deep learning frameworks and pretrained models such as CoAtNet-0 and TorchXRayVision, reducing software and licensing costs.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Operational Cost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After training, the system can automate CXR, genomic, and multimodal predictions with explainability, reducing repeated manual analysis.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573382" name="Title 1"/>
          <p:cNvSpPr>
            <a:spLocks noGrp="1"/>
          </p:cNvSpPr>
          <p:nvPr>
            <p:ph type="title"/>
          </p:nvPr>
        </p:nvSpPr>
        <p:spPr bwMode="auto">
          <a:xfrm>
            <a:off x="2181138" y="-251495"/>
            <a:ext cx="9384484" cy="1143000"/>
          </a:xfrm>
        </p:spPr>
        <p:txBody>
          <a:bodyPr/>
          <a:lstStyle/>
          <a:p>
            <a:pPr>
              <a:defRPr/>
            </a:pPr>
            <a:r>
              <a:rPr lang="en-IN" sz="2600">
                <a:latin typeface="Times New Roman"/>
                <a:cs typeface="Times New Roman"/>
              </a:rPr>
              <a:t>RELEVANCE TO ENVIRONMENT  &amp; SUSTAINABILITY</a:t>
            </a:r>
            <a:endParaRPr/>
          </a:p>
        </p:txBody>
      </p:sp>
      <p:sp>
        <p:nvSpPr>
          <p:cNvPr id="1004874487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1054216" y="965547"/>
            <a:ext cx="10972800" cy="5323561"/>
          </a:xfrm>
        </p:spPr>
        <p:txBody>
          <a:bodyPr/>
          <a:lstStyle/>
          <a:p>
            <a:pPr marL="137159" indent="0" algn="just">
              <a:lnSpc>
                <a:spcPct val="114999"/>
              </a:lnSpc>
              <a:buClr>
                <a:schemeClr val="dk1"/>
              </a:buClr>
              <a:buSzPts val="1440"/>
              <a:buFont typeface="Noto Sans Symbols"/>
              <a:buNone/>
              <a:defRPr/>
            </a:pPr>
            <a:r>
              <a:rPr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Relevance to Environment</a:t>
            </a:r>
            <a:endParaRPr sz="210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Supports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paperless digital diagnosis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using CXR and genomic information. 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Reduces the need for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repeated physical diagnostic procedures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by utilizing existing digital patient data. </a:t>
            </a:r>
            <a:endParaRPr sz="2100"/>
          </a:p>
          <a:p>
            <a:pPr marL="137159" indent="0" algn="just">
              <a:lnSpc>
                <a:spcPct val="114999"/>
              </a:lnSpc>
              <a:buClr>
                <a:schemeClr val="dk1"/>
              </a:buClr>
              <a:buSzPts val="1440"/>
              <a:buFont typeface="Noto Sans Symbols"/>
              <a:buNone/>
              <a:defRPr/>
            </a:pPr>
            <a:r>
              <a:rPr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Sustainability</a:t>
            </a:r>
            <a:endParaRPr sz="210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Provides a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scalable AI-based approach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for DR-TB and DS-TB classification. 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Reuses existing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CXR and genomic datasets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for automated analysis. 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Supports efficient analysis of large numbers of TB cases through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automated multimodal processing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2100"/>
          </a:p>
          <a:p>
            <a:pPr marL="137159" indent="0" algn="just">
              <a:lnSpc>
                <a:spcPct val="114999"/>
              </a:lnSpc>
              <a:buClr>
                <a:schemeClr val="dk1"/>
              </a:buClr>
              <a:buSzPts val="1440"/>
              <a:buFont typeface="Noto Sans Symbols"/>
              <a:buNone/>
              <a:defRPr/>
            </a:pPr>
            <a:r>
              <a:rPr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SDG Goal Mapping</a:t>
            </a:r>
            <a:endParaRPr sz="210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SDG 3 – Good Health and Well-being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proposed AI-based system combines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CXR and genomic information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to classify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Drug-Resistant and Drug-Sensitive Tuberculosis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supporting improved diagnostic assessment and healthcare decision-making.</a:t>
            </a:r>
            <a:endParaRPr sz="2100" b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1944519" name="Google Shape;65;p11"/>
          <p:cNvSpPr txBox="1">
            <a:spLocks noGrp="1"/>
          </p:cNvSpPr>
          <p:nvPr>
            <p:ph type="title"/>
          </p:nvPr>
        </p:nvSpPr>
        <p:spPr bwMode="auto">
          <a:xfrm flipH="0" flipV="0">
            <a:off x="4633355" y="274006"/>
            <a:ext cx="2048527" cy="56915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en-GB" sz="2400">
                <a:latin typeface="Times New Roman"/>
                <a:ea typeface="Times New Roman"/>
                <a:cs typeface="Times New Roman"/>
              </a:rPr>
              <a:t>REFERENCES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9939219" name="Google Shape;66;p11"/>
          <p:cNvSpPr txBox="1">
            <a:spLocks noGrp="1"/>
          </p:cNvSpPr>
          <p:nvPr>
            <p:ph type="body" idx="1"/>
          </p:nvPr>
        </p:nvSpPr>
        <p:spPr bwMode="auto">
          <a:xfrm flipH="0" flipV="0">
            <a:off x="1227842" y="1213458"/>
            <a:ext cx="10354557" cy="511114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32004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marL="354953" marR="0" indent="-217793" algn="just">
              <a:lnSpc>
                <a:spcPct val="150000"/>
              </a:lnSpc>
              <a:buClr>
                <a:schemeClr val="dk1"/>
              </a:buClr>
              <a:buSzPts val="1440"/>
              <a:buFont typeface="Noto Sans Symbols"/>
              <a:buAutoNum type="arabicPeriod"/>
              <a:defRPr/>
            </a:pPr>
            <a:r>
              <a:rPr lang="en-US" sz="1600" b="0" i="0" u="none" strike="noStrike" cap="none" spc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A. Mnyambo et al. (2026). Explainable AI for Drug-Resistant Tuberculosis Detection from Chest X-Rays: Multi-Level Interpretability and Cross-Dataset Transfer Learning. Biomedical Signal Processing and Control, 126:110989.</a:t>
            </a:r>
            <a:endParaRPr sz="1600">
              <a:latin typeface="Times New Roman"/>
              <a:ea typeface="Times New Roman"/>
              <a:cs typeface="Times New Roman"/>
            </a:endParaRPr>
          </a:p>
          <a:p>
            <a:pPr marL="354953" marR="0" indent="-217793" algn="just">
              <a:lnSpc>
                <a:spcPct val="150000"/>
              </a:lnSpc>
              <a:buClr>
                <a:schemeClr val="dk1"/>
              </a:buClr>
              <a:buSzPts val="1440"/>
              <a:buFont typeface="Noto Sans Symbols"/>
              <a:buAutoNum type="arabicPeriod"/>
              <a:defRPr/>
            </a:pPr>
            <a:r>
              <a:rPr lang="en-US" sz="1600" b="0" i="0" u="none" strike="noStrike" cap="none" spc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A. Mnyambo et al. (2026). Multimodal Approaches for Tuberculosis Drug-Resistance Analysis.</a:t>
            </a:r>
            <a:endParaRPr sz="1600">
              <a:latin typeface="Times New Roman"/>
              <a:cs typeface="Times New Roman"/>
            </a:endParaRPr>
          </a:p>
          <a:p>
            <a:pPr marL="354953" marR="0" indent="-217793" algn="just">
              <a:lnSpc>
                <a:spcPct val="150000"/>
              </a:lnSpc>
              <a:buClr>
                <a:schemeClr val="dk1"/>
              </a:buClr>
              <a:buSzPts val="1440"/>
              <a:buFont typeface="Noto Sans Symbols"/>
              <a:buAutoNum type="arabicPeriod"/>
              <a:defRPr/>
            </a:pPr>
            <a:r>
              <a:rPr sz="1600">
                <a:latin typeface="Times New Roman"/>
                <a:ea typeface="Times New Roman"/>
                <a:cs typeface="Times New Roman"/>
              </a:rPr>
              <a:t>J. P. Cohen et al. (2021). TorchXRayVision: A Library of Chest X-Ray Datasets and Models.</a:t>
            </a:r>
            <a:endParaRPr sz="1600">
              <a:latin typeface="Times New Roman"/>
              <a:cs typeface="Times New Roman"/>
            </a:endParaRPr>
          </a:p>
          <a:p>
            <a:pPr marL="354953" marR="0" indent="-217793" algn="just">
              <a:lnSpc>
                <a:spcPct val="150000"/>
              </a:lnSpc>
              <a:buClr>
                <a:schemeClr val="dk1"/>
              </a:buClr>
              <a:buSzPts val="1440"/>
              <a:buFont typeface="Noto Sans Symbols"/>
              <a:buAutoNum type="arabicPeriod"/>
              <a:defRPr/>
            </a:pPr>
            <a:r>
              <a:rPr sz="1600">
                <a:latin typeface="Times New Roman"/>
                <a:ea typeface="Times New Roman"/>
                <a:cs typeface="Times New Roman"/>
              </a:rPr>
              <a:t>Z. Dai, H. Liu, Q. V. Le, and M. Tan (2021). CoAtNet: Marrying Convolution and Attention for All Data Sizes. Advances in Neural Information Processing Systems.</a:t>
            </a:r>
            <a:endParaRPr sz="1600">
              <a:latin typeface="Times New Roman"/>
              <a:cs typeface="Times New Roman"/>
            </a:endParaRPr>
          </a:p>
          <a:p>
            <a:pPr marL="354953" marR="0" indent="-217793" algn="just">
              <a:lnSpc>
                <a:spcPct val="150000"/>
              </a:lnSpc>
              <a:buClr>
                <a:schemeClr val="dk1"/>
              </a:buClr>
              <a:buSzPts val="1440"/>
              <a:buFont typeface="Noto Sans Symbols"/>
              <a:buAutoNum type="arabicPeriod"/>
              <a:defRPr/>
            </a:pPr>
            <a:r>
              <a:rPr sz="1600">
                <a:latin typeface="Times New Roman"/>
                <a:ea typeface="Times New Roman"/>
                <a:cs typeface="Times New Roman"/>
              </a:rPr>
              <a:t>A. Dosovitskiy et al. (2021). An Image is Worth 16×16 Words: Transformers for Image Recognition at Scale. International Conference on Learning Representations.</a:t>
            </a:r>
            <a:endParaRPr sz="1600">
              <a:latin typeface="Times New Roman"/>
              <a:cs typeface="Times New Roman"/>
            </a:endParaRPr>
          </a:p>
          <a:p>
            <a:pPr marL="354953" marR="0" indent="-217793" algn="just">
              <a:lnSpc>
                <a:spcPct val="150000"/>
              </a:lnSpc>
              <a:buClr>
                <a:schemeClr val="dk1"/>
              </a:buClr>
              <a:buSzPts val="1440"/>
              <a:buFont typeface="Noto Sans Symbols"/>
              <a:buAutoNum type="arabicPeriod"/>
              <a:defRPr/>
            </a:pPr>
            <a:r>
              <a:rPr sz="1600">
                <a:latin typeface="Times New Roman"/>
                <a:ea typeface="Times New Roman"/>
                <a:cs typeface="Times New Roman"/>
              </a:rPr>
              <a:t>E. Showkatian et al. (2022). Deep Learning-Based Automatic Detection of Tuberculosis Disease in Chest X-Ray Images. Polish Journal of Radiology.</a:t>
            </a:r>
            <a:endParaRPr sz="1600">
              <a:latin typeface="Times New Roman"/>
              <a:ea typeface="Times New Roman"/>
              <a:cs typeface="Times New Roman"/>
            </a:endParaRPr>
          </a:p>
          <a:p>
            <a:pPr marL="354953" marR="0" indent="-217793" algn="just">
              <a:lnSpc>
                <a:spcPct val="150000"/>
              </a:lnSpc>
              <a:buClr>
                <a:schemeClr val="dk1"/>
              </a:buClr>
              <a:buSzPts val="1440"/>
              <a:buFont typeface="Noto Sans Symbols"/>
              <a:buAutoNum type="arabicPeriod"/>
              <a:defRPr/>
            </a:pPr>
            <a:endParaRPr sz="1600">
              <a:latin typeface="Times New Roman"/>
              <a:cs typeface="Times New Roman"/>
            </a:endParaRPr>
          </a:p>
          <a:p>
            <a:pPr marL="137159" indent="0">
              <a:buClr>
                <a:schemeClr val="dk1"/>
              </a:buClr>
              <a:buSzPts val="1440"/>
              <a:buFont typeface="Noto Sans Symbols"/>
              <a:buNone/>
              <a:defRPr/>
            </a:pP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6641809" name="Title 1"/>
          <p:cNvSpPr>
            <a:spLocks noGrp="1"/>
          </p:cNvSpPr>
          <p:nvPr>
            <p:ph type="ctrTitle"/>
          </p:nvPr>
        </p:nvSpPr>
        <p:spPr bwMode="auto">
          <a:xfrm>
            <a:off x="4470399" y="2936556"/>
            <a:ext cx="10363199" cy="492442"/>
          </a:xfrm>
        </p:spPr>
        <p:txBody>
          <a:bodyPr/>
          <a:lstStyle/>
          <a:p>
            <a:pPr>
              <a:defRPr/>
            </a:pPr>
            <a:r>
              <a:rPr lang="en-US">
                <a:latin typeface="Times New Roman"/>
                <a:cs typeface="Times New Roman"/>
              </a:rPr>
              <a:t>THANK YOU</a:t>
            </a:r>
            <a:endParaRPr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ONLYOFFICE/9.2.1.43</Application>
  <PresentationFormat>On-screen Show (4:3)</PresentationFormat>
  <Paragraphs>0</Paragraphs>
  <Slides>23</Slides>
  <Notes>23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Danush Prakash</dc:creator>
  <cp:lastModifiedBy/>
  <cp:revision>41</cp:revision>
  <dcterms:modified xsi:type="dcterms:W3CDTF">2026-10-09T06:01:30Z</dcterms:modified>
</cp:coreProperties>
</file>