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4" d="100"/>
          <a:sy n="74" d="100"/>
        </p:scale>
        <p:origin x="1032" y="62"/>
      </p:cViewPr>
      <p:guideLst>
        <p:guide pos="2880" orient="horz"/>
        <p:guide pos="216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86806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09831679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16636273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503212583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43877981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28719676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16758" name="Google Shape;115;g372815142fa_4_7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967252037" name="Google Shape;116;g372815142fa_4_70:notes"/>
          <p:cNvSpPr txBox="1">
            <a:spLocks noGrp="1"/>
          </p:cNvSpPr>
          <p:nvPr>
            <p:ph type="body" idx="1"/>
          </p:nvPr>
        </p:nvSpPr>
        <p:spPr bwMode="auto"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2094777540" name="Google Shape;117;g372815142fa_4_70:notes"/>
          <p:cNvSpPr txBox="1">
            <a:spLocks noGrp="1"/>
          </p:cNvSpPr>
          <p:nvPr>
            <p:ph type="dt" idx="10"/>
          </p:nvPr>
        </p:nvSpPr>
        <p:spPr bwMode="auto"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3490255" name="Google Shape;118;g372815142fa_4_70:notes"/>
          <p:cNvSpPr txBox="1">
            <a:spLocks noGrp="1"/>
          </p:cNvSpPr>
          <p:nvPr>
            <p:ph type="ftr" idx="11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1-59</a:t>
            </a:r>
            <a:endParaRPr/>
          </a:p>
        </p:txBody>
      </p:sp>
      <p:sp>
        <p:nvSpPr>
          <p:cNvPr id="49971006" name="Google Shape;119;g372815142fa_4_70:notes"/>
          <p:cNvSpPr txBox="1">
            <a:spLocks noGrp="1"/>
          </p:cNvSpPr>
          <p:nvPr>
            <p:ph type="sldNum" idx="12"/>
          </p:nvPr>
        </p:nvSpPr>
        <p:spPr bwMode="auto">
          <a:xfrm>
            <a:off x="6905979" y="6513909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359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703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94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62434-824F-9A6D-46C2-095078EE82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3046CF-E456-81C6-6072-CC29D6EC9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C06FCC-D445-68D1-A3ED-4FBCB4088D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B2890-F5CA-B565-8D75-49ACEF7A05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78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479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86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76F482-21CC-BD8C-F8F7-168596BF43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12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250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142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60CA5-BBBE-2B58-2928-7093168DBE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79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545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9154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D91581-C69F-2684-B18D-8CAA73A68B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08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337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5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284A1-9CD2-F390-1AF0-4963EB81D1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516721" name="Google Shape;49;p8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1784365" name="Google Shape;50;p8"/>
          <p:cNvSpPr txBox="1">
            <a:spLocks noGrp="1"/>
          </p:cNvSpPr>
          <p:nvPr>
            <p:ph type="body" idx="1"/>
          </p:nvPr>
        </p:nvSpPr>
        <p:spPr bwMode="auto"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143244" name="Google Shape;51;p8"/>
          <p:cNvSpPr txBox="1">
            <a:spLocks noGrp="1"/>
          </p:cNvSpPr>
          <p:nvPr>
            <p:ph type="body" idx="2"/>
          </p:nvPr>
        </p:nvSpPr>
        <p:spPr bwMode="auto"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359955" name="Google Shape;52;p8"/>
          <p:cNvSpPr txBox="1">
            <a:spLocks noGrp="1"/>
          </p:cNvSpPr>
          <p:nvPr>
            <p:ph type="body" idx="3"/>
          </p:nvPr>
        </p:nvSpPr>
        <p:spPr bwMode="auto"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0625000" name="Google Shape;53;p8"/>
          <p:cNvSpPr txBox="1">
            <a:spLocks noGrp="1"/>
          </p:cNvSpPr>
          <p:nvPr>
            <p:ph type="body" idx="4"/>
          </p:nvPr>
        </p:nvSpPr>
        <p:spPr bwMode="auto"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8287501" name="Google Shape;54;p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1981840" name="Google Shape;55;p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20609" name="Google Shape;62;p10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9529321" name="Google Shape;63;p10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22788" name="Google Shape;65;p11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6508200" name="Google Shape;66;p11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030504" name="Google Shape;67;p11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9478231" name="Google Shape;68;p11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149691" name="Google Shape;70;p12"/>
          <p:cNvSpPr txBox="1">
            <a:spLocks noGrp="1"/>
          </p:cNvSpPr>
          <p:nvPr>
            <p:ph type="title"/>
          </p:nvPr>
        </p:nvSpPr>
        <p:spPr bwMode="auto">
          <a:xfrm>
            <a:off x="707136" y="1316736"/>
            <a:ext cx="10363200" cy="136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0479930" name="Google Shape;71;p12"/>
          <p:cNvSpPr txBox="1">
            <a:spLocks noGrp="1"/>
          </p:cNvSpPr>
          <p:nvPr>
            <p:ph type="body" idx="1"/>
          </p:nvPr>
        </p:nvSpPr>
        <p:spPr bwMode="auto"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2399593" name="Google Shape;72;p12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0383211" name="Google Shape;73;p12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580686" name="Google Shape;75;p13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0405546" name="Google Shape;76;p13"/>
          <p:cNvSpPr txBox="1">
            <a:spLocks noGrp="1"/>
          </p:cNvSpPr>
          <p:nvPr>
            <p:ph type="body" idx="1"/>
          </p:nvPr>
        </p:nvSpPr>
        <p:spPr bwMode="auto"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2291622" name="Google Shape;77;p13"/>
          <p:cNvSpPr txBox="1">
            <a:spLocks noGrp="1"/>
          </p:cNvSpPr>
          <p:nvPr>
            <p:ph type="body" idx="2"/>
          </p:nvPr>
        </p:nvSpPr>
        <p:spPr bwMode="auto"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4683623" name="Google Shape;78;p13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5255364" name="Google Shape;79;p13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161578" name="Google Shape;81;p14"/>
          <p:cNvSpPr txBox="1">
            <a:spLocks noGrp="1"/>
          </p:cNvSpPr>
          <p:nvPr>
            <p:ph type="title"/>
          </p:nvPr>
        </p:nvSpPr>
        <p:spPr bwMode="auto"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8997282" name="Google Shape;82;p14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631550" name="Google Shape;83;p14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40607" name="Google Shape;85;p15"/>
          <p:cNvSpPr txBox="1">
            <a:spLocks noGrp="1"/>
          </p:cNvSpPr>
          <p:nvPr>
            <p:ph type="title"/>
          </p:nvPr>
        </p:nvSpPr>
        <p:spPr bwMode="auto">
          <a:xfrm>
            <a:off x="914400" y="514351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8357670" name="Google Shape;86;p15"/>
          <p:cNvSpPr txBox="1">
            <a:spLocks noGrp="1"/>
          </p:cNvSpPr>
          <p:nvPr>
            <p:ph type="body" idx="1"/>
          </p:nvPr>
        </p:nvSpPr>
        <p:spPr bwMode="auto"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9237219" name="Google Shape;87;p15"/>
          <p:cNvSpPr txBox="1">
            <a:spLocks noGrp="1"/>
          </p:cNvSpPr>
          <p:nvPr>
            <p:ph type="body" idx="2"/>
          </p:nvPr>
        </p:nvSpPr>
        <p:spPr bwMode="auto">
          <a:xfrm>
            <a:off x="4766732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8915785" name="Google Shape;88;p15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1643194" name="Google Shape;89;p15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71281" name="Google Shape;91;p16"/>
          <p:cNvSpPr/>
          <p:nvPr/>
        </p:nvSpPr>
        <p:spPr bwMode="auto">
          <a:xfrm rot="-10380000" flipH="1">
            <a:off x="4220633" y="1108075"/>
            <a:ext cx="7010399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049049" name="Google Shape;92;p16"/>
          <p:cNvSpPr/>
          <p:nvPr/>
        </p:nvSpPr>
        <p:spPr bwMode="auto">
          <a:xfrm rot="-10380000" flipH="1">
            <a:off x="10672233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174031" name="Google Shape;93;p16"/>
          <p:cNvSpPr/>
          <p:nvPr/>
        </p:nvSpPr>
        <p:spPr bwMode="auto"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fill="norm" stroke="1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9770975" name="Google Shape;94;p16"/>
          <p:cNvSpPr/>
          <p:nvPr/>
        </p:nvSpPr>
        <p:spPr bwMode="auto"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fill="norm" stroke="1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8508711" name="Google Shape;95;p16"/>
          <p:cNvSpPr txBox="1">
            <a:spLocks noGrp="1"/>
          </p:cNvSpPr>
          <p:nvPr>
            <p:ph type="title"/>
          </p:nvPr>
        </p:nvSpPr>
        <p:spPr bwMode="auto"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1016257" name="Google Shape;96;p16"/>
          <p:cNvSpPr txBox="1">
            <a:spLocks noGrp="1"/>
          </p:cNvSpPr>
          <p:nvPr>
            <p:ph type="body" idx="1"/>
          </p:nvPr>
        </p:nvSpPr>
        <p:spPr bwMode="auto"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95238" name="Google Shape;97;p16"/>
          <p:cNvSpPr>
            <a:spLocks noGrp="1"/>
          </p:cNvSpPr>
          <p:nvPr>
            <p:ph type="pic" idx="2"/>
          </p:nvPr>
        </p:nvSpPr>
        <p:spPr bwMode="auto"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1674612435" name="Google Shape;98;p16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3140054" name="Google Shape;99;p16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09984" name="Google Shape;101;p1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6849623" name="Google Shape;102;p17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01281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6710923" name="Google Shape;103;p1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4717043" name="Google Shape;104;p17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52540" name="Google Shape;106;p18"/>
          <p:cNvSpPr txBox="1">
            <a:spLocks noGrp="1"/>
          </p:cNvSpPr>
          <p:nvPr>
            <p:ph type="title"/>
          </p:nvPr>
        </p:nvSpPr>
        <p:spPr bwMode="auto"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5701974" name="Google Shape;107;p18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2810453" name="Google Shape;108;p18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0665269" name="Google Shape;109;p18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" preserve="0" showMasterPhAnim="0" showMasterSp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35790" name="Google Shape;111;p19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8529727" name="Google Shape;112;p19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5967524" name="Google Shape;113;p19"/>
          <p:cNvSpPr txBox="1">
            <a:spLocks noGrp="1"/>
          </p:cNvSpPr>
          <p:nvPr>
            <p:ph type="ftr" idx="11"/>
          </p:nvPr>
        </p:nvSpPr>
        <p:spPr bwMode="auto"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107122" name="Google Shape;45;p7"/>
          <p:cNvSpPr txBox="1"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47085226" name="Google Shape;46;p7"/>
          <p:cNvSpPr txBox="1"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05830841" name="Google Shape;47;p7"/>
          <p:cNvSpPr txBox="1">
            <a:spLocks noGrp="1"/>
          </p:cNvSpPr>
          <p:nvPr>
            <p:ph type="dt" idx="10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598693" name="Google Shape;121;p20"/>
          <p:cNvSpPr txBox="1">
            <a:spLocks noGrp="1"/>
          </p:cNvSpPr>
          <p:nvPr>
            <p:ph type="body" idx="1"/>
          </p:nvPr>
        </p:nvSpPr>
        <p:spPr bwMode="auto"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  <a:defRPr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  <a:defRPr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1976175566" name="Google Shape;122;p20" descr="klogo copy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4271460" name="Google Shape;125;p20"/>
          <p:cNvSpPr txBox="1"/>
          <p:nvPr/>
        </p:nvSpPr>
        <p:spPr bwMode="auto">
          <a:xfrm>
            <a:off x="5331609" y="1262410"/>
            <a:ext cx="5926545" cy="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22918149" name="Google Shape;126;p20"/>
          <p:cNvSpPr txBox="1">
            <a:spLocks noGrp="1"/>
          </p:cNvSpPr>
          <p:nvPr>
            <p:ph type="title"/>
          </p:nvPr>
        </p:nvSpPr>
        <p:spPr bwMode="auto">
          <a:xfrm>
            <a:off x="3094062" y="2980784"/>
            <a:ext cx="8653045" cy="628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indent="-1266190" algn="ctr">
              <a:defRPr/>
            </a:pPr>
            <a:b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</a:br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ZEROTH </a:t>
            </a:r>
            <a:r>
              <a:rPr lang="en-US" sz="2000" b="1">
                <a:solidFill>
                  <a:srgbClr val="FF0000"/>
                </a:solidFill>
              </a:rPr>
              <a:t>REVIEW </a:t>
            </a:r>
            <a:endParaRPr/>
          </a:p>
        </p:txBody>
      </p:sp>
      <p:sp>
        <p:nvSpPr>
          <p:cNvPr id="199863839" name="TextBox 1"/>
          <p:cNvSpPr txBox="1"/>
          <p:nvPr/>
        </p:nvSpPr>
        <p:spPr bwMode="auto">
          <a:xfrm>
            <a:off x="5744364" y="1752192"/>
            <a:ext cx="4975481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800">
                <a:latin typeface="Times New Roman"/>
                <a:ea typeface="Times New Roman"/>
                <a:cs typeface="Times New Roman"/>
              </a:rPr>
              <a:t>22CSP72 PROJECT WORK II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718960878" name="Picture 2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19881" y="165315"/>
            <a:ext cx="2573001" cy="1010822"/>
          </a:xfrm>
          <a:prstGeom prst="rect">
            <a:avLst/>
          </a:prstGeom>
        </p:spPr>
      </p:pic>
      <p:sp>
        <p:nvSpPr>
          <p:cNvPr id="1102556596" name="TextBox 3"/>
          <p:cNvSpPr txBox="1"/>
          <p:nvPr/>
        </p:nvSpPr>
        <p:spPr bwMode="auto">
          <a:xfrm>
            <a:off x="4085359" y="6377940"/>
            <a:ext cx="4021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DATE : 25/06/2026</a:t>
            </a:r>
            <a:endParaRPr/>
          </a:p>
        </p:txBody>
      </p:sp>
      <p:sp>
        <p:nvSpPr>
          <p:cNvPr id="1198013509" name="TextBox 5"/>
          <p:cNvSpPr txBox="1"/>
          <p:nvPr/>
        </p:nvSpPr>
        <p:spPr bwMode="auto">
          <a:xfrm>
            <a:off x="5182803" y="2501508"/>
            <a:ext cx="6226313" cy="100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Tuberculosis Detection from Chest X-Ray Images Using Deep Learning</a:t>
            </a:r>
            <a:endParaRPr sz="2000">
              <a:solidFill>
                <a:srgbClr val="FF0000"/>
              </a:solidFill>
            </a:endParaRPr>
          </a:p>
          <a:p>
            <a:pPr>
              <a:defRPr/>
            </a:pPr>
            <a:endParaRPr sz="2000">
              <a:solidFill>
                <a:srgbClr val="FF0000"/>
              </a:solidFill>
            </a:endParaRPr>
          </a:p>
        </p:txBody>
      </p:sp>
      <p:sp>
        <p:nvSpPr>
          <p:cNvPr id="1865625534" name="object 3"/>
          <p:cNvSpPr txBox="1"/>
          <p:nvPr/>
        </p:nvSpPr>
        <p:spPr bwMode="auto">
          <a:xfrm>
            <a:off x="4953522" y="3873139"/>
            <a:ext cx="5549394" cy="1893929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Number :</a:t>
            </a:r>
            <a:r>
              <a:rPr lang="en-GB" sz="2200">
                <a:latin typeface="Times New Roman"/>
                <a:cs typeface="Times New Roman"/>
              </a:rPr>
              <a:t> A</a:t>
            </a:r>
            <a:r>
              <a:rPr lang="en-GB" sz="2200">
                <a:latin typeface="Times New Roman"/>
                <a:cs typeface="Times New Roman"/>
              </a:rPr>
              <a:t>22</a:t>
            </a:r>
            <a:endParaRPr lang="en-IN" sz="2000" b="1" spc="-9">
              <a:latin typeface="Times New Roman"/>
              <a:cs typeface="Times New Roman"/>
            </a:endParaRPr>
          </a:p>
          <a:p>
            <a:pPr marL="1269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Team Guide : </a:t>
            </a:r>
            <a:r>
              <a:rPr lang="en-IN" sz="2000" spc="-9">
                <a:latin typeface="Times New Roman"/>
                <a:cs typeface="Times New Roman"/>
              </a:rPr>
              <a:t>Dr. </a:t>
            </a:r>
            <a:r>
              <a:rPr lang="en-US" sz="2000" spc="-9">
                <a:latin typeface="Times New Roman"/>
                <a:cs typeface="Times New Roman"/>
              </a:rPr>
              <a:t>K. Venu ASP/CSE</a:t>
            </a:r>
            <a:endParaRPr lang="en-US" sz="2000">
              <a:latin typeface="Times New Roman"/>
              <a:cs typeface="Times New Roman"/>
            </a:endParaRPr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US" sz="2000" b="1">
                <a:latin typeface="Times New Roman"/>
                <a:cs typeface="Times New Roman"/>
              </a:rPr>
              <a:t>Team</a:t>
            </a:r>
            <a:r>
              <a:rPr lang="en-US" sz="2000" b="1" spc="-19">
                <a:latin typeface="Times New Roman"/>
                <a:cs typeface="Times New Roman"/>
              </a:rPr>
              <a:t> </a:t>
            </a:r>
            <a:r>
              <a:rPr lang="en-US" sz="2000" b="1" spc="-9">
                <a:latin typeface="Times New Roman"/>
                <a:cs typeface="Times New Roman"/>
              </a:rPr>
              <a:t>Members :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b="1" spc="-9">
                <a:latin typeface="Times New Roman"/>
                <a:cs typeface="Times New Roman"/>
              </a:rPr>
              <a:t>		</a:t>
            </a:r>
            <a:r>
              <a:rPr lang="en-IN" sz="2000" spc="-9">
                <a:latin typeface="Times New Roman"/>
                <a:cs typeface="Times New Roman"/>
              </a:rPr>
              <a:t>Abinandhana</a:t>
            </a:r>
            <a:r>
              <a:rPr lang="en-IN" sz="2000" spc="-9">
                <a:latin typeface="Times New Roman"/>
                <a:cs typeface="Times New Roman"/>
              </a:rPr>
              <a:t> S G (23CSR008)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Anbuselvam N     (23CSR018)</a:t>
            </a:r>
            <a:endParaRPr/>
          </a:p>
          <a:p>
            <a:pPr marL="13969">
              <a:lnSpc>
                <a:spcPct val="100000"/>
              </a:lnSpc>
              <a:spcBef>
                <a:spcPts val="4"/>
              </a:spcBef>
              <a:defRPr/>
            </a:pPr>
            <a:r>
              <a:rPr lang="en-IN" sz="2000" spc="-9">
                <a:latin typeface="Times New Roman"/>
                <a:cs typeface="Times New Roman"/>
              </a:rPr>
              <a:t>		Gobika R (23CSR062)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69965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107839" y="252085"/>
            <a:ext cx="6095999" cy="602022"/>
          </a:xfrm>
          <a:prstGeom prst="rect">
            <a:avLst/>
          </a:prstGeom>
        </p:spPr>
        <p:txBody>
          <a:bodyPr vert="horz" wrap="square" lIns="0" tIns="199960" rIns="0" bIns="0" rtlCol="0">
            <a:spAutoFit/>
          </a:bodyPr>
          <a:lstStyle/>
          <a:p>
            <a:pPr marL="12699">
              <a:lnSpc>
                <a:spcPct val="100000"/>
              </a:lnSpc>
              <a:spcBef>
                <a:spcPts val="129"/>
              </a:spcBef>
              <a:defRPr/>
            </a:pPr>
            <a:r>
              <a:rPr lang="en-IN" sz="2600" spc="-19"/>
              <a:t>PROBLEM</a:t>
            </a:r>
            <a:r>
              <a:rPr lang="en-IN" sz="2600" spc="-199"/>
              <a:t> </a:t>
            </a:r>
            <a:r>
              <a:rPr lang="en-IN" sz="2600" spc="-9"/>
              <a:t>STATEMENT</a:t>
            </a:r>
            <a:endParaRPr sz="2600" spc="-9"/>
          </a:p>
        </p:txBody>
      </p:sp>
      <p:sp>
        <p:nvSpPr>
          <p:cNvPr id="1272539268" name="TextBox 5"/>
          <p:cNvSpPr txBox="1"/>
          <p:nvPr/>
        </p:nvSpPr>
        <p:spPr bwMode="auto">
          <a:xfrm>
            <a:off x="1395695" y="1322995"/>
            <a:ext cx="9976726" cy="457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Tuberculosis remains a major global health challenge requiring early and accurate diagnosis.</a:t>
            </a:r>
            <a:endParaRPr sz="2100">
              <a:latin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chest X-ray interpretation is time-consuming and depends on experienced radiologists.</a:t>
            </a:r>
            <a:endParaRPr sz="2100">
              <a:latin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CoAtNet-based TB detection systems provide automated classification but analyze the entire chest X-ray image, including irrelevant regions. </a:t>
            </a:r>
            <a:endParaRPr sz="2100">
              <a:latin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Current systems use LIME for explainability, which may not provide sufficient visualization of the model's internal decision-making process. </a:t>
            </a:r>
            <a:endParaRPr sz="2100">
              <a:latin typeface="Times New Roman"/>
              <a:cs typeface="Times New Roman"/>
            </a:endParaRPr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Therefore, there is a need for an explainable AI-based TB detection framework that integrates lung segmentation and Grad-CAM visualization for improved interpretability and diagnostic support.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057513132" name=""/>
          <p:cNvGraphicFramePr>
            <a:graphicFrameLocks xmlns:a="http://schemas.openxmlformats.org/drawingml/2006/main"/>
          </p:cNvGraphicFramePr>
          <p:nvPr/>
        </p:nvGraphicFramePr>
        <p:xfrm>
          <a:off x="732020" y="57384"/>
          <a:ext cx="11351712" cy="681051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50000"/>
                <a:gridCol w="10001712"/>
              </a:tblGrid>
              <a:tr h="4458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36414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  <a:p>
                      <a:pPr algn="l">
                        <a:defRPr/>
                      </a:pPr>
                      <a:endParaRPr sz="1500" b="1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5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TB-CXRNet: Tuberculosis and Drug-Resistant Tuberculosis Detection Technique Using Chest X-ray Images</a:t>
                      </a:r>
                      <a:endParaRPr sz="1500"/>
                    </a:p>
                    <a:p>
                      <a:pPr algn="l">
                        <a:defRPr/>
                      </a:pPr>
                      <a:endParaRPr sz="1500" b="1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21139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2024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7218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automated deep learning framework for detecting Tuberculosis (TB), Non-TB lung infections, Healthy cases, and Drug-Resistant TB from chest X-ray images.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341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Manual diagnosis of TB from chest X-rays is time-consuming, subjective, and requires experienced radiologists. Early detection of drug-resistant TB is also difficult using conventional diagnostic methods.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0398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QU-MLG-TB dataset containing approximately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40,000 chest X-ray images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collected from multiple public and restricted sources. The dataset includes Healthy, Non-TB, TB, MDR-TB, and XDR-TB cases.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870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TB-CXRNet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 CNN-based deep learning architecture combined with a Multi-Layer Perceptron (MLP) classifier. For drug-resistant TB classification, CheXNet was used for feature extraction followed by PCA and machine learning classifiers.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133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generate heatmaps highlighting the lung regions responsible for TB prediction, improving the transparency and interpretability of the model.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888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93.32% accuracy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Healthy, TB, and Non-TB classification,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87.48%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accuracy for Drug-Resistant vs Drug-Sensitive TB classification,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79.59%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accuracy for MDR-TB, XDR-TB, and Sensitive TB classification.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4544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benchmark dataset, multi-class disease classification, detection of drug-resistant TB, integration of Explainable AI using Score-CAM, and strong classification performance.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3418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Relies mainly on CNN-based feature extraction, making it less effective in capturing global contextual information. The model is computationally intensive due to multiple classification stages. It does not employ hybrid CNN-Transformer architectures such as CoAtNet.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86823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demonstrates the importance of automated TB detection and Explainable AI. However, the proposed work aims to improve feature extraction by using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incorporate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segmentation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replace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Score-CAM/LIME with 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generate a more interpretable diagnostic framework suitable for clinical decision support.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03603250" name=""/>
          <p:cNvGraphicFramePr>
            <a:graphicFrameLocks xmlns:a="http://schemas.openxmlformats.org/drawingml/2006/main"/>
          </p:cNvGraphicFramePr>
          <p:nvPr/>
        </p:nvGraphicFramePr>
        <p:xfrm>
          <a:off x="849452" y="171189"/>
          <a:ext cx="7581899" cy="63855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40000"/>
                <a:gridCol w="9755136"/>
              </a:tblGrid>
              <a:tr h="2700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67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Learning Based Automatic Detection of Tuberculosis in Chest X-ray Images Using Hybrid Feature Descriptors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1828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2021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automatic computer-aided diagnosis (CAD) system for tuberculosis detection by combining handcrafted features and deep learning features using ensemble learning.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400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Existing TB detection methods showed limited accuracy due to the diverse manifestations of tuberculosis in chest X-ray images and dependence on manual interpretation by radiologists.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096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Montgomery County and Shenzhen Chest X-ray datasets containing normal and TB chest X-ray images. The model was evaluated using k-fold cross-validation.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9342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Pre-trained CNN models (AlexNet, VGG16, VGG19, ResNet50, DenseNet201, InceptionV3, Xception) combined with handcrafted Gabor filter features using an Ensemble Learning approach.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67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used.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 model focused only on improving classification accuracy without providing visual explanations for predictions.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400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AUC of 0.99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on the Shenzhen dataset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0.97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on the Montgomery dataset, demonstrating strong classification performance.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9436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Combined handcrafted and deep features to improve classification performance. Used ensemble learning for better robustness and achieved high detection accuracy with minimal preprocessing.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495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Explainable AI, no transformer-based architecture, no localization of TB regions, and limited evaluation on relatively small public datasets.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400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demonstrates the effectiveness of ensemble learning for TB detection. However, the proposed work uses a more advanced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 hybrid architecture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integrates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explainability, and aims to provide a more interpretable and clinically useful TB detection system.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57777885" name=""/>
          <p:cNvGraphicFramePr>
            <a:graphicFrameLocks xmlns:a="http://schemas.openxmlformats.org/drawingml/2006/main"/>
          </p:cNvGraphicFramePr>
          <p:nvPr/>
        </p:nvGraphicFramePr>
        <p:xfrm>
          <a:off x="851342" y="180513"/>
          <a:ext cx="10932287" cy="63855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74168"/>
                <a:gridCol w="9753837"/>
              </a:tblGrid>
              <a:tr h="26977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Parameter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623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Title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Enhanced CoAtNet Based Hybrid Deep Learning Architecture for Automated Tuberculosis Detection in Human Chest X-Rays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21704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Year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2025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7862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 develop an accurate and explainable hybrid deep learning model for automated tuberculosis detection by combining the strengths of CNNs and Vision Transformers.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3953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 Addressed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Traditional CNN models fail to capture global contextual information, while Vision Transformers require large datasets and high computational resources. There is also a need for more interpretable AI systems in medical imaging.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0908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IN-CXR Tuberculosis dataset collected from ICMR-NIRT, containing normal and TB chest X-ray images. Image preprocessing included CLAHE, data augmentation, normalization, and oversampling.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9282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Used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CoAtNet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 hybrid architecture combining Convolutional Neural Networks (CNNs) and Vision Transformers (ViTs), fine-tuned using transfer learning from ImageNet.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86239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Explainable AI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LIME (Local Interpretable Model-Agnostic Explanations)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was used to visualize the important regions influencing the model's predictions, improving transparency and interpretability.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3953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Achieved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86.39% classification accuracy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93.79% ROC-AUC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outperforming the CNN-only and Vision Transformer-only baseline models evaluated in the study.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59385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architecture effectively captures both local and global image features. Includes Explainable AI using LIME and demonstrates better generalization than standalone CNN or ViT models.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44919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Limitations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not incorporate lung segmentation, relies on LIME instead of Grad-CAM, and does not generate an automated diagnostic report for clinicians.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  <a:tr h="65113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 to Proposed Work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serves as the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base paper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the proposed research. The proposed work extends it by incorporating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lung segmentation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replacing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LIME with Grad-CAM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better localization of TB-affected regions, and adding </a:t>
                      </a:r>
                      <a:r>
                        <a:rPr sz="15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diagnostic report generation</a:t>
                      </a:r>
                      <a:r>
                        <a:rPr sz="15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improve interpretability and clinical usability.</a:t>
                      </a:r>
                      <a:endParaRPr sz="1500"/>
                    </a:p>
                  </a:txBody>
                  <a:tcPr marL="0" marR="0" marT="0" marB="0" anchor="ctr">
                    <a:lnL w="9524" algn="ctr"/>
                    <a:lnR w="9524" algn="ctr"/>
                    <a:lnT w="9524" algn="ctr"/>
                    <a:lnB w="9524" algn="ctr"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84254" name="Title 1"/>
          <p:cNvSpPr>
            <a:spLocks noGrp="1"/>
          </p:cNvSpPr>
          <p:nvPr>
            <p:ph type="title"/>
          </p:nvPr>
        </p:nvSpPr>
        <p:spPr bwMode="auto">
          <a:xfrm>
            <a:off x="4724399" y="601097"/>
            <a:ext cx="3555999" cy="492442"/>
          </a:xfrm>
        </p:spPr>
        <p:txBody>
          <a:bodyPr/>
          <a:lstStyle/>
          <a:p>
            <a:pPr>
              <a:defRPr/>
            </a:pPr>
            <a:r>
              <a:rPr lang="en-IN"/>
              <a:t>Research Gap</a:t>
            </a:r>
            <a:endParaRPr/>
          </a:p>
        </p:txBody>
      </p:sp>
      <p:sp>
        <p:nvSpPr>
          <p:cNvPr id="1505463045" name="TextBox 3"/>
          <p:cNvSpPr txBox="1"/>
          <p:nvPr/>
        </p:nvSpPr>
        <p:spPr bwMode="auto">
          <a:xfrm>
            <a:off x="1686169" y="1592370"/>
            <a:ext cx="9809790" cy="393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CoAtNet-based TB detection systems classify chest X-rays without explicit lung segmentation.</a:t>
            </a:r>
            <a:endParaRPr sz="2100"/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Irrelevant background regions may affect feature extraction and classification performance.</a:t>
            </a:r>
            <a:endParaRPr sz="2100"/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Current systems utilize LIME-based explanations, which may not fully reflect the model's internal decision-making process.</a:t>
            </a:r>
            <a:endParaRPr sz="2100"/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research combines lung segmentation with CoAtNet for TB detection.</a:t>
            </a:r>
            <a:endParaRPr sz="2100"/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</a:t>
            </a:r>
            <a:r>
              <a:rPr lang="en-GB"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based visual explanations have not been explored within the selected CoAtNet framework.</a:t>
            </a:r>
            <a:endParaRPr sz="2100"/>
          </a:p>
          <a:p>
            <a:pPr marL="217792" indent="-217792"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Automatic diagnostic report generation is not available in existing systems.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42810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588009" y="456678"/>
            <a:ext cx="6255173" cy="622476"/>
          </a:xfrm>
          <a:prstGeom prst="rect">
            <a:avLst/>
          </a:prstGeom>
        </p:spPr>
        <p:txBody>
          <a:bodyPr vert="horz" wrap="square" lIns="0" tIns="128775" rIns="0" bIns="0" rtlCol="0">
            <a:spAutoFit/>
          </a:bodyPr>
          <a:lstStyle/>
          <a:p>
            <a:pPr marL="1174749">
              <a:lnSpc>
                <a:spcPct val="100000"/>
              </a:lnSpc>
              <a:spcBef>
                <a:spcPts val="124"/>
              </a:spcBef>
              <a:defRPr/>
            </a:pPr>
            <a:r>
              <a:rPr lang="en-IN"/>
              <a:t>Objectives</a:t>
            </a:r>
            <a:endParaRPr spc="-9"/>
          </a:p>
        </p:txBody>
      </p:sp>
      <p:sp>
        <p:nvSpPr>
          <p:cNvPr id="1435775722" name="TextBox 5"/>
          <p:cNvSpPr txBox="1"/>
          <p:nvPr/>
        </p:nvSpPr>
        <p:spPr bwMode="auto">
          <a:xfrm>
            <a:off x="1611922" y="1516169"/>
            <a:ext cx="9657638" cy="3036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Develop an automated TB detection system using chest X-ray images.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Apply preprocessing, augmentation, and oversampling techniques.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Incorporate lung segmentation to focus on relevant lung regions.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Utilize the CoAtNet architecture for TB classification.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Improve classification accuracy and robustness.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Integrate Grad-CAM for explainable AI-based visualization.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Generate diagnostic reports with prediction confidence and highlighted regions.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Support healthcare professionals in early TB diagnosis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935720" name="Title 1"/>
          <p:cNvSpPr>
            <a:spLocks noGrp="1"/>
          </p:cNvSpPr>
          <p:nvPr>
            <p:ph type="title"/>
          </p:nvPr>
        </p:nvSpPr>
        <p:spPr bwMode="auto">
          <a:xfrm>
            <a:off x="5257451" y="528701"/>
            <a:ext cx="2133599" cy="492442"/>
          </a:xfrm>
        </p:spPr>
        <p:txBody>
          <a:bodyPr/>
          <a:lstStyle/>
          <a:p>
            <a:pPr>
              <a:defRPr/>
            </a:pPr>
            <a:r>
              <a:rPr lang="en-IN"/>
              <a:t>Novelty</a:t>
            </a:r>
            <a:endParaRPr/>
          </a:p>
        </p:txBody>
      </p:sp>
      <p:sp>
        <p:nvSpPr>
          <p:cNvPr id="229686600" name="TextBox 3"/>
          <p:cNvSpPr txBox="1"/>
          <p:nvPr/>
        </p:nvSpPr>
        <p:spPr bwMode="auto">
          <a:xfrm>
            <a:off x="1755034" y="1347068"/>
            <a:ext cx="9357278" cy="2300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of lung segmentation before TB classification.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Lung-focused feature extraction using Enhanced CoAtNet.</a:t>
            </a:r>
            <a:endParaRPr sz="21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Grad-CAM based explainable AI instead of LIME.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Visualization of suspicious TB regions through heatmaps.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Automatic diagnostic report generation.</a:t>
            </a:r>
            <a:endParaRPr sz="2100"/>
          </a:p>
          <a:p>
            <a:pPr marL="316921" indent="-316921">
              <a:lnSpc>
                <a:spcPct val="114999"/>
              </a:lnSpc>
              <a:buFont typeface="Arial"/>
              <a:buChar char="•"/>
              <a:defRPr/>
            </a:pPr>
            <a:r>
              <a:rPr sz="2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Improved interpretability and clinical usability.</a:t>
            </a:r>
            <a:endParaRPr sz="2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292485" name="Title 1"/>
          <p:cNvSpPr>
            <a:spLocks noGrp="1"/>
          </p:cNvSpPr>
          <p:nvPr>
            <p:ph type="ctrTitle"/>
          </p:nvPr>
        </p:nvSpPr>
        <p:spPr bwMode="auto">
          <a:xfrm>
            <a:off x="4470399" y="2936556"/>
            <a:ext cx="10363199" cy="492442"/>
          </a:xfrm>
        </p:spPr>
        <p:txBody>
          <a:bodyPr/>
          <a:lstStyle/>
          <a:p>
            <a:pPr>
              <a:defRPr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Danush Prakash</dc:creator>
  <cp:lastModifiedBy/>
  <cp:revision>20</cp:revision>
  <dcterms:modified xsi:type="dcterms:W3CDTF">2026-06-25T04:45:33Z</dcterms:modified>
</cp:coreProperties>
</file>